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17bb284-1b4b-f5c7-6cfb-279d3a848286}">
          <p14:sldIdLst>
            <p14:sldId id="256"/>
          </p14:sldIdLst>
        </p14:section>
        <p14:section name="System" id="{5b495cd2-5d51-1fe7-1f08-734b75b074f2}">
          <p14:sldIdLst>
            <p14:sldId id="257"/>
            <p14:sldId id="258"/>
            <p14:sldId id="259"/>
            <p14:sldId id="260"/>
          </p14:sldIdLst>
        </p14:section>
        <p14:section name="Demonstration" id="{951abbce-ef28-cc9d-4ed3-cbd08a7b3c20}">
          <p14:sldIdLst>
            <p14:sldId id="261"/>
          </p14:sldIdLst>
        </p14:section>
        <p14:section name="Evidence" id="{5d921f20-bd6f-9b7e-6284-bc3e73eed2c1}">
          <p14:sldIdLst>
            <p14:sldId id="262"/>
            <p14:sldId id="263"/>
          </p14:sldIdLst>
        </p14:section>
        <p14:section name="Reflection" id="{c968a9b4-b5e6-b656-6303-8aff606b863e}">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Lexical-overlap baseline</c:v>
                </c:pt>
              </c:strCache>
            </c:strRef>
          </c:tx>
          <c:spPr>
            <a:solidFill>
              <a:srgbClr val="94A3B8"/>
            </a:solidFill>
            <a:effectLst/>
          </c:spPr>
          <c:invertIfNegative val="0"/>
          <c:dLbls>
            <c:numFmt formatCode="0.00"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cat>
            <c:multiLvlStrRef>
              <c:f>Sheet1!$A$2:$A$4</c:f>
              <c:multiLvlStrCache>
                <c:ptCount val="3"/>
                <c:lvl>
                  <c:pt idx="0">
                    <c:v>Precision</c:v>
                  </c:pt>
                  <c:pt idx="1">
                    <c:v>Recall</c:v>
                  </c:pt>
                  <c:pt idx="2">
                    <c:v>Hallucinations caught</c:v>
                  </c:pt>
                </c:lvl>
              </c:multiLvlStrCache>
            </c:multiLvlStrRef>
          </c:cat>
          <c:val>
            <c:numRef>
              <c:f>Sheet1!$B$2:$B$4</c:f>
              <c:numCache>
                <c:formatCode>General</c:formatCode>
                <c:ptCount val="3"/>
                <c:pt idx="0">
                  <c:v>0.83</c:v>
                </c:pt>
                <c:pt idx="1">
                  <c:v>0.83</c:v>
                </c:pt>
                <c:pt idx="2">
                  <c:v>0.78</c:v>
                </c:pt>
              </c:numCache>
            </c:numRef>
          </c:val>
        </c:ser>
        <c:ser>
          <c:idx val="1"/>
          <c:order val="1"/>
          <c:tx>
            <c:strRef>
              <c:f>Sheet1!$C$1</c:f>
              <c:strCache>
                <c:ptCount val="1"/>
                <c:pt idx="0">
                  <c:v>qwen3.8-27b (production)</c:v>
                </c:pt>
              </c:strCache>
            </c:strRef>
          </c:tx>
          <c:spPr>
            <a:solidFill>
              <a:srgbClr val="EA580C"/>
            </a:solidFill>
            <a:effectLst/>
          </c:spPr>
          <c:invertIfNegative val="0"/>
          <c:dLbls>
            <c:numFmt formatCode="0.00"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cat>
            <c:multiLvlStrRef>
              <c:f>Sheet1!$A$2:$A$4</c:f>
              <c:multiLvlStrCache>
                <c:ptCount val="3"/>
                <c:lvl>
                  <c:pt idx="0">
                    <c:v>Precision</c:v>
                  </c:pt>
                  <c:pt idx="1">
                    <c:v>Recall</c:v>
                  </c:pt>
                  <c:pt idx="2">
                    <c:v>Hallucinations caught</c:v>
                  </c:pt>
                </c:lvl>
              </c:multiLvlStrCache>
            </c:multiLvlStrRef>
          </c:cat>
          <c:val>
            <c:numRef>
              <c:f>Sheet1!$C$2:$C$4</c:f>
              <c:numCache>
                <c:formatCode>General</c:formatCode>
                <c:ptCount val="3"/>
                <c:pt idx="0">
                  <c:v>1</c:v>
                </c:pt>
                <c:pt idx="1">
                  <c:v>1</c:v>
                </c:pt>
                <c:pt idx="2">
                  <c:v>1</c:v>
                </c:pt>
              </c:numCache>
            </c:numRef>
          </c:val>
        </c:ser>
        <c:ser>
          <c:idx val="2"/>
          <c:order val="2"/>
          <c:tx>
            <c:strRef>
              <c:f>Sheet1!$D$1</c:f>
              <c:strCache>
                <c:ptCount val="1"/>
                <c:pt idx="0">
                  <c:v>gpt-oss-120b (fallback)</c:v>
                </c:pt>
              </c:strCache>
            </c:strRef>
          </c:tx>
          <c:spPr>
            <a:solidFill>
              <a:srgbClr val="0E7C7B"/>
            </a:solidFill>
            <a:effectLst/>
          </c:spPr>
          <c:invertIfNegative val="0"/>
          <c:dLbls>
            <c:numFmt formatCode="0.00"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cat>
            <c:multiLvlStrRef>
              <c:f>Sheet1!$A$2:$A$4</c:f>
              <c:multiLvlStrCache>
                <c:ptCount val="3"/>
                <c:lvl>
                  <c:pt idx="0">
                    <c:v>Precision</c:v>
                  </c:pt>
                  <c:pt idx="1">
                    <c:v>Recall</c:v>
                  </c:pt>
                  <c:pt idx="2">
                    <c:v>Hallucinations caught</c:v>
                  </c:pt>
                </c:lvl>
              </c:multiLvlStrCache>
            </c:multiLvlStrRef>
          </c:cat>
          <c:val>
            <c:numRef>
              <c:f>Sheet1!$D$2:$D$4</c:f>
              <c:numCache>
                <c:formatCode>General</c:formatCode>
                <c:ptCount val="3"/>
                <c:pt idx="0">
                  <c:v>1</c:v>
                </c:pt>
                <c:pt idx="1">
                  <c:v>1</c:v>
                </c:pt>
                <c:pt idx="2">
                  <c:v>1</c:v>
                </c:pt>
              </c:numCache>
            </c:numRef>
          </c:val>
        </c:ser>
        <c:dLbls>
          <c:numFmt formatCode="0.00"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9525" cap="flat">
              <a:solidFill>
                <a:srgbClr val="E2E8F0"/>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majorUnit val="0.25"/>
      </c:valAx>
      <c:spPr>
        <a:noFill/>
        <a:ln>
          <a:noFill/>
        </a:ln>
        <a:effectLst/>
      </c:spPr>
    </c:plotArea>
    <c:legend>
      <c:legendPos val="b"/>
      <c:overlay val="0"/>
      <c:txPr>
        <a:bodyPr/>
        <a:lstStyle/>
        <a:p>
          <a:pPr>
            <a:defRPr sz="1100">
              <a:solidFill>
                <a:srgbClr val="334155"/>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my name is Adil Aljasmi. This presentation covers the second deliverable of the Intelligent Agents module: the implementation of ScholarPlan.
In Unit 6, our group designed ScholarPlan, an LLM-powered planning agent for academic research and information gathering. In Unit 11 I built that design, individually, as a working multi-agent system. Over the next twenty minutes I will show how the implementation meets the design, demonstrate it running live, explain how it was tested and evaluated against measurable targets, and reflect critically on what worked, what changed,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ScholarPlan addresses is simple to state. Searching the literature is repetitive, but handing the task to a single large language model is risky: unaided LLMs plan unreliably (Kambhampati et al., 2024) and they fabricate citations and facts (Ji et al., 2023).
So ScholarPlan splits the work between five cooperating agents. You give it a research goal in plain English. The Planner decomposes it into search subtasks. The Retriever queries three open scholarly APIs: arXiv, OpenAlex and Crossref. The Processor removes duplicates, ranks the results and turns each abstract into short, atomic claims. The Critic, a separate model, checks every claim against the source it came from. Finally, the Archivist stores a cited report, a BibTeX file, a searchable vector index and a full reasoning trace offline.
This maps directly onto the three success criteria in the brief: relevant data is identified and retrieved; it is processed by filtering, summarising and verifying; and it is stored in a usable format.
The numbers on the right summarise where the project ended up. All five agents are implemented. There are 94 automated tests with 93 percent line coverage. And in live evaluation, three out of three research goals completed within the step budget, averaging under seven reasoning steps and about one minute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architecture, which follows the Unit 6 design closely.
ScholarPlan is a hybrid architecture (Wooldridge, 2009). There is one deliberative agent, the Planner, which reasons about the goal using an LLM. The other four agents are reactive specialists: each one simply waits for its input to appear and then acts. The Retriever and the Archivist use no LLM at all. That is deliberate: it keeps retrieval failures and reasoning failures on separate surfaces, so an irrelevant search result is never confused with an unsupported claim (Guo et al., 2024).
The agents never call each other. Instead, they cooperate through a shared blackboard, the classic architecture described by Hayes-Roth (1985), which Salemi and colleagues (2025) have recently shown outperforming a central orchestrator for LLM agents doing information discovery. I implemented the blackboard in SQLite, so every plan, source, claim, verdict and piece of feedback is persisted and can be inspected after the run. That is how the system addresses explainability.
Two implementation details matter here. First, coordination safety: when an agent takes a subtask, it does so inside a single immediate transaction, so two agents can never claim the same work. A unit test races eight threads for one subtask, and exactly one wins.
Second, I applied the Gaia methodology (Wooldridge, Jennings and Kinny, 2000): each agent is a role with explicit permissions over the blackboard tables. These permissions are enforced at runtime, not just documented. If the Retriever tried to write a verdict, the blackboard would raise a permission error.
Scheduling is handled by a tiny controller that asks each agent "can you act?" and runs the first that can, finishing downstream work before the Planner deliberates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Planner runs a ReAct loop (Yao et al., 2023). Each step has three parts. The observation is the current state of the blackboard: which subtasks are verified or rejected, what feedback has been written, and how much budget is left. The thought is the LLM's written reasoning, saved to the trace. The action is exactly one move: issue a subtask, refine its query, switch to a different database, abandon it, or synthesise the final answer.
Re-planning follows the Reflexion idea of verbal feedback (Shinn et al., 2023). When the Retriever finds nothing, or the Processor finds nothing relevant, or the Critic rejects the claims, that agent writes a natural-language feedback message. The Planner must read it before its next thought.
The most important design principle comes from Kambhampati and colleagues (2024): LLMs can't plan reliably on their own, but they can help planning inside an LLM-Modulo framework, where external components verify. So in ScholarPlan, the LLM never decides what is allowed. The code computes the allowed actions for each step. The LLM's output must pass a JSON schema, and then a semantic check: for example, it cannot refine a subtask with a query that has already failed. If the model fails twice, a deterministic fallback policy takes over.
Termination is guaranteed without trusting the model. There is a twenty-step ReAct budget, and, responding to the tutor's feedback on Unit 6, a hard cap of three re-plans per subtask. On the fourth failure the subtask is marked "unresolvable" by code, without even calling the LLM. A synthesis that the Critic rejects twice is replaced by an extractive list of verified claims, which by construction cannot contain unsupported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Unit 6 feedback noted that our design had behavioural diagrams, an activity diagram and a sequence diagram, but no static structural view. This class diagram adds that view, and it is drawn from the actual code.
At the top, the Controller aggregates five Agent objects. Agent is an abstract class with two methods: can-act, a cheap side-effect-free trigger check, and act. The five roles inherit from it. Every agent reaches the blackboard only through a ScopedBlackboard, which enforces that role's permissions.
On the right is the dependency-inversion principle at work. The three LLM-using agents depend on an LLMClient interface, not on Groq. There are three implementations: the live OpenAI-compatible client, a deterministic mock and a scripted mock used to force failure paths in tests. Switching provider is a configuration change. That is exactly what made the model changes I will discuss later cheap to make.
At the bottom, the Retriever uses three API clients sharing one polite, cached, rate-limited HTTP component, and all thresholds live in a single frozen Settings object, so the numbers I quote are defined in one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browser showing the dashboard, http://localhost:8501. The sidebar should already show the goal. Turn ON "Demo: inject a fabricated claim". Click "Run agents".]
Let me show the system running. This is the ScholarPlan dashboard, written in Streamlit. The agents run in a background thread while the page reads the same SQLite blackboard every second, so what you see is the blackboard itself.
I've entered the goal "How do LLM-based critics or verifiers detect hallucinated claims?", and I've switched on a clearly labelled demo option that plants one false claim. Live runs rarely hallucinate on cue, and I want to show the Critic catching one.
[As the trace fills.]
First, the Planner's thought: it explains how it will decompose the goal, then creates four subtasks. Notice the agent cards: the highlighted card shows who is acting. Now the Retriever is searching arXiv, OpenAlex and Crossref; the observation shows how many records came from each. The Processor reports how many candidates it had, how many duplicates it removed, and how many it selected.
[When the Critic verdicts appear, click "Claims &amp; verdicts".]
Here is the interesting part. The trace shows a line marked DEMO: the injected claim says the method "eliminates hallucination entirely and improves accuracy by 99 percent on every benchmark". The Critic, running on a different model family, rejected it. Its reason says the source reports an AUROC of 0.781 and specific improvements, not the elimination of hallucination. Opening the claim shows the real abstract underneath, so anyone can audit the judgement.
[Click "Feedback", then "Subtasks".]
The subtask still passed, because two of its three claims were supported, but the false claim will never reach the report. If too many claims fail, this feedback tab shows the message the Planner reads before re-planning. In an earlier live evaluation run you can see two genuine re-plans recorded here.
[When the run finishes, click "Report".]
The run is complete. The report has an answer with Harvard in-text citations, an evidence table where every claim has an identifier, the subtasks with their outcomes, and the reference list. There are download buttons for the BibTeX file and the trace, and I can query the saved vector index semantically. Let me type "how are hallucinations scored" and the index returns the closest verified claims.
[Switch to VS Code. Open src/scholarplan/agents/planner.py and scroll to `_react_step` and `_validate`.]
Briefly, in the code: this is the ReAct step. Allowed actions are computed here, by code; the LLM's choice is validated here; and if it fails, the fallback policy is used. Every comment explains why a decision was made, with its source, rather than restating what the line does.
[Open blackboard.py at `claim_subtask` for a few seconds, then return to the slides.]
And this is the atomic claim: one immediate transaction, re-checking the status in the update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Unit 6 feedback asked for clear, measurable targets: test queries, deduplication thresholds, and Critic precision and recall. I set these targets before running anything.
First, the Critic. I hand-labelled 21 claim-source pairs: twelve supported, and nine hallucinations of six kinds, including over-generalisation, wrong entities, fabricated numbers, metric shifts and contradictions. The targets were precision of at least 0.85 and recall of at least 0.75. The chart compares three verifiers. A simple word-overlap baseline reaches only 0.83 and misses contradictions and metric shifts, because those reuse the source's own words. The production Critic, Qwen, and the fallback, gpt-oss-120b, both scored 1.0 on precision and recall, catching all nine hallucinations. That comparison is the empirical justification for using an LLM as the judge rather than string matching. I'll be honest about the limit, though: 21 items is small, and a perfect score is more likely a ceiling effect than proof of perfection.
Second, retrieval. I used ten fixed queries whose target papers are the ones our own Unit 6 report cited, in effect asking whether ScholarPlan can find the literature its design relied on. Recall was 0.9 against a target of 0.75. No single API found everything: arXiv found seven, OpenAlex six and Crossref one, which supports the decision to query all three. The one miss, Hayes-Roth 1985, has no indexed abstract, and the system deliberately excludes records it cannot verify. That is a real trade-off: verifiability versus coverage of older work.
Third, end-to-end. Three fixed goals, live: all three completed within the twenty-step budget, using 6.7 steps and under a minute on average, and about 21,000 tokens per run, comfortably inside the free tier.
The deduplication and relevance thresholds, 0.92 and 0.30 cosine similarity, are named constants and are unit-tested in both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followed the Unit 6 plan of testing by agent type. Deterministic components have conventional unit tests: 82 of them, covering blackboard atomicity and permissions, API parsers run against recorded real responses, rate limiting and retries, the thresholds, Planner rules and citation formatting. Twelve functional tests run the whole system end to end, offline, and each one forces a specific behaviour: Critic rejection leading to re-planning, the three-re-plan cap, budget exhaustion, an injected hallucination being filtered, and an API failing mid-run. Four live smoke tests detect drift in the external services. Overall: 94 passing tests and 93 percent line coverage.
The scripted mock LLM is what makes this possible: a real model will not reject claims on demand, but a scripted one can, deterministically.
Every defect is recorded in a remediation log, nineteen in total, each with its root cause, fix and verifying test. Three stand out. The Critic model chosen in Unit 6 was withdrawn by the provider, so I added an automatic model-substitution mechanism and a regression test. OpenAlex returned "too many requests" errors in the first live run, so the client now honours the server's retry-after header. And most interesting: in a live run, the Planner misdiagnosed a model formatting error as a bad query and rewrote a perfectly good query, because the feedback message did not state the cause. The lesson is that Reflexion-style self-correction is only as good as its feedback signal, so feedback now carries the diagnosis.
Progress is visible in the Git history: from the Unit 6 design, through seven short sprints, each ending in a tested increment.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deviations from the design are worth defending. First, no Azure subscription was available, so the Planner and Processor run OpenAI's open-weight gpt-oss models on Groq's free tier instead of GPT-5-mini on Azure. Because the client speaks the OpenAI-compatible API, moving back to Azure is a one-line change. Second, Groq no longer offers Llama-3.3-70B to new accounts, so the Critic is Qwen. What the design actually needed was independence: a verifier from a different model family from the generator, and Qwen preserves that. Third, without a GPU, the local seven-billion-parameter checker was replaced in testing by deterministic mocks, which are better at forcing failure paths anyway.
The main limitations are these. Verification is at abstract level only. The Critic can be lenient on connecting prose: in one live run it accepted an uncited bridging sentence. A sentence-level citation rule would close that gap. And the Critic benchmark is small.
On legal, social, ethical and professional factors: the system respects each API's terms, including arXiv's one request every three seconds, identifies itself, and caches responses. It stores only metadata and abstracts, never full texts, and attributes every claim. Rejected claims never reach the report, and the report states that it is AI-generated and verified at abstract level, so it is a starting point for reading, not a substitute for it. Bias exists, towards English and recent work, and is stated openly. The research goal is sent to a third-party provider, so users should not enter personal data. API keys are kept out of version control, and traces are scrubbed of local file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ScholarPlan implements the Unit 6 design as a working, tested multi-agent system. A deliberative ReAct planner and reactive specialists coordinate through a blackboard, an independent Critic filters hallucinations, and the results are stored offline with full provenance. It meets the measurable targets the design was criticised for lacking, and every change from the plan is documented and justified.
The broader lesson is the LLM-Modulo one: let the language model supply judgement, and let code guarantee validity and termination.
The code, tests, evidence and README with full references are in my GitHub repository. Thank you for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rgbClr val="0F17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737360"/>
            <a:ext cx="6583680" cy="1280160"/>
          </a:xfrm>
          <a:prstGeom prst="rect">
            <a:avLst/>
          </a:prstGeom>
          <a:noFill/>
          <a:ln/>
        </p:spPr>
        <p:txBody>
          <a:bodyPr wrap="square" rtlCol="0"/>
          <a:lstStyle>
            <a:lvl1pPr algn="l" indent="0" marL="0">
              <a:buNone/>
              <a:defRPr lang="en-US" sz="5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3" name="Text 0"/>
          <p:cNvSpPr/>
          <p:nvPr>
            <p:ph idx="101" type="body" hasCustomPrompt="1"/>
          </p:nvPr>
        </p:nvSpPr>
        <p:spPr>
          <a:xfrm>
            <a:off x="640080" y="3154680"/>
            <a:ext cx="6400800" cy="109728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rPr>
              <a:t>ScholarPlan · Intelligent Agents · Unit 11 · Adil Aljasmi</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Dark">
    <p:bg>
      <p:bgPr>
        <a:solidFill>
          <a:srgbClr val="0F17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94A3B8"/>
                </a:solidFill>
              </a:rPr>
              <a:t>ScholarPlan · Intelligent Agents · Unit 11 · Adil Aljasmi</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3.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4.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737360"/>
            <a:ext cx="6583680" cy="1280160"/>
          </a:xfrm>
          <a:prstGeom prst="rect">
            <a:avLst/>
          </a:prstGeom>
          <a:noFill/>
          <a:ln/>
        </p:spPr>
        <p:txBody>
          <a:bodyPr wrap="square" lIns="0" tIns="0" rIns="0" bIns="0"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ScholarPlan</a:t>
            </a:r>
            <a:endParaRPr lang="en-US" sz="5400" dirty="0"/>
          </a:p>
        </p:txBody>
      </p:sp>
      <p:sp>
        <p:nvSpPr>
          <p:cNvPr id="3" name="Text 0"/>
          <p:cNvSpPr/>
          <p:nvPr>
            <p:ph idx="101" type="body" hasCustomPrompt="1"/>
          </p:nvPr>
        </p:nvSpPr>
        <p:spPr>
          <a:xfrm>
            <a:off x="640080" y="3154680"/>
            <a:ext cx="6400800" cy="1097280"/>
          </a:xfrm>
          <a:prstGeom prst="rect">
            <a:avLst/>
          </a:prstGeom>
          <a:noFill/>
          <a:ln/>
        </p:spPr>
        <p:txBody>
          <a:bodyPr wrap="square" lIns="0" tIns="0" rIns="0" bIns="0" rtlCol="0" anchor="t"/>
          <a:lstStyle/>
          <a:p>
            <a:pPr indent="0" marL="0">
              <a:buNone/>
            </a:pPr>
            <a:r>
              <a:rPr lang="en-US" sz="2200" dirty="0">
                <a:solidFill>
                  <a:schemeClr val="accent2"/>
                </a:solidFill>
              </a:rPr>
              <a:t>From design to a working LLM-powered multi-agent system for academic research</a:t>
            </a:r>
            <a:endParaRPr lang="en-US" sz="2200" dirty="0"/>
          </a:p>
        </p:txBody>
      </p:sp>
      <p:sp>
        <p:nvSpPr>
          <p:cNvPr id="4" name="Text 2"/>
          <p:cNvSpPr txBox="1"/>
          <p:nvPr/>
        </p:nvSpPr>
        <p:spPr>
          <a:xfrm>
            <a:off x="640080" y="4846320"/>
            <a:ext cx="6400800" cy="731520"/>
          </a:xfrm>
          <a:prstGeom prst="rect">
            <a:avLst/>
          </a:prstGeom>
          <a:noFill/>
          <a:ln/>
        </p:spPr>
        <p:txBody>
          <a:bodyPr wrap="square" lIns="0" tIns="0" rIns="0" bIns="0" rtlCol="0" anchor="ctr"/>
          <a:lstStyle/>
          <a:p>
            <a:pPr indent="0" marL="0">
              <a:buNone/>
            </a:pPr>
            <a:r>
              <a:rPr lang="en-US" sz="1600" dirty="0">
                <a:solidFill>
                  <a:srgbClr val="CBD5E1"/>
                </a:solidFill>
              </a:rPr>
              <a:t>Intelligent Agents · Unit 11 individual presentation</a:t>
            </a:r>
            <a:endParaRPr lang="en-US" sz="1600" dirty="0"/>
          </a:p>
          <a:p>
            <a:pPr indent="0" marL="0">
              <a:buNone/>
            </a:pPr>
            <a:r>
              <a:rPr lang="en-US" sz="1600" dirty="0">
                <a:solidFill>
                  <a:srgbClr val="CBD5E1"/>
                </a:solidFill>
              </a:rPr>
              <a:t>Adil Aljasmi · October 2026</a:t>
            </a:r>
            <a:endParaRPr lang="en-US" sz="1600" dirty="0"/>
          </a:p>
        </p:txBody>
      </p:sp>
      <p:sp>
        <p:nvSpPr>
          <p:cNvPr id="5" name="blackboard"/>
          <p:cNvSpPr/>
          <p:nvPr/>
        </p:nvSpPr>
        <p:spPr>
          <a:xfrm>
            <a:off x="8321040" y="2468880"/>
            <a:ext cx="1920240" cy="1920240"/>
          </a:xfrm>
          <a:prstGeom prst="ellipse">
            <a:avLst/>
          </a:prstGeom>
          <a:solidFill>
            <a:srgbClr val="1E293B"/>
          </a:solidFill>
          <a:ln w="19050">
            <a:solidFill>
              <a:srgbClr val="475569"/>
            </a:solidFill>
            <a:prstDash val="dash"/>
          </a:ln>
        </p:spPr>
      </p:sp>
      <p:sp>
        <p:nvSpPr>
          <p:cNvPr id="6" name="Text 4"/>
          <p:cNvSpPr txBox="1"/>
          <p:nvPr/>
        </p:nvSpPr>
        <p:spPr>
          <a:xfrm>
            <a:off x="8366760" y="3017520"/>
            <a:ext cx="1828800" cy="822960"/>
          </a:xfrm>
          <a:prstGeom prst="rect">
            <a:avLst/>
          </a:prstGeom>
          <a:noFill/>
          <a:ln/>
        </p:spPr>
        <p:txBody>
          <a:bodyPr wrap="square" lIns="0" tIns="0" rIns="0" bIns="0" rtlCol="0" anchor="ctr"/>
          <a:lstStyle/>
          <a:p>
            <a:pPr algn="ctr" indent="0" marL="0">
              <a:buNone/>
            </a:pPr>
            <a:r>
              <a:rPr lang="en-US" sz="1400" dirty="0">
                <a:solidFill>
                  <a:srgbClr val="CBD5E1"/>
                </a:solidFill>
              </a:rPr>
              <a:t>shared</a:t>
            </a:r>
            <a:endParaRPr lang="en-US" sz="1400" dirty="0"/>
          </a:p>
          <a:p>
            <a:pPr algn="ctr" indent="0" marL="0">
              <a:buNone/>
            </a:pPr>
            <a:r>
              <a:rPr lang="en-US" sz="1400" dirty="0">
                <a:solidFill>
                  <a:srgbClr val="CBD5E1"/>
                </a:solidFill>
              </a:rPr>
              <a:t>blackboard</a:t>
            </a:r>
            <a:endParaRPr lang="en-US" sz="1400" dirty="0"/>
          </a:p>
        </p:txBody>
      </p:sp>
      <p:sp>
        <p:nvSpPr>
          <p:cNvPr id="7" name="planner dot"/>
          <p:cNvSpPr/>
          <p:nvPr/>
        </p:nvSpPr>
        <p:spPr>
          <a:xfrm>
            <a:off x="8823960" y="1280160"/>
            <a:ext cx="914400" cy="914400"/>
          </a:xfrm>
          <a:prstGeom prst="ellipse">
            <a:avLst/>
          </a:prstGeom>
          <a:solidFill>
            <a:srgbClr val="2563EB"/>
          </a:solidFill>
          <a:ln w="12700">
            <a:solidFill>
              <a:srgbClr val="2563EB"/>
            </a:solidFill>
            <a:prstDash val="solid"/>
          </a:ln>
        </p:spPr>
      </p:sp>
      <p:pic>
        <p:nvPicPr>
          <p:cNvPr id="8" name="planner icon" descr="preencoded.png">    </p:cNvPr>
          <p:cNvPicPr>
            <a:picLocks noChangeAspect="1"/>
          </p:cNvPicPr>
          <p:nvPr/>
        </p:nvPicPr>
        <p:blipFill>
          <a:blip r:embed="rId1"/>
          <a:stretch>
            <a:fillRect/>
          </a:stretch>
        </p:blipFill>
        <p:spPr>
          <a:xfrm>
            <a:off x="9061704" y="1517904"/>
            <a:ext cx="438912" cy="438912"/>
          </a:xfrm>
          <a:prstGeom prst="rect">
            <a:avLst/>
          </a:prstGeom>
        </p:spPr>
      </p:pic>
      <p:sp>
        <p:nvSpPr>
          <p:cNvPr id="9" name="Text 6"/>
          <p:cNvSpPr txBox="1"/>
          <p:nvPr/>
        </p:nvSpPr>
        <p:spPr>
          <a:xfrm>
            <a:off x="8549640" y="2212848"/>
            <a:ext cx="1463040" cy="274320"/>
          </a:xfrm>
          <a:prstGeom prst="rect">
            <a:avLst/>
          </a:prstGeom>
          <a:noFill/>
          <a:ln/>
        </p:spPr>
        <p:txBody>
          <a:bodyPr wrap="square" lIns="0" tIns="0" rIns="0" bIns="0" rtlCol="0" anchor="ctr"/>
          <a:lstStyle/>
          <a:p>
            <a:pPr algn="ctr" indent="0" marL="0">
              <a:buNone/>
            </a:pPr>
            <a:r>
              <a:rPr lang="en-US" sz="1200" dirty="0">
                <a:solidFill>
                  <a:srgbClr val="E2E8F0"/>
                </a:solidFill>
              </a:rPr>
              <a:t>Planner</a:t>
            </a:r>
            <a:endParaRPr lang="en-US" sz="1200" dirty="0"/>
          </a:p>
        </p:txBody>
      </p:sp>
      <p:sp>
        <p:nvSpPr>
          <p:cNvPr id="10" name="retriever dot"/>
          <p:cNvSpPr/>
          <p:nvPr/>
        </p:nvSpPr>
        <p:spPr>
          <a:xfrm>
            <a:off x="10432805" y="2449054"/>
            <a:ext cx="914400" cy="914400"/>
          </a:xfrm>
          <a:prstGeom prst="ellipse">
            <a:avLst/>
          </a:prstGeom>
          <a:solidFill>
            <a:srgbClr val="16A34A"/>
          </a:solidFill>
          <a:ln w="12700">
            <a:solidFill>
              <a:srgbClr val="16A34A"/>
            </a:solidFill>
            <a:prstDash val="solid"/>
          </a:ln>
        </p:spPr>
      </p:sp>
      <p:pic>
        <p:nvPicPr>
          <p:cNvPr id="11" name="retriever icon" descr="preencoded.png">    </p:cNvPr>
          <p:cNvPicPr>
            <a:picLocks noChangeAspect="1"/>
          </p:cNvPicPr>
          <p:nvPr/>
        </p:nvPicPr>
        <p:blipFill>
          <a:blip r:embed="rId2"/>
          <a:stretch>
            <a:fillRect/>
          </a:stretch>
        </p:blipFill>
        <p:spPr>
          <a:xfrm>
            <a:off x="10670549" y="2686798"/>
            <a:ext cx="438912" cy="438912"/>
          </a:xfrm>
          <a:prstGeom prst="rect">
            <a:avLst/>
          </a:prstGeom>
        </p:spPr>
      </p:pic>
      <p:sp>
        <p:nvSpPr>
          <p:cNvPr id="12" name="Text 8"/>
          <p:cNvSpPr txBox="1"/>
          <p:nvPr/>
        </p:nvSpPr>
        <p:spPr>
          <a:xfrm>
            <a:off x="10158485" y="3381742"/>
            <a:ext cx="1463040" cy="274320"/>
          </a:xfrm>
          <a:prstGeom prst="rect">
            <a:avLst/>
          </a:prstGeom>
          <a:noFill/>
          <a:ln/>
        </p:spPr>
        <p:txBody>
          <a:bodyPr wrap="square" lIns="0" tIns="0" rIns="0" bIns="0" rtlCol="0" anchor="ctr"/>
          <a:lstStyle/>
          <a:p>
            <a:pPr algn="ctr" indent="0" marL="0">
              <a:buNone/>
            </a:pPr>
            <a:r>
              <a:rPr lang="en-US" sz="1200" dirty="0">
                <a:solidFill>
                  <a:srgbClr val="E2E8F0"/>
                </a:solidFill>
              </a:rPr>
              <a:t>Retriever</a:t>
            </a:r>
            <a:endParaRPr lang="en-US" sz="1200" dirty="0"/>
          </a:p>
        </p:txBody>
      </p:sp>
      <p:sp>
        <p:nvSpPr>
          <p:cNvPr id="13" name="processor dot"/>
          <p:cNvSpPr/>
          <p:nvPr/>
        </p:nvSpPr>
        <p:spPr>
          <a:xfrm>
            <a:off x="9818281" y="4340366"/>
            <a:ext cx="914400" cy="914400"/>
          </a:xfrm>
          <a:prstGeom prst="ellipse">
            <a:avLst/>
          </a:prstGeom>
          <a:solidFill>
            <a:srgbClr val="9333EA"/>
          </a:solidFill>
          <a:ln w="12700">
            <a:solidFill>
              <a:srgbClr val="9333EA"/>
            </a:solidFill>
            <a:prstDash val="solid"/>
          </a:ln>
        </p:spPr>
      </p:sp>
      <p:pic>
        <p:nvPicPr>
          <p:cNvPr id="14" name="processor icon" descr="preencoded.png">    </p:cNvPr>
          <p:cNvPicPr>
            <a:picLocks noChangeAspect="1"/>
          </p:cNvPicPr>
          <p:nvPr/>
        </p:nvPicPr>
        <p:blipFill>
          <a:blip r:embed="rId3"/>
          <a:stretch>
            <a:fillRect/>
          </a:stretch>
        </p:blipFill>
        <p:spPr>
          <a:xfrm>
            <a:off x="10056025" y="4578110"/>
            <a:ext cx="438912" cy="438912"/>
          </a:xfrm>
          <a:prstGeom prst="rect">
            <a:avLst/>
          </a:prstGeom>
        </p:spPr>
      </p:pic>
      <p:sp>
        <p:nvSpPr>
          <p:cNvPr id="15" name="Text 10"/>
          <p:cNvSpPr txBox="1"/>
          <p:nvPr/>
        </p:nvSpPr>
        <p:spPr>
          <a:xfrm>
            <a:off x="9543961" y="5273054"/>
            <a:ext cx="1463040" cy="274320"/>
          </a:xfrm>
          <a:prstGeom prst="rect">
            <a:avLst/>
          </a:prstGeom>
          <a:noFill/>
          <a:ln/>
        </p:spPr>
        <p:txBody>
          <a:bodyPr wrap="square" lIns="0" tIns="0" rIns="0" bIns="0" rtlCol="0" anchor="ctr"/>
          <a:lstStyle/>
          <a:p>
            <a:pPr algn="ctr" indent="0" marL="0">
              <a:buNone/>
            </a:pPr>
            <a:r>
              <a:rPr lang="en-US" sz="1200" dirty="0">
                <a:solidFill>
                  <a:srgbClr val="E2E8F0"/>
                </a:solidFill>
              </a:rPr>
              <a:t>Processor</a:t>
            </a:r>
            <a:endParaRPr lang="en-US" sz="1200" dirty="0"/>
          </a:p>
        </p:txBody>
      </p:sp>
      <p:sp>
        <p:nvSpPr>
          <p:cNvPr id="16" name="critic dot"/>
          <p:cNvSpPr/>
          <p:nvPr/>
        </p:nvSpPr>
        <p:spPr>
          <a:xfrm>
            <a:off x="7829639" y="4340366"/>
            <a:ext cx="914400" cy="914400"/>
          </a:xfrm>
          <a:prstGeom prst="ellipse">
            <a:avLst/>
          </a:prstGeom>
          <a:solidFill>
            <a:srgbClr val="EA580C"/>
          </a:solidFill>
          <a:ln w="12700">
            <a:solidFill>
              <a:srgbClr val="EA580C"/>
            </a:solidFill>
            <a:prstDash val="solid"/>
          </a:ln>
        </p:spPr>
      </p:sp>
      <p:pic>
        <p:nvPicPr>
          <p:cNvPr id="17" name="critic icon" descr="preencoded.png">    </p:cNvPr>
          <p:cNvPicPr>
            <a:picLocks noChangeAspect="1"/>
          </p:cNvPicPr>
          <p:nvPr/>
        </p:nvPicPr>
        <p:blipFill>
          <a:blip r:embed="rId4"/>
          <a:stretch>
            <a:fillRect/>
          </a:stretch>
        </p:blipFill>
        <p:spPr>
          <a:xfrm>
            <a:off x="8067383" y="4578110"/>
            <a:ext cx="438912" cy="438912"/>
          </a:xfrm>
          <a:prstGeom prst="rect">
            <a:avLst/>
          </a:prstGeom>
        </p:spPr>
      </p:pic>
      <p:sp>
        <p:nvSpPr>
          <p:cNvPr id="18" name="Text 12"/>
          <p:cNvSpPr txBox="1"/>
          <p:nvPr/>
        </p:nvSpPr>
        <p:spPr>
          <a:xfrm>
            <a:off x="7555319" y="5273054"/>
            <a:ext cx="1463040" cy="274320"/>
          </a:xfrm>
          <a:prstGeom prst="rect">
            <a:avLst/>
          </a:prstGeom>
          <a:noFill/>
          <a:ln/>
        </p:spPr>
        <p:txBody>
          <a:bodyPr wrap="square" lIns="0" tIns="0" rIns="0" bIns="0" rtlCol="0" anchor="ctr"/>
          <a:lstStyle/>
          <a:p>
            <a:pPr algn="ctr" indent="0" marL="0">
              <a:buNone/>
            </a:pPr>
            <a:r>
              <a:rPr lang="en-US" sz="1200" dirty="0">
                <a:solidFill>
                  <a:srgbClr val="E2E8F0"/>
                </a:solidFill>
              </a:rPr>
              <a:t>Critic</a:t>
            </a:r>
            <a:endParaRPr lang="en-US" sz="1200" dirty="0"/>
          </a:p>
        </p:txBody>
      </p:sp>
      <p:sp>
        <p:nvSpPr>
          <p:cNvPr id="19" name="archivist dot"/>
          <p:cNvSpPr/>
          <p:nvPr/>
        </p:nvSpPr>
        <p:spPr>
          <a:xfrm>
            <a:off x="7215115" y="2449054"/>
            <a:ext cx="914400" cy="914400"/>
          </a:xfrm>
          <a:prstGeom prst="ellipse">
            <a:avLst/>
          </a:prstGeom>
          <a:solidFill>
            <a:srgbClr val="DC2626"/>
          </a:solidFill>
          <a:ln w="12700">
            <a:solidFill>
              <a:srgbClr val="DC2626"/>
            </a:solidFill>
            <a:prstDash val="solid"/>
          </a:ln>
        </p:spPr>
      </p:sp>
      <p:pic>
        <p:nvPicPr>
          <p:cNvPr id="20" name="archivist icon" descr="preencoded.png">    </p:cNvPr>
          <p:cNvPicPr>
            <a:picLocks noChangeAspect="1"/>
          </p:cNvPicPr>
          <p:nvPr/>
        </p:nvPicPr>
        <p:blipFill>
          <a:blip r:embed="rId5"/>
          <a:stretch>
            <a:fillRect/>
          </a:stretch>
        </p:blipFill>
        <p:spPr>
          <a:xfrm>
            <a:off x="7452859" y="2686798"/>
            <a:ext cx="438912" cy="438912"/>
          </a:xfrm>
          <a:prstGeom prst="rect">
            <a:avLst/>
          </a:prstGeom>
        </p:spPr>
      </p:pic>
      <p:sp>
        <p:nvSpPr>
          <p:cNvPr id="21" name="Text 14"/>
          <p:cNvSpPr txBox="1"/>
          <p:nvPr/>
        </p:nvSpPr>
        <p:spPr>
          <a:xfrm>
            <a:off x="6940795" y="3381742"/>
            <a:ext cx="1463040" cy="274320"/>
          </a:xfrm>
          <a:prstGeom prst="rect">
            <a:avLst/>
          </a:prstGeom>
          <a:noFill/>
          <a:ln/>
        </p:spPr>
        <p:txBody>
          <a:bodyPr wrap="square" lIns="0" tIns="0" rIns="0" bIns="0" rtlCol="0" anchor="ctr"/>
          <a:lstStyle/>
          <a:p>
            <a:pPr algn="ctr" indent="0" marL="0">
              <a:buNone/>
            </a:pPr>
            <a:r>
              <a:rPr lang="en-US" sz="1200" dirty="0">
                <a:solidFill>
                  <a:srgbClr val="E2E8F0"/>
                </a:solidFill>
              </a:rPr>
              <a:t>Archivist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From a research goal to verified, stored evidence</a:t>
            </a:r>
            <a:endParaRPr lang="en-US" sz="3200" dirty="0"/>
          </a:p>
        </p:txBody>
      </p:sp>
      <p:sp>
        <p:nvSpPr>
          <p:cNvPr id="3" name="Shape 1"/>
          <p:cNvSpPr/>
          <p:nvPr/>
        </p:nvSpPr>
        <p:spPr>
          <a:xfrm>
            <a:off x="548640" y="1325880"/>
            <a:ext cx="1691640" cy="1874520"/>
          </a:xfrm>
          <a:prstGeom prst="roundRect">
            <a:avLst>
              <a:gd name="adj" fmla="val 6486"/>
            </a:avLst>
          </a:prstGeom>
          <a:solidFill>
            <a:srgbClr val="F8FAFC"/>
          </a:solidFill>
          <a:ln w="12700">
            <a:solidFill>
              <a:srgbClr val="E2E8F0"/>
            </a:solidFill>
            <a:prstDash val="solid"/>
          </a:ln>
        </p:spPr>
      </p:sp>
      <p:sp>
        <p:nvSpPr>
          <p:cNvPr id="4" name="Shape 2"/>
          <p:cNvSpPr/>
          <p:nvPr/>
        </p:nvSpPr>
        <p:spPr>
          <a:xfrm>
            <a:off x="1051560" y="1463040"/>
            <a:ext cx="685800" cy="685800"/>
          </a:xfrm>
          <a:prstGeom prst="ellipse">
            <a:avLst/>
          </a:prstGeom>
          <a:solidFill>
            <a:srgbClr val="334155"/>
          </a:solidFill>
          <a:ln w="12700">
            <a:solidFill>
              <a:srgbClr val="334155"/>
            </a:solidFill>
            <a:prstDash val="solid"/>
          </a:ln>
        </p:spPr>
      </p:sp>
      <p:pic>
        <p:nvPicPr>
          <p:cNvPr id="5" name="Image 0" descr="preencoded.png">    </p:cNvPr>
          <p:cNvPicPr>
            <a:picLocks noChangeAspect="1"/>
          </p:cNvPicPr>
          <p:nvPr/>
        </p:nvPicPr>
        <p:blipFill>
          <a:blip r:embed="rId1"/>
          <a:stretch>
            <a:fillRect/>
          </a:stretch>
        </p:blipFill>
        <p:spPr>
          <a:xfrm>
            <a:off x="1223010" y="1634490"/>
            <a:ext cx="342900" cy="342900"/>
          </a:xfrm>
          <a:prstGeom prst="rect">
            <a:avLst/>
          </a:prstGeom>
        </p:spPr>
      </p:pic>
      <p:sp>
        <p:nvSpPr>
          <p:cNvPr id="6" name="Text 3"/>
          <p:cNvSpPr txBox="1"/>
          <p:nvPr/>
        </p:nvSpPr>
        <p:spPr>
          <a:xfrm>
            <a:off x="548640" y="2212848"/>
            <a:ext cx="1691640" cy="320040"/>
          </a:xfrm>
          <a:prstGeom prst="rect">
            <a:avLst/>
          </a:prstGeom>
          <a:noFill/>
          <a:ln/>
        </p:spPr>
        <p:txBody>
          <a:bodyPr wrap="square" lIns="0" tIns="0" rIns="0" bIns="0" rtlCol="0" anchor="ctr"/>
          <a:lstStyle/>
          <a:p>
            <a:pPr algn="ctr" indent="0" marL="0">
              <a:buNone/>
            </a:pPr>
            <a:r>
              <a:rPr lang="en-US" sz="1600" b="1" dirty="0">
                <a:solidFill>
                  <a:srgbClr val="334155"/>
                </a:solidFill>
              </a:rPr>
              <a:t>Goal</a:t>
            </a:r>
            <a:endParaRPr lang="en-US" sz="1600" dirty="0"/>
          </a:p>
        </p:txBody>
      </p:sp>
      <p:sp>
        <p:nvSpPr>
          <p:cNvPr id="7" name="Text 4"/>
          <p:cNvSpPr txBox="1"/>
          <p:nvPr/>
        </p:nvSpPr>
        <p:spPr>
          <a:xfrm>
            <a:off x="640080" y="2542032"/>
            <a:ext cx="1508760" cy="594360"/>
          </a:xfrm>
          <a:prstGeom prst="rect">
            <a:avLst/>
          </a:prstGeom>
          <a:noFill/>
          <a:ln/>
        </p:spPr>
        <p:txBody>
          <a:bodyPr wrap="square" lIns="0" tIns="0" rIns="0" bIns="0" rtlCol="0" anchor="t"/>
          <a:lstStyle/>
          <a:p>
            <a:pPr algn="ctr" indent="0" marL="0">
              <a:buNone/>
            </a:pPr>
            <a:r>
              <a:rPr lang="en-US" sz="1200" dirty="0">
                <a:solidFill>
                  <a:srgbClr val="334155"/>
                </a:solidFill>
              </a:rPr>
              <a:t>plain-English research question</a:t>
            </a:r>
            <a:endParaRPr lang="en-US" sz="1200" dirty="0"/>
          </a:p>
        </p:txBody>
      </p:sp>
      <p:sp>
        <p:nvSpPr>
          <p:cNvPr id="8" name="Shape 5"/>
          <p:cNvSpPr/>
          <p:nvPr/>
        </p:nvSpPr>
        <p:spPr>
          <a:xfrm rot="5400000">
            <a:off x="2267712" y="2148840"/>
            <a:ext cx="128016" cy="182880"/>
          </a:xfrm>
          <a:prstGeom prst="triangle">
            <a:avLst/>
          </a:prstGeom>
          <a:solidFill>
            <a:srgbClr val="94A3B8"/>
          </a:solidFill>
          <a:ln w="12700">
            <a:solidFill>
              <a:srgbClr val="94A3B8"/>
            </a:solidFill>
            <a:prstDash val="solid"/>
          </a:ln>
        </p:spPr>
      </p:sp>
      <p:sp>
        <p:nvSpPr>
          <p:cNvPr id="9" name="Shape 6"/>
          <p:cNvSpPr/>
          <p:nvPr/>
        </p:nvSpPr>
        <p:spPr>
          <a:xfrm>
            <a:off x="2423160" y="1325880"/>
            <a:ext cx="1691640" cy="1874520"/>
          </a:xfrm>
          <a:prstGeom prst="roundRect">
            <a:avLst>
              <a:gd name="adj" fmla="val 6486"/>
            </a:avLst>
          </a:prstGeom>
          <a:solidFill>
            <a:srgbClr val="F8FAFC"/>
          </a:solidFill>
          <a:ln w="12700">
            <a:solidFill>
              <a:srgbClr val="E2E8F0"/>
            </a:solidFill>
            <a:prstDash val="solid"/>
          </a:ln>
        </p:spPr>
      </p:sp>
      <p:sp>
        <p:nvSpPr>
          <p:cNvPr id="10" name="Shape 7"/>
          <p:cNvSpPr/>
          <p:nvPr/>
        </p:nvSpPr>
        <p:spPr>
          <a:xfrm>
            <a:off x="2926080" y="1463040"/>
            <a:ext cx="685800" cy="685800"/>
          </a:xfrm>
          <a:prstGeom prst="ellipse">
            <a:avLst/>
          </a:prstGeom>
          <a:solidFill>
            <a:srgbClr val="2563EB"/>
          </a:solidFill>
          <a:ln w="12700">
            <a:solidFill>
              <a:srgbClr val="2563EB"/>
            </a:solidFill>
            <a:prstDash val="solid"/>
          </a:ln>
        </p:spPr>
      </p:sp>
      <p:pic>
        <p:nvPicPr>
          <p:cNvPr id="11" name="Image 1" descr="preencoded.png">    </p:cNvPr>
          <p:cNvPicPr>
            <a:picLocks noChangeAspect="1"/>
          </p:cNvPicPr>
          <p:nvPr/>
        </p:nvPicPr>
        <p:blipFill>
          <a:blip r:embed="rId2"/>
          <a:stretch>
            <a:fillRect/>
          </a:stretch>
        </p:blipFill>
        <p:spPr>
          <a:xfrm>
            <a:off x="3097530" y="1634490"/>
            <a:ext cx="342900" cy="342900"/>
          </a:xfrm>
          <a:prstGeom prst="rect">
            <a:avLst/>
          </a:prstGeom>
        </p:spPr>
      </p:pic>
      <p:sp>
        <p:nvSpPr>
          <p:cNvPr id="12" name="Text 8"/>
          <p:cNvSpPr txBox="1"/>
          <p:nvPr/>
        </p:nvSpPr>
        <p:spPr>
          <a:xfrm>
            <a:off x="2423160" y="2212848"/>
            <a:ext cx="1691640" cy="320040"/>
          </a:xfrm>
          <a:prstGeom prst="rect">
            <a:avLst/>
          </a:prstGeom>
          <a:noFill/>
          <a:ln/>
        </p:spPr>
        <p:txBody>
          <a:bodyPr wrap="square" lIns="0" tIns="0" rIns="0" bIns="0" rtlCol="0" anchor="ctr"/>
          <a:lstStyle/>
          <a:p>
            <a:pPr algn="ctr" indent="0" marL="0">
              <a:buNone/>
            </a:pPr>
            <a:r>
              <a:rPr lang="en-US" sz="1600" b="1" dirty="0">
                <a:solidFill>
                  <a:srgbClr val="2563EB"/>
                </a:solidFill>
              </a:rPr>
              <a:t>Plan</a:t>
            </a:r>
            <a:endParaRPr lang="en-US" sz="1600" dirty="0"/>
          </a:p>
        </p:txBody>
      </p:sp>
      <p:sp>
        <p:nvSpPr>
          <p:cNvPr id="13" name="Text 9"/>
          <p:cNvSpPr txBox="1"/>
          <p:nvPr/>
        </p:nvSpPr>
        <p:spPr>
          <a:xfrm>
            <a:off x="2514600" y="2542032"/>
            <a:ext cx="1508760" cy="594360"/>
          </a:xfrm>
          <a:prstGeom prst="rect">
            <a:avLst/>
          </a:prstGeom>
          <a:noFill/>
          <a:ln/>
        </p:spPr>
        <p:txBody>
          <a:bodyPr wrap="square" lIns="0" tIns="0" rIns="0" bIns="0" rtlCol="0" anchor="t"/>
          <a:lstStyle/>
          <a:p>
            <a:pPr algn="ctr" indent="0" marL="0">
              <a:buNone/>
            </a:pPr>
            <a:r>
              <a:rPr lang="en-US" sz="1200" dirty="0">
                <a:solidFill>
                  <a:srgbClr val="334155"/>
                </a:solidFill>
              </a:rPr>
              <a:t>Planner decomposes into ≤ 4 subtasks</a:t>
            </a:r>
            <a:endParaRPr lang="en-US" sz="1200" dirty="0"/>
          </a:p>
        </p:txBody>
      </p:sp>
      <p:sp>
        <p:nvSpPr>
          <p:cNvPr id="14" name="Shape 10"/>
          <p:cNvSpPr/>
          <p:nvPr/>
        </p:nvSpPr>
        <p:spPr>
          <a:xfrm rot="5400000">
            <a:off x="4142232" y="2148840"/>
            <a:ext cx="128016" cy="182880"/>
          </a:xfrm>
          <a:prstGeom prst="triangle">
            <a:avLst/>
          </a:prstGeom>
          <a:solidFill>
            <a:srgbClr val="94A3B8"/>
          </a:solidFill>
          <a:ln w="12700">
            <a:solidFill>
              <a:srgbClr val="94A3B8"/>
            </a:solidFill>
            <a:prstDash val="solid"/>
          </a:ln>
        </p:spPr>
      </p:sp>
      <p:sp>
        <p:nvSpPr>
          <p:cNvPr id="15" name="Shape 11"/>
          <p:cNvSpPr/>
          <p:nvPr/>
        </p:nvSpPr>
        <p:spPr>
          <a:xfrm>
            <a:off x="4297680" y="1325880"/>
            <a:ext cx="1691640" cy="1874520"/>
          </a:xfrm>
          <a:prstGeom prst="roundRect">
            <a:avLst>
              <a:gd name="adj" fmla="val 6486"/>
            </a:avLst>
          </a:prstGeom>
          <a:solidFill>
            <a:srgbClr val="F8FAFC"/>
          </a:solidFill>
          <a:ln w="12700">
            <a:solidFill>
              <a:srgbClr val="E2E8F0"/>
            </a:solidFill>
            <a:prstDash val="solid"/>
          </a:ln>
        </p:spPr>
      </p:sp>
      <p:sp>
        <p:nvSpPr>
          <p:cNvPr id="16" name="Shape 12"/>
          <p:cNvSpPr/>
          <p:nvPr/>
        </p:nvSpPr>
        <p:spPr>
          <a:xfrm>
            <a:off x="4800600" y="1463040"/>
            <a:ext cx="685800" cy="685800"/>
          </a:xfrm>
          <a:prstGeom prst="ellipse">
            <a:avLst/>
          </a:prstGeom>
          <a:solidFill>
            <a:srgbClr val="16A34A"/>
          </a:solidFill>
          <a:ln w="12700">
            <a:solidFill>
              <a:srgbClr val="16A34A"/>
            </a:solidFill>
            <a:prstDash val="solid"/>
          </a:ln>
        </p:spPr>
      </p:sp>
      <p:pic>
        <p:nvPicPr>
          <p:cNvPr id="17" name="Image 2" descr="preencoded.png">    </p:cNvPr>
          <p:cNvPicPr>
            <a:picLocks noChangeAspect="1"/>
          </p:cNvPicPr>
          <p:nvPr/>
        </p:nvPicPr>
        <p:blipFill>
          <a:blip r:embed="rId3"/>
          <a:stretch>
            <a:fillRect/>
          </a:stretch>
        </p:blipFill>
        <p:spPr>
          <a:xfrm>
            <a:off x="4972050" y="1634490"/>
            <a:ext cx="342900" cy="342900"/>
          </a:xfrm>
          <a:prstGeom prst="rect">
            <a:avLst/>
          </a:prstGeom>
        </p:spPr>
      </p:pic>
      <p:sp>
        <p:nvSpPr>
          <p:cNvPr id="18" name="Text 13"/>
          <p:cNvSpPr txBox="1"/>
          <p:nvPr/>
        </p:nvSpPr>
        <p:spPr>
          <a:xfrm>
            <a:off x="4297680" y="2212848"/>
            <a:ext cx="1691640" cy="320040"/>
          </a:xfrm>
          <a:prstGeom prst="rect">
            <a:avLst/>
          </a:prstGeom>
          <a:noFill/>
          <a:ln/>
        </p:spPr>
        <p:txBody>
          <a:bodyPr wrap="square" lIns="0" tIns="0" rIns="0" bIns="0" rtlCol="0" anchor="ctr"/>
          <a:lstStyle/>
          <a:p>
            <a:pPr algn="ctr" indent="0" marL="0">
              <a:buNone/>
            </a:pPr>
            <a:r>
              <a:rPr lang="en-US" sz="1600" b="1" dirty="0">
                <a:solidFill>
                  <a:srgbClr val="16A34A"/>
                </a:solidFill>
              </a:rPr>
              <a:t>Retrieve</a:t>
            </a:r>
            <a:endParaRPr lang="en-US" sz="1600" dirty="0"/>
          </a:p>
        </p:txBody>
      </p:sp>
      <p:sp>
        <p:nvSpPr>
          <p:cNvPr id="19" name="Text 14"/>
          <p:cNvSpPr txBox="1"/>
          <p:nvPr/>
        </p:nvSpPr>
        <p:spPr>
          <a:xfrm>
            <a:off x="4389120" y="2542032"/>
            <a:ext cx="1508760" cy="594360"/>
          </a:xfrm>
          <a:prstGeom prst="rect">
            <a:avLst/>
          </a:prstGeom>
          <a:noFill/>
          <a:ln/>
        </p:spPr>
        <p:txBody>
          <a:bodyPr wrap="square" lIns="0" tIns="0" rIns="0" bIns="0" rtlCol="0" anchor="t"/>
          <a:lstStyle/>
          <a:p>
            <a:pPr algn="ctr" indent="0" marL="0">
              <a:buNone/>
            </a:pPr>
            <a:r>
              <a:rPr lang="en-US" sz="1200" dirty="0">
                <a:solidFill>
                  <a:srgbClr val="334155"/>
                </a:solidFill>
              </a:rPr>
              <a:t>arXiv · OpenAlex · Crossref with provenance</a:t>
            </a:r>
            <a:endParaRPr lang="en-US" sz="1200" dirty="0"/>
          </a:p>
        </p:txBody>
      </p:sp>
      <p:sp>
        <p:nvSpPr>
          <p:cNvPr id="20" name="Shape 15"/>
          <p:cNvSpPr/>
          <p:nvPr/>
        </p:nvSpPr>
        <p:spPr>
          <a:xfrm rot="5400000">
            <a:off x="6016752" y="2148840"/>
            <a:ext cx="128016" cy="182880"/>
          </a:xfrm>
          <a:prstGeom prst="triangle">
            <a:avLst/>
          </a:prstGeom>
          <a:solidFill>
            <a:srgbClr val="94A3B8"/>
          </a:solidFill>
          <a:ln w="12700">
            <a:solidFill>
              <a:srgbClr val="94A3B8"/>
            </a:solidFill>
            <a:prstDash val="solid"/>
          </a:ln>
        </p:spPr>
      </p:sp>
      <p:sp>
        <p:nvSpPr>
          <p:cNvPr id="21" name="Shape 16"/>
          <p:cNvSpPr/>
          <p:nvPr/>
        </p:nvSpPr>
        <p:spPr>
          <a:xfrm>
            <a:off x="6172200" y="1325880"/>
            <a:ext cx="1691640" cy="1874520"/>
          </a:xfrm>
          <a:prstGeom prst="roundRect">
            <a:avLst>
              <a:gd name="adj" fmla="val 6486"/>
            </a:avLst>
          </a:prstGeom>
          <a:solidFill>
            <a:srgbClr val="F8FAFC"/>
          </a:solidFill>
          <a:ln w="12700">
            <a:solidFill>
              <a:srgbClr val="E2E8F0"/>
            </a:solidFill>
            <a:prstDash val="solid"/>
          </a:ln>
        </p:spPr>
      </p:sp>
      <p:sp>
        <p:nvSpPr>
          <p:cNvPr id="22" name="Shape 17"/>
          <p:cNvSpPr/>
          <p:nvPr/>
        </p:nvSpPr>
        <p:spPr>
          <a:xfrm>
            <a:off x="6675120" y="1463040"/>
            <a:ext cx="685800" cy="685800"/>
          </a:xfrm>
          <a:prstGeom prst="ellipse">
            <a:avLst/>
          </a:prstGeom>
          <a:solidFill>
            <a:srgbClr val="9333EA"/>
          </a:solidFill>
          <a:ln w="12700">
            <a:solidFill>
              <a:srgbClr val="9333EA"/>
            </a:solidFill>
            <a:prstDash val="solid"/>
          </a:ln>
        </p:spPr>
      </p:sp>
      <p:pic>
        <p:nvPicPr>
          <p:cNvPr id="23" name="Image 3" descr="preencoded.png">    </p:cNvPr>
          <p:cNvPicPr>
            <a:picLocks noChangeAspect="1"/>
          </p:cNvPicPr>
          <p:nvPr/>
        </p:nvPicPr>
        <p:blipFill>
          <a:blip r:embed="rId4"/>
          <a:stretch>
            <a:fillRect/>
          </a:stretch>
        </p:blipFill>
        <p:spPr>
          <a:xfrm>
            <a:off x="6846570" y="1634490"/>
            <a:ext cx="342900" cy="342900"/>
          </a:xfrm>
          <a:prstGeom prst="rect">
            <a:avLst/>
          </a:prstGeom>
        </p:spPr>
      </p:pic>
      <p:sp>
        <p:nvSpPr>
          <p:cNvPr id="24" name="Text 18"/>
          <p:cNvSpPr txBox="1"/>
          <p:nvPr/>
        </p:nvSpPr>
        <p:spPr>
          <a:xfrm>
            <a:off x="6172200" y="2212848"/>
            <a:ext cx="1691640" cy="320040"/>
          </a:xfrm>
          <a:prstGeom prst="rect">
            <a:avLst/>
          </a:prstGeom>
          <a:noFill/>
          <a:ln/>
        </p:spPr>
        <p:txBody>
          <a:bodyPr wrap="square" lIns="0" tIns="0" rIns="0" bIns="0" rtlCol="0" anchor="ctr"/>
          <a:lstStyle/>
          <a:p>
            <a:pPr algn="ctr" indent="0" marL="0">
              <a:buNone/>
            </a:pPr>
            <a:r>
              <a:rPr lang="en-US" sz="1600" b="1" dirty="0">
                <a:solidFill>
                  <a:srgbClr val="9333EA"/>
                </a:solidFill>
              </a:rPr>
              <a:t>Process</a:t>
            </a:r>
            <a:endParaRPr lang="en-US" sz="1600" dirty="0"/>
          </a:p>
        </p:txBody>
      </p:sp>
      <p:sp>
        <p:nvSpPr>
          <p:cNvPr id="25" name="Text 19"/>
          <p:cNvSpPr txBox="1"/>
          <p:nvPr/>
        </p:nvSpPr>
        <p:spPr>
          <a:xfrm>
            <a:off x="6263640" y="2542032"/>
            <a:ext cx="1508760" cy="594360"/>
          </a:xfrm>
          <a:prstGeom prst="rect">
            <a:avLst/>
          </a:prstGeom>
          <a:noFill/>
          <a:ln/>
        </p:spPr>
        <p:txBody>
          <a:bodyPr wrap="square" lIns="0" tIns="0" rIns="0" bIns="0" rtlCol="0" anchor="t"/>
          <a:lstStyle/>
          <a:p>
            <a:pPr algn="ctr" indent="0" marL="0">
              <a:buNone/>
            </a:pPr>
            <a:r>
              <a:rPr lang="en-US" sz="1200" dirty="0">
                <a:solidFill>
                  <a:srgbClr val="334155"/>
                </a:solidFill>
              </a:rPr>
              <a:t>dedup · rank · atomic claims</a:t>
            </a:r>
            <a:endParaRPr lang="en-US" sz="1200" dirty="0"/>
          </a:p>
        </p:txBody>
      </p:sp>
      <p:sp>
        <p:nvSpPr>
          <p:cNvPr id="26" name="Shape 20"/>
          <p:cNvSpPr/>
          <p:nvPr/>
        </p:nvSpPr>
        <p:spPr>
          <a:xfrm rot="5400000">
            <a:off x="7891272" y="2148840"/>
            <a:ext cx="128016" cy="182880"/>
          </a:xfrm>
          <a:prstGeom prst="triangle">
            <a:avLst/>
          </a:prstGeom>
          <a:solidFill>
            <a:srgbClr val="94A3B8"/>
          </a:solidFill>
          <a:ln w="12700">
            <a:solidFill>
              <a:srgbClr val="94A3B8"/>
            </a:solidFill>
            <a:prstDash val="solid"/>
          </a:ln>
        </p:spPr>
      </p:sp>
      <p:sp>
        <p:nvSpPr>
          <p:cNvPr id="27" name="Shape 21"/>
          <p:cNvSpPr/>
          <p:nvPr/>
        </p:nvSpPr>
        <p:spPr>
          <a:xfrm>
            <a:off x="8046720" y="1325880"/>
            <a:ext cx="1691640" cy="1874520"/>
          </a:xfrm>
          <a:prstGeom prst="roundRect">
            <a:avLst>
              <a:gd name="adj" fmla="val 6486"/>
            </a:avLst>
          </a:prstGeom>
          <a:solidFill>
            <a:srgbClr val="F8FAFC"/>
          </a:solidFill>
          <a:ln w="12700">
            <a:solidFill>
              <a:srgbClr val="E2E8F0"/>
            </a:solidFill>
            <a:prstDash val="solid"/>
          </a:ln>
        </p:spPr>
      </p:sp>
      <p:sp>
        <p:nvSpPr>
          <p:cNvPr id="28" name="Shape 22"/>
          <p:cNvSpPr/>
          <p:nvPr/>
        </p:nvSpPr>
        <p:spPr>
          <a:xfrm>
            <a:off x="8549640" y="1463040"/>
            <a:ext cx="685800" cy="685800"/>
          </a:xfrm>
          <a:prstGeom prst="ellipse">
            <a:avLst/>
          </a:prstGeom>
          <a:solidFill>
            <a:srgbClr val="EA580C"/>
          </a:solidFill>
          <a:ln w="12700">
            <a:solidFill>
              <a:srgbClr val="EA580C"/>
            </a:solidFill>
            <a:prstDash val="solid"/>
          </a:ln>
        </p:spPr>
      </p:sp>
      <p:pic>
        <p:nvPicPr>
          <p:cNvPr id="29" name="Image 4" descr="preencoded.png">    </p:cNvPr>
          <p:cNvPicPr>
            <a:picLocks noChangeAspect="1"/>
          </p:cNvPicPr>
          <p:nvPr/>
        </p:nvPicPr>
        <p:blipFill>
          <a:blip r:embed="rId5"/>
          <a:stretch>
            <a:fillRect/>
          </a:stretch>
        </p:blipFill>
        <p:spPr>
          <a:xfrm>
            <a:off x="8721090" y="1634490"/>
            <a:ext cx="342900" cy="342900"/>
          </a:xfrm>
          <a:prstGeom prst="rect">
            <a:avLst/>
          </a:prstGeom>
        </p:spPr>
      </p:pic>
      <p:sp>
        <p:nvSpPr>
          <p:cNvPr id="30" name="Text 23"/>
          <p:cNvSpPr txBox="1"/>
          <p:nvPr/>
        </p:nvSpPr>
        <p:spPr>
          <a:xfrm>
            <a:off x="8046720" y="2212848"/>
            <a:ext cx="1691640" cy="320040"/>
          </a:xfrm>
          <a:prstGeom prst="rect">
            <a:avLst/>
          </a:prstGeom>
          <a:noFill/>
          <a:ln/>
        </p:spPr>
        <p:txBody>
          <a:bodyPr wrap="square" lIns="0" tIns="0" rIns="0" bIns="0" rtlCol="0" anchor="ctr"/>
          <a:lstStyle/>
          <a:p>
            <a:pPr algn="ctr" indent="0" marL="0">
              <a:buNone/>
            </a:pPr>
            <a:r>
              <a:rPr lang="en-US" sz="1600" b="1" dirty="0">
                <a:solidFill>
                  <a:srgbClr val="EA580C"/>
                </a:solidFill>
              </a:rPr>
              <a:t>Verify</a:t>
            </a:r>
            <a:endParaRPr lang="en-US" sz="1600" dirty="0"/>
          </a:p>
        </p:txBody>
      </p:sp>
      <p:sp>
        <p:nvSpPr>
          <p:cNvPr id="31" name="Text 24"/>
          <p:cNvSpPr txBox="1"/>
          <p:nvPr/>
        </p:nvSpPr>
        <p:spPr>
          <a:xfrm>
            <a:off x="8138160" y="2542032"/>
            <a:ext cx="1508760" cy="594360"/>
          </a:xfrm>
          <a:prstGeom prst="rect">
            <a:avLst/>
          </a:prstGeom>
          <a:noFill/>
          <a:ln/>
        </p:spPr>
        <p:txBody>
          <a:bodyPr wrap="square" lIns="0" tIns="0" rIns="0" bIns="0" rtlCol="0" anchor="t"/>
          <a:lstStyle/>
          <a:p>
            <a:pPr algn="ctr" indent="0" marL="0">
              <a:buNone/>
            </a:pPr>
            <a:r>
              <a:rPr lang="en-US" sz="1200" dirty="0">
                <a:solidFill>
                  <a:srgbClr val="334155"/>
                </a:solidFill>
              </a:rPr>
              <a:t>independent Critic checks each claim</a:t>
            </a:r>
            <a:endParaRPr lang="en-US" sz="1200" dirty="0"/>
          </a:p>
        </p:txBody>
      </p:sp>
      <p:sp>
        <p:nvSpPr>
          <p:cNvPr id="32" name="Shape 25"/>
          <p:cNvSpPr/>
          <p:nvPr/>
        </p:nvSpPr>
        <p:spPr>
          <a:xfrm rot="5400000">
            <a:off x="9765792" y="2148840"/>
            <a:ext cx="128016" cy="182880"/>
          </a:xfrm>
          <a:prstGeom prst="triangle">
            <a:avLst/>
          </a:prstGeom>
          <a:solidFill>
            <a:srgbClr val="94A3B8"/>
          </a:solidFill>
          <a:ln w="12700">
            <a:solidFill>
              <a:srgbClr val="94A3B8"/>
            </a:solidFill>
            <a:prstDash val="solid"/>
          </a:ln>
        </p:spPr>
      </p:sp>
      <p:sp>
        <p:nvSpPr>
          <p:cNvPr id="33" name="Shape 26"/>
          <p:cNvSpPr/>
          <p:nvPr/>
        </p:nvSpPr>
        <p:spPr>
          <a:xfrm>
            <a:off x="9921240" y="1325880"/>
            <a:ext cx="1691640" cy="1874520"/>
          </a:xfrm>
          <a:prstGeom prst="roundRect">
            <a:avLst>
              <a:gd name="adj" fmla="val 6486"/>
            </a:avLst>
          </a:prstGeom>
          <a:solidFill>
            <a:srgbClr val="F8FAFC"/>
          </a:solidFill>
          <a:ln w="12700">
            <a:solidFill>
              <a:srgbClr val="E2E8F0"/>
            </a:solidFill>
            <a:prstDash val="solid"/>
          </a:ln>
        </p:spPr>
      </p:sp>
      <p:sp>
        <p:nvSpPr>
          <p:cNvPr id="34" name="Shape 27"/>
          <p:cNvSpPr/>
          <p:nvPr/>
        </p:nvSpPr>
        <p:spPr>
          <a:xfrm>
            <a:off x="10424160" y="1463040"/>
            <a:ext cx="685800" cy="685800"/>
          </a:xfrm>
          <a:prstGeom prst="ellipse">
            <a:avLst/>
          </a:prstGeom>
          <a:solidFill>
            <a:srgbClr val="DC2626"/>
          </a:solidFill>
          <a:ln w="12700">
            <a:solidFill>
              <a:srgbClr val="DC2626"/>
            </a:solidFill>
            <a:prstDash val="solid"/>
          </a:ln>
        </p:spPr>
      </p:sp>
      <p:pic>
        <p:nvPicPr>
          <p:cNvPr id="35" name="Image 5" descr="preencoded.png">    </p:cNvPr>
          <p:cNvPicPr>
            <a:picLocks noChangeAspect="1"/>
          </p:cNvPicPr>
          <p:nvPr/>
        </p:nvPicPr>
        <p:blipFill>
          <a:blip r:embed="rId6"/>
          <a:stretch>
            <a:fillRect/>
          </a:stretch>
        </p:blipFill>
        <p:spPr>
          <a:xfrm>
            <a:off x="10595610" y="1634490"/>
            <a:ext cx="342900" cy="342900"/>
          </a:xfrm>
          <a:prstGeom prst="rect">
            <a:avLst/>
          </a:prstGeom>
        </p:spPr>
      </p:pic>
      <p:sp>
        <p:nvSpPr>
          <p:cNvPr id="36" name="Text 28"/>
          <p:cNvSpPr txBox="1"/>
          <p:nvPr/>
        </p:nvSpPr>
        <p:spPr>
          <a:xfrm>
            <a:off x="9921240" y="2212848"/>
            <a:ext cx="1691640" cy="320040"/>
          </a:xfrm>
          <a:prstGeom prst="rect">
            <a:avLst/>
          </a:prstGeom>
          <a:noFill/>
          <a:ln/>
        </p:spPr>
        <p:txBody>
          <a:bodyPr wrap="square" lIns="0" tIns="0" rIns="0" bIns="0" rtlCol="0" anchor="ctr"/>
          <a:lstStyle/>
          <a:p>
            <a:pPr algn="ctr" indent="0" marL="0">
              <a:buNone/>
            </a:pPr>
            <a:r>
              <a:rPr lang="en-US" sz="1600" b="1" dirty="0">
                <a:solidFill>
                  <a:srgbClr val="DC2626"/>
                </a:solidFill>
              </a:rPr>
              <a:t>Store</a:t>
            </a:r>
            <a:endParaRPr lang="en-US" sz="1600" dirty="0"/>
          </a:p>
        </p:txBody>
      </p:sp>
      <p:sp>
        <p:nvSpPr>
          <p:cNvPr id="37" name="Text 29"/>
          <p:cNvSpPr txBox="1"/>
          <p:nvPr/>
        </p:nvSpPr>
        <p:spPr>
          <a:xfrm>
            <a:off x="10012680" y="2542032"/>
            <a:ext cx="1508760" cy="594360"/>
          </a:xfrm>
          <a:prstGeom prst="rect">
            <a:avLst/>
          </a:prstGeom>
          <a:noFill/>
          <a:ln/>
        </p:spPr>
        <p:txBody>
          <a:bodyPr wrap="square" lIns="0" tIns="0" rIns="0" bIns="0" rtlCol="0" anchor="t"/>
          <a:lstStyle/>
          <a:p>
            <a:pPr algn="ctr" indent="0" marL="0">
              <a:buNone/>
            </a:pPr>
            <a:r>
              <a:rPr lang="en-US" sz="1200" dirty="0">
                <a:solidFill>
                  <a:srgbClr val="334155"/>
                </a:solidFill>
              </a:rPr>
              <a:t>report · BibTeX · vector index · trace</a:t>
            </a:r>
            <a:endParaRPr lang="en-US" sz="1200" dirty="0"/>
          </a:p>
        </p:txBody>
      </p:sp>
      <p:sp>
        <p:nvSpPr>
          <p:cNvPr id="38" name="Shape 30"/>
          <p:cNvSpPr/>
          <p:nvPr/>
        </p:nvSpPr>
        <p:spPr>
          <a:xfrm>
            <a:off x="548640" y="3520440"/>
            <a:ext cx="5486400" cy="2423160"/>
          </a:xfrm>
          <a:prstGeom prst="roundRect">
            <a:avLst>
              <a:gd name="adj" fmla="val 3774"/>
            </a:avLst>
          </a:prstGeom>
          <a:solidFill>
            <a:schemeClr val="bg2"/>
          </a:solidFill>
          <a:ln w="12700">
            <a:solidFill>
              <a:schemeClr val="bg2"/>
            </a:solidFill>
            <a:prstDash val="solid"/>
          </a:ln>
        </p:spPr>
      </p:sp>
      <p:sp>
        <p:nvSpPr>
          <p:cNvPr id="39" name="Text 31"/>
          <p:cNvSpPr txBox="1"/>
          <p:nvPr/>
        </p:nvSpPr>
        <p:spPr>
          <a:xfrm>
            <a:off x="777240" y="3639312"/>
            <a:ext cx="5120640" cy="2240280"/>
          </a:xfrm>
          <a:prstGeom prst="rect">
            <a:avLst/>
          </a:prstGeom>
          <a:noFill/>
          <a:ln/>
        </p:spPr>
        <p:txBody>
          <a:bodyPr wrap="square" lIns="0" tIns="0" rIns="0" bIns="0" rtlCol="0" anchor="t"/>
          <a:lstStyle/>
          <a:p>
            <a:pPr indent="0" marL="0">
              <a:spcAft>
                <a:spcPts val="300"/>
              </a:spcAft>
              <a:buNone/>
            </a:pPr>
            <a:r>
              <a:rPr lang="en-US" sz="1800" b="1" dirty="0">
                <a:solidFill>
                  <a:schemeClr val="tx1"/>
                </a:solidFill>
              </a:rPr>
              <a:t>Why multi-agent?</a:t>
            </a:r>
            <a:endParaRPr lang="en-US" sz="1800" dirty="0"/>
          </a:p>
          <a:p>
            <a:pPr indent="0" marL="0">
              <a:spcAft>
                <a:spcPts val="300"/>
              </a:spcAft>
              <a:buNone/>
            </a:pPr>
            <a:r>
              <a:rPr lang="en-US" sz="1400" dirty="0">
                <a:solidFill>
                  <a:schemeClr val="tx2"/>
                </a:solidFill>
              </a:rPr>
              <a:t>Unaided LLMs plan unreliably and fabricate facts and citations, so each step gets its own specialist and every claim is checked.</a:t>
            </a:r>
            <a:endParaRPr lang="en-US" sz="1800" dirty="0"/>
          </a:p>
          <a:p>
            <a:pPr indent="0" marL="0">
              <a:spcAft>
                <a:spcPts val="300"/>
              </a:spcAft>
              <a:buNone/>
            </a:pPr>
            <a:r>
              <a:rPr lang="en-US" sz="600" dirty="0">
                <a:solidFill>
                  <a:srgbClr val="000000"/>
                </a:solidFill>
              </a:rPr>
              <a:t> </a:t>
            </a:r>
            <a:endParaRPr lang="en-US" sz="1800" dirty="0"/>
          </a:p>
          <a:p>
            <a:pPr indent="0" marL="0">
              <a:spcAft>
                <a:spcPts val="300"/>
              </a:spcAft>
              <a:buNone/>
            </a:pPr>
            <a:r>
              <a:rPr lang="en-US" sz="1400" b="1" dirty="0">
                <a:solidFill>
                  <a:schemeClr val="tx1"/>
                </a:solidFill>
              </a:rPr>
              <a:t>Brief success criteria → agents</a:t>
            </a:r>
            <a:endParaRPr lang="en-US" sz="1800" dirty="0"/>
          </a:p>
          <a:p>
            <a:pPr marL="342900" indent="-342900">
              <a:spcAft>
                <a:spcPts val="300"/>
              </a:spcAft>
              <a:buSzPct val="100000"/>
              <a:buChar char="•"/>
            </a:pPr>
            <a:r>
              <a:rPr lang="en-US" sz="1300" dirty="0">
                <a:solidFill>
                  <a:schemeClr val="tx2"/>
                </a:solidFill>
              </a:rPr>
              <a:t>Identify &amp; retrieve relevant data: Planner, Retriever</a:t>
            </a:r>
            <a:endParaRPr lang="en-US" sz="1800" dirty="0"/>
          </a:p>
          <a:p>
            <a:pPr marL="342900" indent="-342900">
              <a:spcAft>
                <a:spcPts val="300"/>
              </a:spcAft>
              <a:buSzPct val="100000"/>
              <a:buChar char="•"/>
            </a:pPr>
            <a:r>
              <a:rPr lang="en-US" sz="1300" dirty="0">
                <a:solidFill>
                  <a:schemeClr val="tx2"/>
                </a:solidFill>
              </a:rPr>
              <a:t>Process the data: Processor, Critic</a:t>
            </a:r>
            <a:endParaRPr lang="en-US" sz="1800" dirty="0"/>
          </a:p>
          <a:p>
            <a:pPr marL="342900" indent="-342900">
              <a:spcAft>
                <a:spcPts val="300"/>
              </a:spcAft>
              <a:buSzPct val="100000"/>
              <a:buChar char="•"/>
            </a:pPr>
            <a:r>
              <a:rPr lang="en-US" sz="1300" dirty="0">
                <a:solidFill>
                  <a:schemeClr val="tx2"/>
                </a:solidFill>
              </a:rPr>
              <a:t>Store in a usable format: Archivist</a:t>
            </a:r>
            <a:endParaRPr lang="en-US" sz="1800" dirty="0"/>
          </a:p>
        </p:txBody>
      </p:sp>
      <p:sp>
        <p:nvSpPr>
          <p:cNvPr id="40" name="Shape 32"/>
          <p:cNvSpPr/>
          <p:nvPr/>
        </p:nvSpPr>
        <p:spPr>
          <a:xfrm>
            <a:off x="6355080" y="3520440"/>
            <a:ext cx="2514600" cy="1097280"/>
          </a:xfrm>
          <a:prstGeom prst="roundRect">
            <a:avLst>
              <a:gd name="adj" fmla="val 8333"/>
            </a:avLst>
          </a:prstGeom>
          <a:solidFill>
            <a:srgbClr val="FFFFFF"/>
          </a:solidFill>
          <a:ln w="12700">
            <a:solidFill>
              <a:srgbClr val="CBD5E1"/>
            </a:solidFill>
            <a:prstDash val="solid"/>
          </a:ln>
        </p:spPr>
      </p:sp>
      <p:sp>
        <p:nvSpPr>
          <p:cNvPr id="41" name="Text 33"/>
          <p:cNvSpPr txBox="1"/>
          <p:nvPr/>
        </p:nvSpPr>
        <p:spPr>
          <a:xfrm>
            <a:off x="6492240" y="3593592"/>
            <a:ext cx="2240280" cy="566928"/>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5</a:t>
            </a:r>
            <a:endParaRPr lang="en-US" sz="3400" dirty="0"/>
          </a:p>
        </p:txBody>
      </p:sp>
      <p:sp>
        <p:nvSpPr>
          <p:cNvPr id="42" name="Text 34"/>
          <p:cNvSpPr txBox="1"/>
          <p:nvPr/>
        </p:nvSpPr>
        <p:spPr>
          <a:xfrm>
            <a:off x="6492240" y="4178808"/>
            <a:ext cx="2286000" cy="365760"/>
          </a:xfrm>
          <a:prstGeom prst="rect">
            <a:avLst/>
          </a:prstGeom>
          <a:noFill/>
          <a:ln/>
        </p:spPr>
        <p:txBody>
          <a:bodyPr wrap="square" lIns="0" tIns="0" rIns="0" bIns="0" rtlCol="0" anchor="ctr"/>
          <a:lstStyle/>
          <a:p>
            <a:pPr indent="0" marL="0">
              <a:buNone/>
            </a:pPr>
            <a:r>
              <a:rPr lang="en-US" sz="1200" dirty="0">
                <a:solidFill>
                  <a:schemeClr val="tx2"/>
                </a:solidFill>
              </a:rPr>
              <a:t>agents implemented</a:t>
            </a:r>
            <a:endParaRPr lang="en-US" sz="1200" dirty="0"/>
          </a:p>
        </p:txBody>
      </p:sp>
      <p:sp>
        <p:nvSpPr>
          <p:cNvPr id="43" name="Shape 35"/>
          <p:cNvSpPr/>
          <p:nvPr/>
        </p:nvSpPr>
        <p:spPr>
          <a:xfrm>
            <a:off x="9006840" y="3520440"/>
            <a:ext cx="2514600" cy="1097280"/>
          </a:xfrm>
          <a:prstGeom prst="roundRect">
            <a:avLst>
              <a:gd name="adj" fmla="val 8333"/>
            </a:avLst>
          </a:prstGeom>
          <a:solidFill>
            <a:srgbClr val="FFFFFF"/>
          </a:solidFill>
          <a:ln w="12700">
            <a:solidFill>
              <a:srgbClr val="CBD5E1"/>
            </a:solidFill>
            <a:prstDash val="solid"/>
          </a:ln>
        </p:spPr>
      </p:sp>
      <p:sp>
        <p:nvSpPr>
          <p:cNvPr id="44" name="Text 36"/>
          <p:cNvSpPr txBox="1"/>
          <p:nvPr/>
        </p:nvSpPr>
        <p:spPr>
          <a:xfrm>
            <a:off x="9144000" y="3593592"/>
            <a:ext cx="2240280" cy="566928"/>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94</a:t>
            </a:r>
            <a:endParaRPr lang="en-US" sz="3400" dirty="0"/>
          </a:p>
        </p:txBody>
      </p:sp>
      <p:sp>
        <p:nvSpPr>
          <p:cNvPr id="45" name="Text 37"/>
          <p:cNvSpPr txBox="1"/>
          <p:nvPr/>
        </p:nvSpPr>
        <p:spPr>
          <a:xfrm>
            <a:off x="9144000" y="4178808"/>
            <a:ext cx="2286000" cy="365760"/>
          </a:xfrm>
          <a:prstGeom prst="rect">
            <a:avLst/>
          </a:prstGeom>
          <a:noFill/>
          <a:ln/>
        </p:spPr>
        <p:txBody>
          <a:bodyPr wrap="square" lIns="0" tIns="0" rIns="0" bIns="0" rtlCol="0" anchor="ctr"/>
          <a:lstStyle/>
          <a:p>
            <a:pPr indent="0" marL="0">
              <a:buNone/>
            </a:pPr>
            <a:r>
              <a:rPr lang="en-US" sz="1200" dirty="0">
                <a:solidFill>
                  <a:schemeClr val="tx2"/>
                </a:solidFill>
              </a:rPr>
              <a:t>automated tests · 93% coverage</a:t>
            </a:r>
            <a:endParaRPr lang="en-US" sz="1200" dirty="0"/>
          </a:p>
        </p:txBody>
      </p:sp>
      <p:sp>
        <p:nvSpPr>
          <p:cNvPr id="46" name="Shape 38"/>
          <p:cNvSpPr/>
          <p:nvPr/>
        </p:nvSpPr>
        <p:spPr>
          <a:xfrm>
            <a:off x="6355080" y="4754880"/>
            <a:ext cx="2514600" cy="1097280"/>
          </a:xfrm>
          <a:prstGeom prst="roundRect">
            <a:avLst>
              <a:gd name="adj" fmla="val 8333"/>
            </a:avLst>
          </a:prstGeom>
          <a:solidFill>
            <a:srgbClr val="FFFFFF"/>
          </a:solidFill>
          <a:ln w="12700">
            <a:solidFill>
              <a:srgbClr val="CBD5E1"/>
            </a:solidFill>
            <a:prstDash val="solid"/>
          </a:ln>
        </p:spPr>
      </p:sp>
      <p:sp>
        <p:nvSpPr>
          <p:cNvPr id="47" name="Text 39"/>
          <p:cNvSpPr txBox="1"/>
          <p:nvPr/>
        </p:nvSpPr>
        <p:spPr>
          <a:xfrm>
            <a:off x="6492240" y="4828032"/>
            <a:ext cx="2240280" cy="566928"/>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3/3</a:t>
            </a:r>
            <a:endParaRPr lang="en-US" sz="3400" dirty="0"/>
          </a:p>
        </p:txBody>
      </p:sp>
      <p:sp>
        <p:nvSpPr>
          <p:cNvPr id="48" name="Text 40"/>
          <p:cNvSpPr txBox="1"/>
          <p:nvPr/>
        </p:nvSpPr>
        <p:spPr>
          <a:xfrm>
            <a:off x="6492240" y="5413248"/>
            <a:ext cx="2286000" cy="365760"/>
          </a:xfrm>
          <a:prstGeom prst="rect">
            <a:avLst/>
          </a:prstGeom>
          <a:noFill/>
          <a:ln/>
        </p:spPr>
        <p:txBody>
          <a:bodyPr wrap="square" lIns="0" tIns="0" rIns="0" bIns="0" rtlCol="0" anchor="ctr"/>
          <a:lstStyle/>
          <a:p>
            <a:pPr indent="0" marL="0">
              <a:buNone/>
            </a:pPr>
            <a:r>
              <a:rPr lang="en-US" sz="1200" dirty="0">
                <a:solidFill>
                  <a:schemeClr val="tx2"/>
                </a:solidFill>
              </a:rPr>
              <a:t>live goals completed in budget</a:t>
            </a:r>
            <a:endParaRPr lang="en-US" sz="1200" dirty="0"/>
          </a:p>
        </p:txBody>
      </p:sp>
      <p:sp>
        <p:nvSpPr>
          <p:cNvPr id="49" name="Shape 41"/>
          <p:cNvSpPr/>
          <p:nvPr/>
        </p:nvSpPr>
        <p:spPr>
          <a:xfrm>
            <a:off x="9006840" y="4754880"/>
            <a:ext cx="2514600" cy="1097280"/>
          </a:xfrm>
          <a:prstGeom prst="roundRect">
            <a:avLst>
              <a:gd name="adj" fmla="val 8333"/>
            </a:avLst>
          </a:prstGeom>
          <a:solidFill>
            <a:srgbClr val="FFFFFF"/>
          </a:solidFill>
          <a:ln w="12700">
            <a:solidFill>
              <a:srgbClr val="CBD5E1"/>
            </a:solidFill>
            <a:prstDash val="solid"/>
          </a:ln>
        </p:spPr>
      </p:sp>
      <p:sp>
        <p:nvSpPr>
          <p:cNvPr id="50" name="Text 42"/>
          <p:cNvSpPr txBox="1"/>
          <p:nvPr/>
        </p:nvSpPr>
        <p:spPr>
          <a:xfrm>
            <a:off x="9144000" y="4828032"/>
            <a:ext cx="2240280" cy="566928"/>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~1 min</a:t>
            </a:r>
            <a:endParaRPr lang="en-US" sz="3400" dirty="0"/>
          </a:p>
        </p:txBody>
      </p:sp>
      <p:sp>
        <p:nvSpPr>
          <p:cNvPr id="51" name="Text 43"/>
          <p:cNvSpPr txBox="1"/>
          <p:nvPr/>
        </p:nvSpPr>
        <p:spPr>
          <a:xfrm>
            <a:off x="9144000" y="5413248"/>
            <a:ext cx="2286000" cy="365760"/>
          </a:xfrm>
          <a:prstGeom prst="rect">
            <a:avLst/>
          </a:prstGeom>
          <a:noFill/>
          <a:ln/>
        </p:spPr>
        <p:txBody>
          <a:bodyPr wrap="square" lIns="0" tIns="0" rIns="0" bIns="0" rtlCol="0" anchor="ctr"/>
          <a:lstStyle/>
          <a:p>
            <a:pPr indent="0" marL="0">
              <a:buNone/>
            </a:pPr>
            <a:r>
              <a:rPr lang="en-US" sz="1200" dirty="0">
                <a:solidFill>
                  <a:schemeClr val="tx2"/>
                </a:solidFill>
              </a:rPr>
              <a:t>per live run · ~21k tokens</a:t>
            </a:r>
            <a:endParaRPr lang="en-US" sz="1200" dirty="0"/>
          </a:p>
        </p:txBody>
      </p:sp>
      <p:sp>
        <p:nvSpPr>
          <p:cNvPr id="52" name="Text 44"/>
          <p:cNvSpPr txBox="1"/>
          <p:nvPr/>
        </p:nvSpPr>
        <p:spPr>
          <a:xfrm>
            <a:off x="548640" y="6108192"/>
            <a:ext cx="11064240" cy="274320"/>
          </a:xfrm>
          <a:prstGeom prst="rect">
            <a:avLst/>
          </a:prstGeom>
          <a:noFill/>
          <a:ln/>
        </p:spPr>
        <p:txBody>
          <a:bodyPr wrap="square" lIns="0" tIns="0" rIns="0" bIns="0" rtlCol="0" anchor="ctr"/>
          <a:lstStyle/>
          <a:p>
            <a:pPr indent="0" marL="0">
              <a:buNone/>
            </a:pPr>
            <a:r>
              <a:rPr lang="en-US" sz="1000" i="1" dirty="0">
                <a:solidFill>
                  <a:srgbClr val="64748B"/>
                </a:solidFill>
              </a:rPr>
              <a:t>Kambhampati et al. (2024); Ji et al. (2023)</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Hybrid agents coordinating through a blackboard</a:t>
            </a:r>
            <a:endParaRPr lang="en-US" sz="3200" dirty="0"/>
          </a:p>
        </p:txBody>
      </p:sp>
      <p:sp>
        <p:nvSpPr>
          <p:cNvPr id="3" name="blackboard"/>
          <p:cNvSpPr/>
          <p:nvPr/>
        </p:nvSpPr>
        <p:spPr>
          <a:xfrm>
            <a:off x="2331720" y="2606040"/>
            <a:ext cx="3246120" cy="1600200"/>
          </a:xfrm>
          <a:prstGeom prst="roundRect">
            <a:avLst>
              <a:gd name="adj" fmla="val 6857"/>
            </a:avLst>
          </a:prstGeom>
          <a:solidFill>
            <a:srgbClr val="1E293B"/>
          </a:solidFill>
          <a:ln w="12700">
            <a:solidFill>
              <a:srgbClr val="1E293B"/>
            </a:solidFill>
            <a:prstDash val="solid"/>
          </a:ln>
        </p:spPr>
      </p:sp>
      <p:sp>
        <p:nvSpPr>
          <p:cNvPr id="4" name="Text 2"/>
          <p:cNvSpPr txBox="1"/>
          <p:nvPr/>
        </p:nvSpPr>
        <p:spPr>
          <a:xfrm>
            <a:off x="2468880" y="2697480"/>
            <a:ext cx="2971800" cy="1417320"/>
          </a:xfrm>
          <a:prstGeom prst="rect">
            <a:avLst/>
          </a:prstGeom>
          <a:noFill/>
          <a:ln/>
        </p:spPr>
        <p:txBody>
          <a:bodyPr wrap="square" lIns="0" tIns="0" rIns="0" bIns="0" rtlCol="0" anchor="ctr"/>
          <a:lstStyle/>
          <a:p>
            <a:pPr algn="ctr" indent="0" marL="0">
              <a:buNone/>
            </a:pPr>
            <a:r>
              <a:rPr lang="en-US" sz="1600" b="1" dirty="0">
                <a:solidFill>
                  <a:srgbClr val="FFFFFF"/>
                </a:solidFill>
              </a:rPr>
              <a:t>SQLite blackboard</a:t>
            </a:r>
            <a:endParaRPr lang="en-US" sz="1600" dirty="0"/>
          </a:p>
          <a:p>
            <a:pPr algn="ctr" indent="0" marL="0">
              <a:buNone/>
            </a:pPr>
            <a:r>
              <a:rPr lang="en-US" sz="1200" dirty="0">
                <a:solidFill>
                  <a:srgbClr val="CBD5E1"/>
                </a:solidFill>
              </a:rPr>
              <a:t>runs · subtasks · sources · claims · verdicts · feedback · syntheses · trace</a:t>
            </a:r>
            <a:endParaRPr lang="en-US" sz="1600" dirty="0"/>
          </a:p>
        </p:txBody>
      </p:sp>
      <p:sp>
        <p:nvSpPr>
          <p:cNvPr id="5" name="Shape 3"/>
          <p:cNvSpPr/>
          <p:nvPr/>
        </p:nvSpPr>
        <p:spPr>
          <a:xfrm>
            <a:off x="2514600" y="1280160"/>
            <a:ext cx="2880360" cy="1143000"/>
          </a:xfrm>
          <a:prstGeom prst="roundRect">
            <a:avLst>
              <a:gd name="adj" fmla="val 8000"/>
            </a:avLst>
          </a:prstGeom>
          <a:solidFill>
            <a:srgbClr val="FFFFFF"/>
          </a:solidFill>
          <a:ln w="19050">
            <a:solidFill>
              <a:srgbClr val="2563EB"/>
            </a:solidFill>
            <a:prstDash val="solid"/>
          </a:ln>
        </p:spPr>
      </p:sp>
      <p:sp>
        <p:nvSpPr>
          <p:cNvPr id="6" name="planner dot"/>
          <p:cNvSpPr/>
          <p:nvPr/>
        </p:nvSpPr>
        <p:spPr>
          <a:xfrm>
            <a:off x="2624328" y="1417320"/>
            <a:ext cx="502920" cy="502920"/>
          </a:xfrm>
          <a:prstGeom prst="ellipse">
            <a:avLst/>
          </a:prstGeom>
          <a:solidFill>
            <a:srgbClr val="2563EB"/>
          </a:solidFill>
          <a:ln w="12700">
            <a:solidFill>
              <a:srgbClr val="2563EB"/>
            </a:solidFill>
            <a:prstDash val="solid"/>
          </a:ln>
        </p:spPr>
      </p:sp>
      <p:pic>
        <p:nvPicPr>
          <p:cNvPr id="7" name="planner icon" descr="preencoded.png">    </p:cNvPr>
          <p:cNvPicPr>
            <a:picLocks noChangeAspect="1"/>
          </p:cNvPicPr>
          <p:nvPr/>
        </p:nvPicPr>
        <p:blipFill>
          <a:blip r:embed="rId1"/>
          <a:stretch>
            <a:fillRect/>
          </a:stretch>
        </p:blipFill>
        <p:spPr>
          <a:xfrm>
            <a:off x="2755087" y="1548079"/>
            <a:ext cx="241402" cy="241402"/>
          </a:xfrm>
          <a:prstGeom prst="rect">
            <a:avLst/>
          </a:prstGeom>
        </p:spPr>
      </p:pic>
      <p:sp>
        <p:nvSpPr>
          <p:cNvPr id="8" name="Text 5"/>
          <p:cNvSpPr txBox="1"/>
          <p:nvPr/>
        </p:nvSpPr>
        <p:spPr>
          <a:xfrm>
            <a:off x="3200400" y="1389888"/>
            <a:ext cx="2103120" cy="320040"/>
          </a:xfrm>
          <a:prstGeom prst="rect">
            <a:avLst/>
          </a:prstGeom>
          <a:noFill/>
          <a:ln/>
        </p:spPr>
        <p:txBody>
          <a:bodyPr wrap="square" lIns="0" tIns="0" rIns="0" bIns="0" rtlCol="0" anchor="ctr"/>
          <a:lstStyle/>
          <a:p>
            <a:pPr indent="0" marL="0">
              <a:buNone/>
            </a:pPr>
            <a:r>
              <a:rPr lang="en-US" sz="1500" b="1" dirty="0">
                <a:solidFill>
                  <a:srgbClr val="2563EB"/>
                </a:solidFill>
              </a:rPr>
              <a:t>Planner</a:t>
            </a:r>
            <a:endParaRPr lang="en-US" sz="1500" dirty="0"/>
          </a:p>
        </p:txBody>
      </p:sp>
      <p:sp>
        <p:nvSpPr>
          <p:cNvPr id="9" name="Text 6"/>
          <p:cNvSpPr txBox="1"/>
          <p:nvPr/>
        </p:nvSpPr>
        <p:spPr>
          <a:xfrm>
            <a:off x="2624328" y="1938528"/>
            <a:ext cx="2697480" cy="457200"/>
          </a:xfrm>
          <a:prstGeom prst="rect">
            <a:avLst/>
          </a:prstGeom>
          <a:noFill/>
          <a:ln/>
        </p:spPr>
        <p:txBody>
          <a:bodyPr wrap="square" lIns="0" tIns="0" rIns="0" bIns="0" rtlCol="0" anchor="ctr"/>
          <a:lstStyle/>
          <a:p>
            <a:pPr indent="0" marL="0">
              <a:buNone/>
            </a:pPr>
            <a:r>
              <a:rPr lang="en-US" sz="1100" dirty="0">
                <a:solidFill>
                  <a:srgbClr val="334155"/>
                </a:solidFill>
              </a:rPr>
              <a:t>Deliberative · ReAct</a:t>
            </a:r>
            <a:endParaRPr lang="en-US" sz="1100" dirty="0"/>
          </a:p>
          <a:p>
            <a:pPr indent="0" marL="0">
              <a:buNone/>
            </a:pPr>
            <a:r>
              <a:rPr lang="en-US" sz="1100" dirty="0">
                <a:solidFill>
                  <a:srgbClr val="334155"/>
                </a:solidFill>
              </a:rPr>
              <a:t>gpt-oss-120b</a:t>
            </a:r>
            <a:endParaRPr lang="en-US" sz="1100" dirty="0"/>
          </a:p>
        </p:txBody>
      </p:sp>
      <p:sp>
        <p:nvSpPr>
          <p:cNvPr id="10" name="Shape 7"/>
          <p:cNvSpPr/>
          <p:nvPr/>
        </p:nvSpPr>
        <p:spPr>
          <a:xfrm>
            <a:off x="548640" y="2606040"/>
            <a:ext cx="1691640" cy="1143000"/>
          </a:xfrm>
          <a:prstGeom prst="roundRect">
            <a:avLst>
              <a:gd name="adj" fmla="val 8000"/>
            </a:avLst>
          </a:prstGeom>
          <a:solidFill>
            <a:srgbClr val="FFFFFF"/>
          </a:solidFill>
          <a:ln w="19050">
            <a:solidFill>
              <a:srgbClr val="16A34A"/>
            </a:solidFill>
            <a:prstDash val="solid"/>
          </a:ln>
        </p:spPr>
      </p:sp>
      <p:sp>
        <p:nvSpPr>
          <p:cNvPr id="11" name="retriever dot"/>
          <p:cNvSpPr/>
          <p:nvPr/>
        </p:nvSpPr>
        <p:spPr>
          <a:xfrm>
            <a:off x="658368" y="2743200"/>
            <a:ext cx="502920" cy="502920"/>
          </a:xfrm>
          <a:prstGeom prst="ellipse">
            <a:avLst/>
          </a:prstGeom>
          <a:solidFill>
            <a:srgbClr val="16A34A"/>
          </a:solidFill>
          <a:ln w="12700">
            <a:solidFill>
              <a:srgbClr val="16A34A"/>
            </a:solidFill>
            <a:prstDash val="solid"/>
          </a:ln>
        </p:spPr>
      </p:sp>
      <p:pic>
        <p:nvPicPr>
          <p:cNvPr id="12" name="retriever icon" descr="preencoded.png">    </p:cNvPr>
          <p:cNvPicPr>
            <a:picLocks noChangeAspect="1"/>
          </p:cNvPicPr>
          <p:nvPr/>
        </p:nvPicPr>
        <p:blipFill>
          <a:blip r:embed="rId2"/>
          <a:stretch>
            <a:fillRect/>
          </a:stretch>
        </p:blipFill>
        <p:spPr>
          <a:xfrm>
            <a:off x="789127" y="2873959"/>
            <a:ext cx="241402" cy="241402"/>
          </a:xfrm>
          <a:prstGeom prst="rect">
            <a:avLst/>
          </a:prstGeom>
        </p:spPr>
      </p:pic>
      <p:sp>
        <p:nvSpPr>
          <p:cNvPr id="13" name="Text 9"/>
          <p:cNvSpPr txBox="1"/>
          <p:nvPr/>
        </p:nvSpPr>
        <p:spPr>
          <a:xfrm>
            <a:off x="1234440" y="2715768"/>
            <a:ext cx="914400" cy="320040"/>
          </a:xfrm>
          <a:prstGeom prst="rect">
            <a:avLst/>
          </a:prstGeom>
          <a:noFill/>
          <a:ln/>
        </p:spPr>
        <p:txBody>
          <a:bodyPr wrap="square" lIns="0" tIns="0" rIns="0" bIns="0" rtlCol="0" anchor="ctr"/>
          <a:lstStyle/>
          <a:p>
            <a:pPr indent="0" marL="0">
              <a:buNone/>
            </a:pPr>
            <a:r>
              <a:rPr lang="en-US" sz="1500" b="1" dirty="0">
                <a:solidFill>
                  <a:srgbClr val="16A34A"/>
                </a:solidFill>
              </a:rPr>
              <a:t>Retriever</a:t>
            </a:r>
            <a:endParaRPr lang="en-US" sz="1500" dirty="0"/>
          </a:p>
        </p:txBody>
      </p:sp>
      <p:sp>
        <p:nvSpPr>
          <p:cNvPr id="14" name="Text 10"/>
          <p:cNvSpPr txBox="1"/>
          <p:nvPr/>
        </p:nvSpPr>
        <p:spPr>
          <a:xfrm>
            <a:off x="658368" y="3264408"/>
            <a:ext cx="1508760" cy="457200"/>
          </a:xfrm>
          <a:prstGeom prst="rect">
            <a:avLst/>
          </a:prstGeom>
          <a:noFill/>
          <a:ln/>
        </p:spPr>
        <p:txBody>
          <a:bodyPr wrap="square" lIns="0" tIns="0" rIns="0" bIns="0" rtlCol="0" anchor="ctr"/>
          <a:lstStyle/>
          <a:p>
            <a:pPr indent="0" marL="0">
              <a:buNone/>
            </a:pPr>
            <a:r>
              <a:rPr lang="en-US" sz="1100" dirty="0">
                <a:solidFill>
                  <a:srgbClr val="334155"/>
                </a:solidFill>
              </a:rPr>
              <a:t>Reactive · no LLM</a:t>
            </a:r>
            <a:endParaRPr lang="en-US" sz="1100" dirty="0"/>
          </a:p>
          <a:p>
            <a:pPr indent="0" marL="0">
              <a:buNone/>
            </a:pPr>
            <a:r>
              <a:rPr lang="en-US" sz="1100" dirty="0">
                <a:solidFill>
                  <a:srgbClr val="334155"/>
                </a:solidFill>
              </a:rPr>
              <a:t>3 open APIs</a:t>
            </a:r>
            <a:endParaRPr lang="en-US" sz="1100" dirty="0"/>
          </a:p>
        </p:txBody>
      </p:sp>
      <p:sp>
        <p:nvSpPr>
          <p:cNvPr id="15" name="Shape 11"/>
          <p:cNvSpPr/>
          <p:nvPr/>
        </p:nvSpPr>
        <p:spPr>
          <a:xfrm>
            <a:off x="5760720" y="2606040"/>
            <a:ext cx="1691640" cy="1143000"/>
          </a:xfrm>
          <a:prstGeom prst="roundRect">
            <a:avLst>
              <a:gd name="adj" fmla="val 8000"/>
            </a:avLst>
          </a:prstGeom>
          <a:solidFill>
            <a:srgbClr val="FFFFFF"/>
          </a:solidFill>
          <a:ln w="19050">
            <a:solidFill>
              <a:srgbClr val="9333EA"/>
            </a:solidFill>
            <a:prstDash val="solid"/>
          </a:ln>
        </p:spPr>
      </p:sp>
      <p:sp>
        <p:nvSpPr>
          <p:cNvPr id="16" name="processor dot"/>
          <p:cNvSpPr/>
          <p:nvPr/>
        </p:nvSpPr>
        <p:spPr>
          <a:xfrm>
            <a:off x="5870448" y="2743200"/>
            <a:ext cx="502920" cy="502920"/>
          </a:xfrm>
          <a:prstGeom prst="ellipse">
            <a:avLst/>
          </a:prstGeom>
          <a:solidFill>
            <a:srgbClr val="9333EA"/>
          </a:solidFill>
          <a:ln w="12700">
            <a:solidFill>
              <a:srgbClr val="9333EA"/>
            </a:solidFill>
            <a:prstDash val="solid"/>
          </a:ln>
        </p:spPr>
      </p:sp>
      <p:pic>
        <p:nvPicPr>
          <p:cNvPr id="17" name="processor icon" descr="preencoded.png">    </p:cNvPr>
          <p:cNvPicPr>
            <a:picLocks noChangeAspect="1"/>
          </p:cNvPicPr>
          <p:nvPr/>
        </p:nvPicPr>
        <p:blipFill>
          <a:blip r:embed="rId3"/>
          <a:stretch>
            <a:fillRect/>
          </a:stretch>
        </p:blipFill>
        <p:spPr>
          <a:xfrm>
            <a:off x="6001207" y="2873959"/>
            <a:ext cx="241402" cy="241402"/>
          </a:xfrm>
          <a:prstGeom prst="rect">
            <a:avLst/>
          </a:prstGeom>
        </p:spPr>
      </p:pic>
      <p:sp>
        <p:nvSpPr>
          <p:cNvPr id="18" name="Text 13"/>
          <p:cNvSpPr txBox="1"/>
          <p:nvPr/>
        </p:nvSpPr>
        <p:spPr>
          <a:xfrm>
            <a:off x="6446520" y="2715768"/>
            <a:ext cx="914400" cy="320040"/>
          </a:xfrm>
          <a:prstGeom prst="rect">
            <a:avLst/>
          </a:prstGeom>
          <a:noFill/>
          <a:ln/>
        </p:spPr>
        <p:txBody>
          <a:bodyPr wrap="square" lIns="0" tIns="0" rIns="0" bIns="0" rtlCol="0" anchor="ctr"/>
          <a:lstStyle/>
          <a:p>
            <a:pPr indent="0" marL="0">
              <a:buNone/>
            </a:pPr>
            <a:r>
              <a:rPr lang="en-US" sz="1500" b="1" dirty="0">
                <a:solidFill>
                  <a:srgbClr val="9333EA"/>
                </a:solidFill>
              </a:rPr>
              <a:t>Processor</a:t>
            </a:r>
            <a:endParaRPr lang="en-US" sz="1500" dirty="0"/>
          </a:p>
        </p:txBody>
      </p:sp>
      <p:sp>
        <p:nvSpPr>
          <p:cNvPr id="19" name="Text 14"/>
          <p:cNvSpPr txBox="1"/>
          <p:nvPr/>
        </p:nvSpPr>
        <p:spPr>
          <a:xfrm>
            <a:off x="5870448" y="3264408"/>
            <a:ext cx="1508760" cy="457200"/>
          </a:xfrm>
          <a:prstGeom prst="rect">
            <a:avLst/>
          </a:prstGeom>
          <a:noFill/>
          <a:ln/>
        </p:spPr>
        <p:txBody>
          <a:bodyPr wrap="square" lIns="0" tIns="0" rIns="0" bIns="0" rtlCol="0" anchor="ctr"/>
          <a:lstStyle/>
          <a:p>
            <a:pPr indent="0" marL="0">
              <a:buNone/>
            </a:pPr>
            <a:r>
              <a:rPr lang="en-US" sz="1100" dirty="0">
                <a:solidFill>
                  <a:srgbClr val="334155"/>
                </a:solidFill>
              </a:rPr>
              <a:t>Reactive</a:t>
            </a:r>
            <a:endParaRPr lang="en-US" sz="1100" dirty="0"/>
          </a:p>
          <a:p>
            <a:pPr indent="0" marL="0">
              <a:buNone/>
            </a:pPr>
            <a:r>
              <a:rPr lang="en-US" sz="1100" dirty="0">
                <a:solidFill>
                  <a:srgbClr val="334155"/>
                </a:solidFill>
              </a:rPr>
              <a:t>gpt-oss-20b + MiniLM</a:t>
            </a:r>
            <a:endParaRPr lang="en-US" sz="1100" dirty="0"/>
          </a:p>
        </p:txBody>
      </p:sp>
      <p:sp>
        <p:nvSpPr>
          <p:cNvPr id="20" name="Shape 15"/>
          <p:cNvSpPr/>
          <p:nvPr/>
        </p:nvSpPr>
        <p:spPr>
          <a:xfrm>
            <a:off x="868680" y="4526280"/>
            <a:ext cx="2880360" cy="1143000"/>
          </a:xfrm>
          <a:prstGeom prst="roundRect">
            <a:avLst>
              <a:gd name="adj" fmla="val 8000"/>
            </a:avLst>
          </a:prstGeom>
          <a:solidFill>
            <a:srgbClr val="FFFFFF"/>
          </a:solidFill>
          <a:ln w="19050">
            <a:solidFill>
              <a:srgbClr val="EA580C"/>
            </a:solidFill>
            <a:prstDash val="solid"/>
          </a:ln>
        </p:spPr>
      </p:sp>
      <p:sp>
        <p:nvSpPr>
          <p:cNvPr id="21" name="critic dot"/>
          <p:cNvSpPr/>
          <p:nvPr/>
        </p:nvSpPr>
        <p:spPr>
          <a:xfrm>
            <a:off x="978408" y="4663440"/>
            <a:ext cx="502920" cy="502920"/>
          </a:xfrm>
          <a:prstGeom prst="ellipse">
            <a:avLst/>
          </a:prstGeom>
          <a:solidFill>
            <a:srgbClr val="EA580C"/>
          </a:solidFill>
          <a:ln w="12700">
            <a:solidFill>
              <a:srgbClr val="EA580C"/>
            </a:solidFill>
            <a:prstDash val="solid"/>
          </a:ln>
        </p:spPr>
      </p:sp>
      <p:pic>
        <p:nvPicPr>
          <p:cNvPr id="22" name="critic icon" descr="preencoded.png">    </p:cNvPr>
          <p:cNvPicPr>
            <a:picLocks noChangeAspect="1"/>
          </p:cNvPicPr>
          <p:nvPr/>
        </p:nvPicPr>
        <p:blipFill>
          <a:blip r:embed="rId4"/>
          <a:stretch>
            <a:fillRect/>
          </a:stretch>
        </p:blipFill>
        <p:spPr>
          <a:xfrm>
            <a:off x="1109167" y="4794199"/>
            <a:ext cx="241402" cy="241402"/>
          </a:xfrm>
          <a:prstGeom prst="rect">
            <a:avLst/>
          </a:prstGeom>
        </p:spPr>
      </p:pic>
      <p:sp>
        <p:nvSpPr>
          <p:cNvPr id="23" name="Text 17"/>
          <p:cNvSpPr txBox="1"/>
          <p:nvPr/>
        </p:nvSpPr>
        <p:spPr>
          <a:xfrm>
            <a:off x="1554480" y="4636008"/>
            <a:ext cx="2103120" cy="320040"/>
          </a:xfrm>
          <a:prstGeom prst="rect">
            <a:avLst/>
          </a:prstGeom>
          <a:noFill/>
          <a:ln/>
        </p:spPr>
        <p:txBody>
          <a:bodyPr wrap="square" lIns="0" tIns="0" rIns="0" bIns="0" rtlCol="0" anchor="ctr"/>
          <a:lstStyle/>
          <a:p>
            <a:pPr indent="0" marL="0">
              <a:buNone/>
            </a:pPr>
            <a:r>
              <a:rPr lang="en-US" sz="1500" b="1" dirty="0">
                <a:solidFill>
                  <a:srgbClr val="EA580C"/>
                </a:solidFill>
              </a:rPr>
              <a:t>Critic</a:t>
            </a:r>
            <a:endParaRPr lang="en-US" sz="1500" dirty="0"/>
          </a:p>
        </p:txBody>
      </p:sp>
      <p:sp>
        <p:nvSpPr>
          <p:cNvPr id="24" name="Text 18"/>
          <p:cNvSpPr txBox="1"/>
          <p:nvPr/>
        </p:nvSpPr>
        <p:spPr>
          <a:xfrm>
            <a:off x="978408" y="5184648"/>
            <a:ext cx="2697480" cy="457200"/>
          </a:xfrm>
          <a:prstGeom prst="rect">
            <a:avLst/>
          </a:prstGeom>
          <a:noFill/>
          <a:ln/>
        </p:spPr>
        <p:txBody>
          <a:bodyPr wrap="square" lIns="0" tIns="0" rIns="0" bIns="0" rtlCol="0" anchor="ctr"/>
          <a:lstStyle/>
          <a:p>
            <a:pPr indent="0" marL="0">
              <a:buNone/>
            </a:pPr>
            <a:r>
              <a:rPr lang="en-US" sz="1100" dirty="0">
                <a:solidFill>
                  <a:srgbClr val="334155"/>
                </a:solidFill>
              </a:rPr>
              <a:t>Reactive verifier</a:t>
            </a:r>
            <a:endParaRPr lang="en-US" sz="1100" dirty="0"/>
          </a:p>
          <a:p>
            <a:pPr indent="0" marL="0">
              <a:buNone/>
            </a:pPr>
            <a:r>
              <a:rPr lang="en-US" sz="1100" dirty="0">
                <a:solidFill>
                  <a:srgbClr val="334155"/>
                </a:solidFill>
              </a:rPr>
              <a:t>qwen3.8-27b</a:t>
            </a:r>
            <a:endParaRPr lang="en-US" sz="1100" dirty="0"/>
          </a:p>
        </p:txBody>
      </p:sp>
      <p:sp>
        <p:nvSpPr>
          <p:cNvPr id="25" name="Shape 19"/>
          <p:cNvSpPr/>
          <p:nvPr/>
        </p:nvSpPr>
        <p:spPr>
          <a:xfrm>
            <a:off x="4160520" y="4526280"/>
            <a:ext cx="2880360" cy="1143000"/>
          </a:xfrm>
          <a:prstGeom prst="roundRect">
            <a:avLst>
              <a:gd name="adj" fmla="val 8000"/>
            </a:avLst>
          </a:prstGeom>
          <a:solidFill>
            <a:srgbClr val="FFFFFF"/>
          </a:solidFill>
          <a:ln w="19050">
            <a:solidFill>
              <a:srgbClr val="DC2626"/>
            </a:solidFill>
            <a:prstDash val="solid"/>
          </a:ln>
        </p:spPr>
      </p:sp>
      <p:sp>
        <p:nvSpPr>
          <p:cNvPr id="26" name="archivist dot"/>
          <p:cNvSpPr/>
          <p:nvPr/>
        </p:nvSpPr>
        <p:spPr>
          <a:xfrm>
            <a:off x="4270248" y="4663440"/>
            <a:ext cx="502920" cy="502920"/>
          </a:xfrm>
          <a:prstGeom prst="ellipse">
            <a:avLst/>
          </a:prstGeom>
          <a:solidFill>
            <a:srgbClr val="DC2626"/>
          </a:solidFill>
          <a:ln w="12700">
            <a:solidFill>
              <a:srgbClr val="DC2626"/>
            </a:solidFill>
            <a:prstDash val="solid"/>
          </a:ln>
        </p:spPr>
      </p:sp>
      <p:pic>
        <p:nvPicPr>
          <p:cNvPr id="27" name="archivist icon" descr="preencoded.png">    </p:cNvPr>
          <p:cNvPicPr>
            <a:picLocks noChangeAspect="1"/>
          </p:cNvPicPr>
          <p:nvPr/>
        </p:nvPicPr>
        <p:blipFill>
          <a:blip r:embed="rId5"/>
          <a:stretch>
            <a:fillRect/>
          </a:stretch>
        </p:blipFill>
        <p:spPr>
          <a:xfrm>
            <a:off x="4401007" y="4794199"/>
            <a:ext cx="241402" cy="241402"/>
          </a:xfrm>
          <a:prstGeom prst="rect">
            <a:avLst/>
          </a:prstGeom>
        </p:spPr>
      </p:pic>
      <p:sp>
        <p:nvSpPr>
          <p:cNvPr id="28" name="Text 21"/>
          <p:cNvSpPr txBox="1"/>
          <p:nvPr/>
        </p:nvSpPr>
        <p:spPr>
          <a:xfrm>
            <a:off x="4846320" y="4636008"/>
            <a:ext cx="2103120" cy="320040"/>
          </a:xfrm>
          <a:prstGeom prst="rect">
            <a:avLst/>
          </a:prstGeom>
          <a:noFill/>
          <a:ln/>
        </p:spPr>
        <p:txBody>
          <a:bodyPr wrap="square" lIns="0" tIns="0" rIns="0" bIns="0" rtlCol="0" anchor="ctr"/>
          <a:lstStyle/>
          <a:p>
            <a:pPr indent="0" marL="0">
              <a:buNone/>
            </a:pPr>
            <a:r>
              <a:rPr lang="en-US" sz="1500" b="1" dirty="0">
                <a:solidFill>
                  <a:srgbClr val="DC2626"/>
                </a:solidFill>
              </a:rPr>
              <a:t>Archivist</a:t>
            </a:r>
            <a:endParaRPr lang="en-US" sz="1500" dirty="0"/>
          </a:p>
        </p:txBody>
      </p:sp>
      <p:sp>
        <p:nvSpPr>
          <p:cNvPr id="29" name="Text 22"/>
          <p:cNvSpPr txBox="1"/>
          <p:nvPr/>
        </p:nvSpPr>
        <p:spPr>
          <a:xfrm>
            <a:off x="4270248" y="5184648"/>
            <a:ext cx="2697480" cy="457200"/>
          </a:xfrm>
          <a:prstGeom prst="rect">
            <a:avLst/>
          </a:prstGeom>
          <a:noFill/>
          <a:ln/>
        </p:spPr>
        <p:txBody>
          <a:bodyPr wrap="square" lIns="0" tIns="0" rIns="0" bIns="0" rtlCol="0" anchor="ctr"/>
          <a:lstStyle/>
          <a:p>
            <a:pPr indent="0" marL="0">
              <a:buNone/>
            </a:pPr>
            <a:r>
              <a:rPr lang="en-US" sz="1100" dirty="0">
                <a:solidFill>
                  <a:srgbClr val="334155"/>
                </a:solidFill>
              </a:rPr>
              <a:t>Reactive · only disk writer</a:t>
            </a:r>
            <a:endParaRPr lang="en-US" sz="1100" dirty="0"/>
          </a:p>
          <a:p>
            <a:pPr indent="0" marL="0">
              <a:buNone/>
            </a:pPr>
            <a:r>
              <a:rPr lang="en-US" sz="1100" dirty="0">
                <a:solidFill>
                  <a:srgbClr val="334155"/>
                </a:solidFill>
              </a:rPr>
              <a:t>no LLM</a:t>
            </a:r>
            <a:endParaRPr lang="en-US" sz="1100" dirty="0"/>
          </a:p>
        </p:txBody>
      </p:sp>
      <p:sp>
        <p:nvSpPr>
          <p:cNvPr id="30" name="Shape 23"/>
          <p:cNvSpPr/>
          <p:nvPr/>
        </p:nvSpPr>
        <p:spPr>
          <a:xfrm>
            <a:off x="3959352" y="2423160"/>
            <a:ext cx="0" cy="182880"/>
          </a:xfrm>
          <a:prstGeom prst="line">
            <a:avLst/>
          </a:prstGeom>
          <a:noFill/>
          <a:ln w="19050">
            <a:solidFill>
              <a:srgbClr val="94A3B8"/>
            </a:solidFill>
            <a:prstDash val="solid"/>
            <a:headEnd type="triangle"/>
            <a:tailEnd type="triangle"/>
          </a:ln>
        </p:spPr>
      </p:sp>
      <p:sp>
        <p:nvSpPr>
          <p:cNvPr id="31" name="Shape 24"/>
          <p:cNvSpPr/>
          <p:nvPr/>
        </p:nvSpPr>
        <p:spPr>
          <a:xfrm>
            <a:off x="2240280" y="3182112"/>
            <a:ext cx="91440" cy="0"/>
          </a:xfrm>
          <a:prstGeom prst="line">
            <a:avLst/>
          </a:prstGeom>
          <a:noFill/>
          <a:ln w="19050">
            <a:solidFill>
              <a:srgbClr val="94A3B8"/>
            </a:solidFill>
            <a:prstDash val="solid"/>
            <a:headEnd type="triangle"/>
            <a:tailEnd type="triangle"/>
          </a:ln>
        </p:spPr>
      </p:sp>
      <p:sp>
        <p:nvSpPr>
          <p:cNvPr id="32" name="Shape 25"/>
          <p:cNvSpPr/>
          <p:nvPr/>
        </p:nvSpPr>
        <p:spPr>
          <a:xfrm>
            <a:off x="5577840" y="3182112"/>
            <a:ext cx="182880" cy="0"/>
          </a:xfrm>
          <a:prstGeom prst="line">
            <a:avLst/>
          </a:prstGeom>
          <a:noFill/>
          <a:ln w="19050">
            <a:solidFill>
              <a:srgbClr val="94A3B8"/>
            </a:solidFill>
            <a:prstDash val="solid"/>
            <a:headEnd type="triangle"/>
            <a:tailEnd type="triangle"/>
          </a:ln>
        </p:spPr>
      </p:sp>
      <p:sp>
        <p:nvSpPr>
          <p:cNvPr id="33" name="Shape 26"/>
          <p:cNvSpPr/>
          <p:nvPr/>
        </p:nvSpPr>
        <p:spPr>
          <a:xfrm>
            <a:off x="2286000" y="4206240"/>
            <a:ext cx="0" cy="320040"/>
          </a:xfrm>
          <a:prstGeom prst="line">
            <a:avLst/>
          </a:prstGeom>
          <a:noFill/>
          <a:ln w="19050">
            <a:solidFill>
              <a:srgbClr val="94A3B8"/>
            </a:solidFill>
            <a:prstDash val="solid"/>
            <a:headEnd type="triangle"/>
            <a:tailEnd type="triangle"/>
          </a:ln>
        </p:spPr>
      </p:sp>
      <p:sp>
        <p:nvSpPr>
          <p:cNvPr id="34" name="Shape 27"/>
          <p:cNvSpPr/>
          <p:nvPr/>
        </p:nvSpPr>
        <p:spPr>
          <a:xfrm>
            <a:off x="5120640" y="4206240"/>
            <a:ext cx="0" cy="320040"/>
          </a:xfrm>
          <a:prstGeom prst="line">
            <a:avLst/>
          </a:prstGeom>
          <a:noFill/>
          <a:ln w="19050">
            <a:solidFill>
              <a:srgbClr val="94A3B8"/>
            </a:solidFill>
            <a:prstDash val="solid"/>
            <a:headEnd type="triangle"/>
            <a:tailEnd type="triangle"/>
          </a:ln>
        </p:spPr>
      </p:sp>
      <p:sp>
        <p:nvSpPr>
          <p:cNvPr id="35" name="Shape 28"/>
          <p:cNvSpPr/>
          <p:nvPr/>
        </p:nvSpPr>
        <p:spPr>
          <a:xfrm>
            <a:off x="7726680" y="1325880"/>
            <a:ext cx="548640" cy="548640"/>
          </a:xfrm>
          <a:prstGeom prst="ellipse">
            <a:avLst/>
          </a:prstGeom>
          <a:solidFill>
            <a:srgbClr val="0E7C7B"/>
          </a:solidFill>
          <a:ln w="12700">
            <a:solidFill>
              <a:srgbClr val="0E7C7B"/>
            </a:solidFill>
            <a:prstDash val="solid"/>
          </a:ln>
        </p:spPr>
      </p:sp>
      <p:pic>
        <p:nvPicPr>
          <p:cNvPr id="36" name="Image 5" descr="preencoded.png">    </p:cNvPr>
          <p:cNvPicPr>
            <a:picLocks noChangeAspect="1"/>
          </p:cNvPicPr>
          <p:nvPr/>
        </p:nvPicPr>
        <p:blipFill>
          <a:blip r:embed="rId6"/>
          <a:stretch>
            <a:fillRect/>
          </a:stretch>
        </p:blipFill>
        <p:spPr>
          <a:xfrm>
            <a:off x="7863840" y="1463040"/>
            <a:ext cx="274320" cy="274320"/>
          </a:xfrm>
          <a:prstGeom prst="rect">
            <a:avLst/>
          </a:prstGeom>
        </p:spPr>
      </p:pic>
      <p:sp>
        <p:nvSpPr>
          <p:cNvPr id="37" name="Text 29"/>
          <p:cNvSpPr txBox="1"/>
          <p:nvPr/>
        </p:nvSpPr>
        <p:spPr>
          <a:xfrm>
            <a:off x="8412480" y="1307592"/>
            <a:ext cx="3200400" cy="320040"/>
          </a:xfrm>
          <a:prstGeom prst="rect">
            <a:avLst/>
          </a:prstGeom>
          <a:noFill/>
          <a:ln/>
        </p:spPr>
        <p:txBody>
          <a:bodyPr wrap="square" lIns="0" tIns="0" rIns="0" bIns="0" rtlCol="0" anchor="ctr"/>
          <a:lstStyle/>
          <a:p>
            <a:pPr indent="0" marL="0">
              <a:buNone/>
            </a:pPr>
            <a:r>
              <a:rPr lang="en-US" sz="1600" b="1" dirty="0">
                <a:solidFill>
                  <a:schemeClr val="tx1"/>
                </a:solidFill>
              </a:rPr>
              <a:t>Hybrid architecture</a:t>
            </a:r>
            <a:endParaRPr lang="en-US" sz="1600" dirty="0"/>
          </a:p>
        </p:txBody>
      </p:sp>
      <p:sp>
        <p:nvSpPr>
          <p:cNvPr id="38" name="Text 30"/>
          <p:cNvSpPr txBox="1"/>
          <p:nvPr/>
        </p:nvSpPr>
        <p:spPr>
          <a:xfrm>
            <a:off x="8412480" y="1655064"/>
            <a:ext cx="3246120" cy="1188720"/>
          </a:xfrm>
          <a:prstGeom prst="rect">
            <a:avLst/>
          </a:prstGeom>
          <a:noFill/>
          <a:ln/>
        </p:spPr>
        <p:txBody>
          <a:bodyPr wrap="square" lIns="0" tIns="0" rIns="0" bIns="0" rtlCol="0" anchor="t"/>
          <a:lstStyle/>
          <a:p>
            <a:pPr indent="0" marL="0">
              <a:buNone/>
            </a:pPr>
            <a:r>
              <a:rPr lang="en-US" sz="1200" dirty="0">
                <a:solidFill>
                  <a:schemeClr val="tx2"/>
                </a:solidFill>
              </a:rPr>
              <a:t>One deliberative LLM planner; reactive specialists act only when their input appears (Wooldridge, 2009). Retrieval and reasoning fail on separate surfaces (Guo et al., 2024).</a:t>
            </a:r>
            <a:endParaRPr lang="en-US" sz="1200" dirty="0"/>
          </a:p>
        </p:txBody>
      </p:sp>
      <p:sp>
        <p:nvSpPr>
          <p:cNvPr id="39" name="Shape 31"/>
          <p:cNvSpPr/>
          <p:nvPr/>
        </p:nvSpPr>
        <p:spPr>
          <a:xfrm>
            <a:off x="7726680" y="2926080"/>
            <a:ext cx="548640" cy="548640"/>
          </a:xfrm>
          <a:prstGeom prst="ellipse">
            <a:avLst/>
          </a:prstGeom>
          <a:solidFill>
            <a:srgbClr val="0E7C7B"/>
          </a:solidFill>
          <a:ln w="12700">
            <a:solidFill>
              <a:srgbClr val="0E7C7B"/>
            </a:solidFill>
            <a:prstDash val="solid"/>
          </a:ln>
        </p:spPr>
      </p:sp>
      <p:pic>
        <p:nvPicPr>
          <p:cNvPr id="40" name="Image 6" descr="preencoded.png">    </p:cNvPr>
          <p:cNvPicPr>
            <a:picLocks noChangeAspect="1"/>
          </p:cNvPicPr>
          <p:nvPr/>
        </p:nvPicPr>
        <p:blipFill>
          <a:blip r:embed="rId7"/>
          <a:stretch>
            <a:fillRect/>
          </a:stretch>
        </p:blipFill>
        <p:spPr>
          <a:xfrm>
            <a:off x="7863840" y="3063240"/>
            <a:ext cx="274320" cy="274320"/>
          </a:xfrm>
          <a:prstGeom prst="rect">
            <a:avLst/>
          </a:prstGeom>
        </p:spPr>
      </p:pic>
      <p:sp>
        <p:nvSpPr>
          <p:cNvPr id="41" name="Text 32"/>
          <p:cNvSpPr txBox="1"/>
          <p:nvPr/>
        </p:nvSpPr>
        <p:spPr>
          <a:xfrm>
            <a:off x="8412480" y="2907792"/>
            <a:ext cx="3200400" cy="320040"/>
          </a:xfrm>
          <a:prstGeom prst="rect">
            <a:avLst/>
          </a:prstGeom>
          <a:noFill/>
          <a:ln/>
        </p:spPr>
        <p:txBody>
          <a:bodyPr wrap="square" lIns="0" tIns="0" rIns="0" bIns="0" rtlCol="0" anchor="ctr"/>
          <a:lstStyle/>
          <a:p>
            <a:pPr indent="0" marL="0">
              <a:buNone/>
            </a:pPr>
            <a:r>
              <a:rPr lang="en-US" sz="1600" b="1" dirty="0">
                <a:solidFill>
                  <a:schemeClr val="tx1"/>
                </a:solidFill>
              </a:rPr>
              <a:t>Blackboard coordination</a:t>
            </a:r>
            <a:endParaRPr lang="en-US" sz="1600" dirty="0"/>
          </a:p>
        </p:txBody>
      </p:sp>
      <p:sp>
        <p:nvSpPr>
          <p:cNvPr id="42" name="Text 33"/>
          <p:cNvSpPr txBox="1"/>
          <p:nvPr/>
        </p:nvSpPr>
        <p:spPr>
          <a:xfrm>
            <a:off x="8412480" y="3255264"/>
            <a:ext cx="3246120" cy="1188720"/>
          </a:xfrm>
          <a:prstGeom prst="rect">
            <a:avLst/>
          </a:prstGeom>
          <a:noFill/>
          <a:ln/>
        </p:spPr>
        <p:txBody>
          <a:bodyPr wrap="square" lIns="0" tIns="0" rIns="0" bIns="0" rtlCol="0" anchor="t"/>
          <a:lstStyle/>
          <a:p>
            <a:pPr indent="0" marL="0">
              <a:buNone/>
            </a:pPr>
            <a:r>
              <a:rPr lang="en-US" sz="1200" dirty="0">
                <a:solidFill>
                  <a:schemeClr val="tx2"/>
                </a:solidFill>
              </a:rPr>
              <a:t>Agents never call each other. Opportunistic control (Hayes-Roth, 1985); outperforms a central orchestrator for LLM information discovery (Salemi et al., 2025). Everything persisted, so it is explainable.</a:t>
            </a:r>
            <a:endParaRPr lang="en-US" sz="1200" dirty="0"/>
          </a:p>
        </p:txBody>
      </p:sp>
      <p:sp>
        <p:nvSpPr>
          <p:cNvPr id="43" name="Shape 34"/>
          <p:cNvSpPr/>
          <p:nvPr/>
        </p:nvSpPr>
        <p:spPr>
          <a:xfrm>
            <a:off x="7726680" y="4526280"/>
            <a:ext cx="548640" cy="548640"/>
          </a:xfrm>
          <a:prstGeom prst="ellipse">
            <a:avLst/>
          </a:prstGeom>
          <a:solidFill>
            <a:srgbClr val="0E7C7B"/>
          </a:solidFill>
          <a:ln w="12700">
            <a:solidFill>
              <a:srgbClr val="0E7C7B"/>
            </a:solidFill>
            <a:prstDash val="solid"/>
          </a:ln>
        </p:spPr>
      </p:sp>
      <p:pic>
        <p:nvPicPr>
          <p:cNvPr id="44" name="Image 7" descr="preencoded.png">    </p:cNvPr>
          <p:cNvPicPr>
            <a:picLocks noChangeAspect="1"/>
          </p:cNvPicPr>
          <p:nvPr/>
        </p:nvPicPr>
        <p:blipFill>
          <a:blip r:embed="rId8"/>
          <a:stretch>
            <a:fillRect/>
          </a:stretch>
        </p:blipFill>
        <p:spPr>
          <a:xfrm>
            <a:off x="7863840" y="4663440"/>
            <a:ext cx="274320" cy="274320"/>
          </a:xfrm>
          <a:prstGeom prst="rect">
            <a:avLst/>
          </a:prstGeom>
        </p:spPr>
      </p:pic>
      <p:sp>
        <p:nvSpPr>
          <p:cNvPr id="45" name="Text 35"/>
          <p:cNvSpPr txBox="1"/>
          <p:nvPr/>
        </p:nvSpPr>
        <p:spPr>
          <a:xfrm>
            <a:off x="8412480" y="4507992"/>
            <a:ext cx="3200400" cy="320040"/>
          </a:xfrm>
          <a:prstGeom prst="rect">
            <a:avLst/>
          </a:prstGeom>
          <a:noFill/>
          <a:ln/>
        </p:spPr>
        <p:txBody>
          <a:bodyPr wrap="square" lIns="0" tIns="0" rIns="0" bIns="0" rtlCol="0" anchor="ctr"/>
          <a:lstStyle/>
          <a:p>
            <a:pPr indent="0" marL="0">
              <a:buNone/>
            </a:pPr>
            <a:r>
              <a:rPr lang="en-US" sz="1600" b="1" dirty="0">
                <a:solidFill>
                  <a:schemeClr val="tx1"/>
                </a:solidFill>
              </a:rPr>
              <a:t>Safety by construction</a:t>
            </a:r>
            <a:endParaRPr lang="en-US" sz="1600" dirty="0"/>
          </a:p>
        </p:txBody>
      </p:sp>
      <p:sp>
        <p:nvSpPr>
          <p:cNvPr id="46" name="Text 36"/>
          <p:cNvSpPr txBox="1"/>
          <p:nvPr/>
        </p:nvSpPr>
        <p:spPr>
          <a:xfrm>
            <a:off x="8412480" y="4855464"/>
            <a:ext cx="3246120" cy="1188720"/>
          </a:xfrm>
          <a:prstGeom prst="rect">
            <a:avLst/>
          </a:prstGeom>
          <a:noFill/>
          <a:ln/>
        </p:spPr>
        <p:txBody>
          <a:bodyPr wrap="square" lIns="0" tIns="0" rIns="0" bIns="0" rtlCol="0" anchor="t"/>
          <a:lstStyle/>
          <a:p>
            <a:pPr indent="0" marL="0">
              <a:buNone/>
            </a:pPr>
            <a:r>
              <a:rPr lang="en-US" sz="1200" dirty="0">
                <a:solidFill>
                  <a:schemeClr val="tx2"/>
                </a:solidFill>
              </a:rPr>
              <a:t>Atomic subtask claims in one IMMEDIATE transaction (8 racing threads → 1 winner). Gaia role permissions enforced at runtime (Wooldridge, Jennings and Kinny, 2000).</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Planning with ReAct, Reflexion and LLM-Modulo guardrails</a:t>
            </a:r>
            <a:endParaRPr lang="en-US" sz="3200" dirty="0"/>
          </a:p>
        </p:txBody>
      </p:sp>
      <p:sp>
        <p:nvSpPr>
          <p:cNvPr id="3" name="Shape 1"/>
          <p:cNvSpPr/>
          <p:nvPr/>
        </p:nvSpPr>
        <p:spPr>
          <a:xfrm>
            <a:off x="1965960" y="2011680"/>
            <a:ext cx="2651760" cy="2651760"/>
          </a:xfrm>
          <a:prstGeom prst="ellipse">
            <a:avLst/>
          </a:prstGeom>
          <a:solidFill>
            <a:srgbClr val="FFFFFF"/>
          </a:solidFill>
          <a:ln w="25400">
            <a:solidFill>
              <a:srgbClr val="CBD5E1"/>
            </a:solidFill>
            <a:prstDash val="dash"/>
          </a:ln>
        </p:spPr>
      </p:sp>
      <p:sp>
        <p:nvSpPr>
          <p:cNvPr id="4" name="planner dot"/>
          <p:cNvSpPr/>
          <p:nvPr/>
        </p:nvSpPr>
        <p:spPr>
          <a:xfrm>
            <a:off x="2926080" y="2880360"/>
            <a:ext cx="731520" cy="731520"/>
          </a:xfrm>
          <a:prstGeom prst="ellipse">
            <a:avLst/>
          </a:prstGeom>
          <a:solidFill>
            <a:srgbClr val="2563EB"/>
          </a:solidFill>
          <a:ln w="12700">
            <a:solidFill>
              <a:srgbClr val="2563EB"/>
            </a:solidFill>
            <a:prstDash val="solid"/>
          </a:ln>
        </p:spPr>
      </p:sp>
      <p:pic>
        <p:nvPicPr>
          <p:cNvPr id="5" name="planner icon" descr="preencoded.png">    </p:cNvPr>
          <p:cNvPicPr>
            <a:picLocks noChangeAspect="1"/>
          </p:cNvPicPr>
          <p:nvPr/>
        </p:nvPicPr>
        <p:blipFill>
          <a:blip r:embed="rId1"/>
          <a:stretch>
            <a:fillRect/>
          </a:stretch>
        </p:blipFill>
        <p:spPr>
          <a:xfrm>
            <a:off x="3116275" y="3070555"/>
            <a:ext cx="351130" cy="351130"/>
          </a:xfrm>
          <a:prstGeom prst="rect">
            <a:avLst/>
          </a:prstGeom>
        </p:spPr>
      </p:pic>
      <p:sp>
        <p:nvSpPr>
          <p:cNvPr id="6" name="Text 3"/>
          <p:cNvSpPr txBox="1"/>
          <p:nvPr/>
        </p:nvSpPr>
        <p:spPr>
          <a:xfrm>
            <a:off x="2560320" y="3639312"/>
            <a:ext cx="1463040" cy="274320"/>
          </a:xfrm>
          <a:prstGeom prst="rect">
            <a:avLst/>
          </a:prstGeom>
          <a:noFill/>
          <a:ln/>
        </p:spPr>
        <p:txBody>
          <a:bodyPr wrap="square" lIns="0" tIns="0" rIns="0" bIns="0" rtlCol="0" anchor="ctr"/>
          <a:lstStyle/>
          <a:p>
            <a:pPr algn="ctr" indent="0" marL="0">
              <a:buNone/>
            </a:pPr>
            <a:r>
              <a:rPr lang="en-US" sz="1200" b="1" dirty="0">
                <a:solidFill>
                  <a:srgbClr val="2563EB"/>
                </a:solidFill>
              </a:rPr>
              <a:t>Planner</a:t>
            </a:r>
            <a:endParaRPr lang="en-US" sz="1200" dirty="0"/>
          </a:p>
        </p:txBody>
      </p:sp>
      <p:sp>
        <p:nvSpPr>
          <p:cNvPr id="7" name="Shape 4"/>
          <p:cNvSpPr/>
          <p:nvPr/>
        </p:nvSpPr>
        <p:spPr>
          <a:xfrm>
            <a:off x="2240280" y="1280160"/>
            <a:ext cx="2103120" cy="1097280"/>
          </a:xfrm>
          <a:prstGeom prst="roundRect">
            <a:avLst>
              <a:gd name="adj" fmla="val 8333"/>
            </a:avLst>
          </a:prstGeom>
          <a:solidFill>
            <a:schemeClr val="bg2"/>
          </a:solidFill>
          <a:ln w="12700">
            <a:solidFill>
              <a:srgbClr val="CBD5E1"/>
            </a:solidFill>
            <a:prstDash val="solid"/>
          </a:ln>
        </p:spPr>
      </p:sp>
      <p:sp>
        <p:nvSpPr>
          <p:cNvPr id="8" name="Shape 5"/>
          <p:cNvSpPr/>
          <p:nvPr/>
        </p:nvSpPr>
        <p:spPr>
          <a:xfrm>
            <a:off x="2350008" y="1408176"/>
            <a:ext cx="411480" cy="411480"/>
          </a:xfrm>
          <a:prstGeom prst="ellipse">
            <a:avLst/>
          </a:prstGeom>
          <a:solidFill>
            <a:srgbClr val="2563EB"/>
          </a:solidFill>
          <a:ln w="12700">
            <a:solidFill>
              <a:srgbClr val="2563EB"/>
            </a:solidFill>
            <a:prstDash val="solid"/>
          </a:ln>
        </p:spPr>
      </p:sp>
      <p:pic>
        <p:nvPicPr>
          <p:cNvPr id="9" name="Image 1" descr="preencoded.png">    </p:cNvPr>
          <p:cNvPicPr>
            <a:picLocks noChangeAspect="1"/>
          </p:cNvPicPr>
          <p:nvPr/>
        </p:nvPicPr>
        <p:blipFill>
          <a:blip r:embed="rId2"/>
          <a:stretch>
            <a:fillRect/>
          </a:stretch>
        </p:blipFill>
        <p:spPr>
          <a:xfrm>
            <a:off x="2452878" y="1511046"/>
            <a:ext cx="205740" cy="205740"/>
          </a:xfrm>
          <a:prstGeom prst="rect">
            <a:avLst/>
          </a:prstGeom>
        </p:spPr>
      </p:pic>
      <p:sp>
        <p:nvSpPr>
          <p:cNvPr id="10" name="Text 6"/>
          <p:cNvSpPr txBox="1"/>
          <p:nvPr/>
        </p:nvSpPr>
        <p:spPr>
          <a:xfrm>
            <a:off x="2834640" y="1417320"/>
            <a:ext cx="1463040" cy="365760"/>
          </a:xfrm>
          <a:prstGeom prst="rect">
            <a:avLst/>
          </a:prstGeom>
          <a:noFill/>
          <a:ln/>
        </p:spPr>
        <p:txBody>
          <a:bodyPr wrap="square" lIns="0" tIns="0" rIns="0" bIns="0" rtlCol="0" anchor="ctr"/>
          <a:lstStyle/>
          <a:p>
            <a:pPr indent="0" marL="0">
              <a:buNone/>
            </a:pPr>
            <a:r>
              <a:rPr lang="en-US" sz="1500" b="1" dirty="0">
                <a:solidFill>
                  <a:schemeClr val="tx1"/>
                </a:solidFill>
              </a:rPr>
              <a:t>Observation</a:t>
            </a:r>
            <a:endParaRPr lang="en-US" sz="1500" dirty="0"/>
          </a:p>
        </p:txBody>
      </p:sp>
      <p:sp>
        <p:nvSpPr>
          <p:cNvPr id="11" name="Text 7"/>
          <p:cNvSpPr txBox="1"/>
          <p:nvPr/>
        </p:nvSpPr>
        <p:spPr>
          <a:xfrm>
            <a:off x="2350008" y="1847088"/>
            <a:ext cx="1920240" cy="502920"/>
          </a:xfrm>
          <a:prstGeom prst="rect">
            <a:avLst/>
          </a:prstGeom>
          <a:noFill/>
          <a:ln/>
        </p:spPr>
        <p:txBody>
          <a:bodyPr wrap="square" lIns="0" tIns="0" rIns="0" bIns="0" rtlCol="0" anchor="ctr"/>
          <a:lstStyle/>
          <a:p>
            <a:pPr indent="0" marL="0">
              <a:buNone/>
            </a:pPr>
            <a:r>
              <a:rPr lang="en-US" sz="1100" dirty="0">
                <a:solidFill>
                  <a:schemeClr val="tx2"/>
                </a:solidFill>
              </a:rPr>
              <a:t>blackboard state: statuses, feedback, budget</a:t>
            </a:r>
            <a:endParaRPr lang="en-US" sz="1100" dirty="0"/>
          </a:p>
        </p:txBody>
      </p:sp>
      <p:sp>
        <p:nvSpPr>
          <p:cNvPr id="12" name="Shape 8"/>
          <p:cNvSpPr/>
          <p:nvPr/>
        </p:nvSpPr>
        <p:spPr>
          <a:xfrm>
            <a:off x="4069080" y="3063240"/>
            <a:ext cx="2103120" cy="1097280"/>
          </a:xfrm>
          <a:prstGeom prst="roundRect">
            <a:avLst>
              <a:gd name="adj" fmla="val 8333"/>
            </a:avLst>
          </a:prstGeom>
          <a:solidFill>
            <a:schemeClr val="bg2"/>
          </a:solidFill>
          <a:ln w="12700">
            <a:solidFill>
              <a:srgbClr val="CBD5E1"/>
            </a:solidFill>
            <a:prstDash val="solid"/>
          </a:ln>
        </p:spPr>
      </p:sp>
      <p:sp>
        <p:nvSpPr>
          <p:cNvPr id="13" name="Shape 9"/>
          <p:cNvSpPr/>
          <p:nvPr/>
        </p:nvSpPr>
        <p:spPr>
          <a:xfrm>
            <a:off x="4178808" y="3191256"/>
            <a:ext cx="411480" cy="411480"/>
          </a:xfrm>
          <a:prstGeom prst="ellipse">
            <a:avLst/>
          </a:prstGeom>
          <a:solidFill>
            <a:srgbClr val="2563EB"/>
          </a:solidFill>
          <a:ln w="12700">
            <a:solidFill>
              <a:srgbClr val="2563EB"/>
            </a:solidFill>
            <a:prstDash val="solid"/>
          </a:ln>
        </p:spPr>
      </p:sp>
      <p:pic>
        <p:nvPicPr>
          <p:cNvPr id="14" name="Image 2" descr="preencoded.png">    </p:cNvPr>
          <p:cNvPicPr>
            <a:picLocks noChangeAspect="1"/>
          </p:cNvPicPr>
          <p:nvPr/>
        </p:nvPicPr>
        <p:blipFill>
          <a:blip r:embed="rId3"/>
          <a:stretch>
            <a:fillRect/>
          </a:stretch>
        </p:blipFill>
        <p:spPr>
          <a:xfrm>
            <a:off x="4281678" y="3294126"/>
            <a:ext cx="205740" cy="205740"/>
          </a:xfrm>
          <a:prstGeom prst="rect">
            <a:avLst/>
          </a:prstGeom>
        </p:spPr>
      </p:pic>
      <p:sp>
        <p:nvSpPr>
          <p:cNvPr id="15" name="Text 10"/>
          <p:cNvSpPr txBox="1"/>
          <p:nvPr/>
        </p:nvSpPr>
        <p:spPr>
          <a:xfrm>
            <a:off x="4663440" y="3200400"/>
            <a:ext cx="1463040" cy="365760"/>
          </a:xfrm>
          <a:prstGeom prst="rect">
            <a:avLst/>
          </a:prstGeom>
          <a:noFill/>
          <a:ln/>
        </p:spPr>
        <p:txBody>
          <a:bodyPr wrap="square" lIns="0" tIns="0" rIns="0" bIns="0" rtlCol="0" anchor="ctr"/>
          <a:lstStyle/>
          <a:p>
            <a:pPr indent="0" marL="0">
              <a:buNone/>
            </a:pPr>
            <a:r>
              <a:rPr lang="en-US" sz="1500" b="1" dirty="0">
                <a:solidFill>
                  <a:schemeClr val="tx1"/>
                </a:solidFill>
              </a:rPr>
              <a:t>Thought</a:t>
            </a:r>
            <a:endParaRPr lang="en-US" sz="1500" dirty="0"/>
          </a:p>
        </p:txBody>
      </p:sp>
      <p:sp>
        <p:nvSpPr>
          <p:cNvPr id="16" name="Text 11"/>
          <p:cNvSpPr txBox="1"/>
          <p:nvPr/>
        </p:nvSpPr>
        <p:spPr>
          <a:xfrm>
            <a:off x="4178808" y="3630168"/>
            <a:ext cx="1920240" cy="502920"/>
          </a:xfrm>
          <a:prstGeom prst="rect">
            <a:avLst/>
          </a:prstGeom>
          <a:noFill/>
          <a:ln/>
        </p:spPr>
        <p:txBody>
          <a:bodyPr wrap="square" lIns="0" tIns="0" rIns="0" bIns="0" rtlCol="0" anchor="ctr"/>
          <a:lstStyle/>
          <a:p>
            <a:pPr indent="0" marL="0">
              <a:buNone/>
            </a:pPr>
            <a:r>
              <a:rPr lang="en-US" sz="1100" dirty="0">
                <a:solidFill>
                  <a:schemeClr val="tx2"/>
                </a:solidFill>
              </a:rPr>
              <a:t>LLM reasoning, saved to the trace</a:t>
            </a:r>
            <a:endParaRPr lang="en-US" sz="1100" dirty="0"/>
          </a:p>
        </p:txBody>
      </p:sp>
      <p:sp>
        <p:nvSpPr>
          <p:cNvPr id="17" name="Shape 12"/>
          <p:cNvSpPr/>
          <p:nvPr/>
        </p:nvSpPr>
        <p:spPr>
          <a:xfrm>
            <a:off x="548640" y="3063240"/>
            <a:ext cx="2103120" cy="1097280"/>
          </a:xfrm>
          <a:prstGeom prst="roundRect">
            <a:avLst>
              <a:gd name="adj" fmla="val 8333"/>
            </a:avLst>
          </a:prstGeom>
          <a:solidFill>
            <a:schemeClr val="bg2"/>
          </a:solidFill>
          <a:ln w="12700">
            <a:solidFill>
              <a:srgbClr val="CBD5E1"/>
            </a:solidFill>
            <a:prstDash val="solid"/>
          </a:ln>
        </p:spPr>
      </p:sp>
      <p:sp>
        <p:nvSpPr>
          <p:cNvPr id="18" name="Shape 13"/>
          <p:cNvSpPr/>
          <p:nvPr/>
        </p:nvSpPr>
        <p:spPr>
          <a:xfrm>
            <a:off x="658368" y="3191256"/>
            <a:ext cx="411480" cy="411480"/>
          </a:xfrm>
          <a:prstGeom prst="ellipse">
            <a:avLst/>
          </a:prstGeom>
          <a:solidFill>
            <a:srgbClr val="2563EB"/>
          </a:solidFill>
          <a:ln w="12700">
            <a:solidFill>
              <a:srgbClr val="2563EB"/>
            </a:solidFill>
            <a:prstDash val="solid"/>
          </a:ln>
        </p:spPr>
      </p:sp>
      <p:pic>
        <p:nvPicPr>
          <p:cNvPr id="19" name="Image 3" descr="preencoded.png">    </p:cNvPr>
          <p:cNvPicPr>
            <a:picLocks noChangeAspect="1"/>
          </p:cNvPicPr>
          <p:nvPr/>
        </p:nvPicPr>
        <p:blipFill>
          <a:blip r:embed="rId4"/>
          <a:stretch>
            <a:fillRect/>
          </a:stretch>
        </p:blipFill>
        <p:spPr>
          <a:xfrm>
            <a:off x="761238" y="3294126"/>
            <a:ext cx="205740" cy="205740"/>
          </a:xfrm>
          <a:prstGeom prst="rect">
            <a:avLst/>
          </a:prstGeom>
        </p:spPr>
      </p:pic>
      <p:sp>
        <p:nvSpPr>
          <p:cNvPr id="20" name="Text 14"/>
          <p:cNvSpPr txBox="1"/>
          <p:nvPr/>
        </p:nvSpPr>
        <p:spPr>
          <a:xfrm>
            <a:off x="1143000" y="3200400"/>
            <a:ext cx="1463040" cy="365760"/>
          </a:xfrm>
          <a:prstGeom prst="rect">
            <a:avLst/>
          </a:prstGeom>
          <a:noFill/>
          <a:ln/>
        </p:spPr>
        <p:txBody>
          <a:bodyPr wrap="square" lIns="0" tIns="0" rIns="0" bIns="0" rtlCol="0" anchor="ctr"/>
          <a:lstStyle/>
          <a:p>
            <a:pPr indent="0" marL="0">
              <a:buNone/>
            </a:pPr>
            <a:r>
              <a:rPr lang="en-US" sz="1500" b="1" dirty="0">
                <a:solidFill>
                  <a:schemeClr val="tx1"/>
                </a:solidFill>
              </a:rPr>
              <a:t>Action</a:t>
            </a:r>
            <a:endParaRPr lang="en-US" sz="1500" dirty="0"/>
          </a:p>
        </p:txBody>
      </p:sp>
      <p:sp>
        <p:nvSpPr>
          <p:cNvPr id="21" name="Text 15"/>
          <p:cNvSpPr txBox="1"/>
          <p:nvPr/>
        </p:nvSpPr>
        <p:spPr>
          <a:xfrm>
            <a:off x="658368" y="3630168"/>
            <a:ext cx="1920240" cy="502920"/>
          </a:xfrm>
          <a:prstGeom prst="rect">
            <a:avLst/>
          </a:prstGeom>
          <a:noFill/>
          <a:ln/>
        </p:spPr>
        <p:txBody>
          <a:bodyPr wrap="square" lIns="0" tIns="0" rIns="0" bIns="0" rtlCol="0" anchor="ctr"/>
          <a:lstStyle/>
          <a:p>
            <a:pPr indent="0" marL="0">
              <a:buNone/>
            </a:pPr>
            <a:r>
              <a:rPr lang="en-US" sz="1100" dirty="0">
                <a:solidFill>
                  <a:schemeClr val="tx2"/>
                </a:solidFill>
              </a:rPr>
              <a:t>issue · refine · switch DB · abandon · synthesise</a:t>
            </a:r>
            <a:endParaRPr lang="en-US" sz="1100" dirty="0"/>
          </a:p>
        </p:txBody>
      </p:sp>
      <p:sp>
        <p:nvSpPr>
          <p:cNvPr id="22" name="Shape 16"/>
          <p:cNvSpPr/>
          <p:nvPr/>
        </p:nvSpPr>
        <p:spPr>
          <a:xfrm>
            <a:off x="548640" y="4800600"/>
            <a:ext cx="5760720" cy="1143000"/>
          </a:xfrm>
          <a:prstGeom prst="roundRect">
            <a:avLst>
              <a:gd name="adj" fmla="val 8000"/>
            </a:avLst>
          </a:prstGeom>
          <a:solidFill>
            <a:srgbClr val="FFF7ED"/>
          </a:solidFill>
          <a:ln w="12700">
            <a:solidFill>
              <a:srgbClr val="EA580C"/>
            </a:solidFill>
            <a:prstDash val="solid"/>
          </a:ln>
        </p:spPr>
      </p:sp>
      <p:sp>
        <p:nvSpPr>
          <p:cNvPr id="23" name="Text 17"/>
          <p:cNvSpPr txBox="1"/>
          <p:nvPr/>
        </p:nvSpPr>
        <p:spPr>
          <a:xfrm>
            <a:off x="731520" y="4864608"/>
            <a:ext cx="5440680" cy="1005840"/>
          </a:xfrm>
          <a:prstGeom prst="rect">
            <a:avLst/>
          </a:prstGeom>
          <a:noFill/>
          <a:ln/>
        </p:spPr>
        <p:txBody>
          <a:bodyPr wrap="square" lIns="0" tIns="0" rIns="0" bIns="0" rtlCol="0" anchor="ctr"/>
          <a:lstStyle/>
          <a:p>
            <a:pPr indent="0" marL="0">
              <a:buNone/>
            </a:pPr>
            <a:r>
              <a:rPr lang="en-US" sz="1300" b="1" dirty="0">
                <a:solidFill>
                  <a:srgbClr val="EA580C"/>
                </a:solidFill>
              </a:rPr>
              <a:t>Reflexion-style re-planning  </a:t>
            </a:r>
            <a:pPr indent="0" marL="0">
              <a:buNone/>
            </a:pPr>
            <a:r>
              <a:rPr lang="en-US" sz="1300" dirty="0">
                <a:solidFill>
                  <a:schemeClr val="tx2"/>
                </a:solidFill>
              </a:rPr>
              <a:t>Retriever, Processor and Critic write natural-language Feedback when they reject work; the Planner must read it before its next Thought (Shinn et al., 2023).</a:t>
            </a:r>
            <a:endParaRPr lang="en-US" sz="1300" dirty="0"/>
          </a:p>
        </p:txBody>
      </p:sp>
      <p:sp>
        <p:nvSpPr>
          <p:cNvPr id="24" name="Text 18"/>
          <p:cNvSpPr txBox="1"/>
          <p:nvPr/>
        </p:nvSpPr>
        <p:spPr>
          <a:xfrm>
            <a:off x="6675120" y="1280160"/>
            <a:ext cx="4983480" cy="548640"/>
          </a:xfrm>
          <a:prstGeom prst="rect">
            <a:avLst/>
          </a:prstGeom>
          <a:noFill/>
          <a:ln/>
        </p:spPr>
        <p:txBody>
          <a:bodyPr wrap="square" lIns="0" tIns="0" rIns="0" bIns="0" rtlCol="0" anchor="ctr"/>
          <a:lstStyle/>
          <a:p>
            <a:pPr indent="0" marL="0">
              <a:buNone/>
            </a:pPr>
            <a:r>
              <a:rPr lang="en-US" sz="1600" b="1" dirty="0">
                <a:solidFill>
                  <a:schemeClr val="accent1"/>
                </a:solidFill>
              </a:rPr>
              <a:t>LLM-Modulo: the LLM proposes, code decides (Kambhampati et al., 2024)</a:t>
            </a:r>
            <a:endParaRPr lang="en-US" sz="1600" dirty="0"/>
          </a:p>
        </p:txBody>
      </p:sp>
      <p:sp>
        <p:nvSpPr>
          <p:cNvPr id="25" name="Shape 19"/>
          <p:cNvSpPr/>
          <p:nvPr/>
        </p:nvSpPr>
        <p:spPr>
          <a:xfrm>
            <a:off x="6675120" y="2011680"/>
            <a:ext cx="438912" cy="438912"/>
          </a:xfrm>
          <a:prstGeom prst="ellipse">
            <a:avLst/>
          </a:prstGeom>
          <a:solidFill>
            <a:srgbClr val="0F172A"/>
          </a:solidFill>
          <a:ln w="12700">
            <a:solidFill>
              <a:srgbClr val="0F172A"/>
            </a:solidFill>
            <a:prstDash val="solid"/>
          </a:ln>
        </p:spPr>
      </p:sp>
      <p:pic>
        <p:nvPicPr>
          <p:cNvPr id="26" name="Image 4" descr="preencoded.png">    </p:cNvPr>
          <p:cNvPicPr>
            <a:picLocks noChangeAspect="1"/>
          </p:cNvPicPr>
          <p:nvPr/>
        </p:nvPicPr>
        <p:blipFill>
          <a:blip r:embed="rId5"/>
          <a:stretch>
            <a:fillRect/>
          </a:stretch>
        </p:blipFill>
        <p:spPr>
          <a:xfrm>
            <a:off x="6784848" y="2121408"/>
            <a:ext cx="219456" cy="219456"/>
          </a:xfrm>
          <a:prstGeom prst="rect">
            <a:avLst/>
          </a:prstGeom>
        </p:spPr>
      </p:pic>
      <p:sp>
        <p:nvSpPr>
          <p:cNvPr id="27" name="Text 20"/>
          <p:cNvSpPr txBox="1"/>
          <p:nvPr/>
        </p:nvSpPr>
        <p:spPr>
          <a:xfrm>
            <a:off x="7269480" y="1993392"/>
            <a:ext cx="4389120" cy="475488"/>
          </a:xfrm>
          <a:prstGeom prst="rect">
            <a:avLst/>
          </a:prstGeom>
          <a:noFill/>
          <a:ln/>
        </p:spPr>
        <p:txBody>
          <a:bodyPr wrap="square" lIns="0" tIns="0" rIns="0" bIns="0" rtlCol="0" anchor="ctr"/>
          <a:lstStyle/>
          <a:p>
            <a:pPr indent="0" marL="0">
              <a:buNone/>
            </a:pPr>
            <a:r>
              <a:rPr lang="en-US" sz="1400" dirty="0">
                <a:solidFill>
                  <a:schemeClr val="tx1"/>
                </a:solidFill>
              </a:rPr>
              <a:t>Allowed actions computed by code each step</a:t>
            </a:r>
            <a:endParaRPr lang="en-US" sz="1400" dirty="0"/>
          </a:p>
        </p:txBody>
      </p:sp>
      <p:sp>
        <p:nvSpPr>
          <p:cNvPr id="28" name="Shape 21"/>
          <p:cNvSpPr/>
          <p:nvPr/>
        </p:nvSpPr>
        <p:spPr>
          <a:xfrm>
            <a:off x="6675120" y="2670048"/>
            <a:ext cx="438912" cy="438912"/>
          </a:xfrm>
          <a:prstGeom prst="ellipse">
            <a:avLst/>
          </a:prstGeom>
          <a:solidFill>
            <a:srgbClr val="0F172A"/>
          </a:solidFill>
          <a:ln w="12700">
            <a:solidFill>
              <a:srgbClr val="0F172A"/>
            </a:solidFill>
            <a:prstDash val="solid"/>
          </a:ln>
        </p:spPr>
      </p:sp>
      <p:pic>
        <p:nvPicPr>
          <p:cNvPr id="29" name="Image 5" descr="preencoded.png">    </p:cNvPr>
          <p:cNvPicPr>
            <a:picLocks noChangeAspect="1"/>
          </p:cNvPicPr>
          <p:nvPr/>
        </p:nvPicPr>
        <p:blipFill>
          <a:blip r:embed="rId6"/>
          <a:stretch>
            <a:fillRect/>
          </a:stretch>
        </p:blipFill>
        <p:spPr>
          <a:xfrm>
            <a:off x="6784848" y="2779776"/>
            <a:ext cx="219456" cy="219456"/>
          </a:xfrm>
          <a:prstGeom prst="rect">
            <a:avLst/>
          </a:prstGeom>
        </p:spPr>
      </p:pic>
      <p:sp>
        <p:nvSpPr>
          <p:cNvPr id="30" name="Text 22"/>
          <p:cNvSpPr txBox="1"/>
          <p:nvPr/>
        </p:nvSpPr>
        <p:spPr>
          <a:xfrm>
            <a:off x="7269480" y="2651760"/>
            <a:ext cx="4389120" cy="475488"/>
          </a:xfrm>
          <a:prstGeom prst="rect">
            <a:avLst/>
          </a:prstGeom>
          <a:noFill/>
          <a:ln/>
        </p:spPr>
        <p:txBody>
          <a:bodyPr wrap="square" lIns="0" tIns="0" rIns="0" bIns="0" rtlCol="0" anchor="ctr"/>
          <a:lstStyle/>
          <a:p>
            <a:pPr indent="0" marL="0">
              <a:buNone/>
            </a:pPr>
            <a:r>
              <a:rPr lang="en-US" sz="1400" dirty="0">
                <a:solidFill>
                  <a:schemeClr val="tx1"/>
                </a:solidFill>
              </a:rPr>
              <a:t>JSON schema + semantic validation (no repeated failed query)</a:t>
            </a:r>
            <a:endParaRPr lang="en-US" sz="1400" dirty="0"/>
          </a:p>
        </p:txBody>
      </p:sp>
      <p:sp>
        <p:nvSpPr>
          <p:cNvPr id="31" name="Shape 23"/>
          <p:cNvSpPr/>
          <p:nvPr/>
        </p:nvSpPr>
        <p:spPr>
          <a:xfrm>
            <a:off x="6675120" y="3328416"/>
            <a:ext cx="438912" cy="438912"/>
          </a:xfrm>
          <a:prstGeom prst="ellipse">
            <a:avLst/>
          </a:prstGeom>
          <a:solidFill>
            <a:srgbClr val="0F172A"/>
          </a:solidFill>
          <a:ln w="12700">
            <a:solidFill>
              <a:srgbClr val="0F172A"/>
            </a:solidFill>
            <a:prstDash val="solid"/>
          </a:ln>
        </p:spPr>
      </p:sp>
      <p:pic>
        <p:nvPicPr>
          <p:cNvPr id="32" name="Image 6" descr="preencoded.png">    </p:cNvPr>
          <p:cNvPicPr>
            <a:picLocks noChangeAspect="1"/>
          </p:cNvPicPr>
          <p:nvPr/>
        </p:nvPicPr>
        <p:blipFill>
          <a:blip r:embed="rId7"/>
          <a:stretch>
            <a:fillRect/>
          </a:stretch>
        </p:blipFill>
        <p:spPr>
          <a:xfrm>
            <a:off x="6784848" y="3438144"/>
            <a:ext cx="219456" cy="219456"/>
          </a:xfrm>
          <a:prstGeom prst="rect">
            <a:avLst/>
          </a:prstGeom>
        </p:spPr>
      </p:pic>
      <p:sp>
        <p:nvSpPr>
          <p:cNvPr id="33" name="Text 24"/>
          <p:cNvSpPr txBox="1"/>
          <p:nvPr/>
        </p:nvSpPr>
        <p:spPr>
          <a:xfrm>
            <a:off x="7269480" y="3310128"/>
            <a:ext cx="4389120" cy="475488"/>
          </a:xfrm>
          <a:prstGeom prst="rect">
            <a:avLst/>
          </a:prstGeom>
          <a:noFill/>
          <a:ln/>
        </p:spPr>
        <p:txBody>
          <a:bodyPr wrap="square" lIns="0" tIns="0" rIns="0" bIns="0" rtlCol="0" anchor="ctr"/>
          <a:lstStyle/>
          <a:p>
            <a:pPr indent="0" marL="0">
              <a:buNone/>
            </a:pPr>
            <a:r>
              <a:rPr lang="en-US" sz="1400" dirty="0">
                <a:solidFill>
                  <a:schemeClr val="tx1"/>
                </a:solidFill>
              </a:rPr>
              <a:t>Deterministic fallback policy after 2 invalid replies</a:t>
            </a:r>
            <a:endParaRPr lang="en-US" sz="1400" dirty="0"/>
          </a:p>
        </p:txBody>
      </p:sp>
      <p:sp>
        <p:nvSpPr>
          <p:cNvPr id="34" name="Shape 25"/>
          <p:cNvSpPr/>
          <p:nvPr/>
        </p:nvSpPr>
        <p:spPr>
          <a:xfrm>
            <a:off x="6675120" y="3986784"/>
            <a:ext cx="438912" cy="438912"/>
          </a:xfrm>
          <a:prstGeom prst="ellipse">
            <a:avLst/>
          </a:prstGeom>
          <a:solidFill>
            <a:srgbClr val="0F172A"/>
          </a:solidFill>
          <a:ln w="12700">
            <a:solidFill>
              <a:srgbClr val="0F172A"/>
            </a:solidFill>
            <a:prstDash val="solid"/>
          </a:ln>
        </p:spPr>
      </p:sp>
      <p:pic>
        <p:nvPicPr>
          <p:cNvPr id="35" name="Image 7" descr="preencoded.png">    </p:cNvPr>
          <p:cNvPicPr>
            <a:picLocks noChangeAspect="1"/>
          </p:cNvPicPr>
          <p:nvPr/>
        </p:nvPicPr>
        <p:blipFill>
          <a:blip r:embed="rId8"/>
          <a:stretch>
            <a:fillRect/>
          </a:stretch>
        </p:blipFill>
        <p:spPr>
          <a:xfrm>
            <a:off x="6784848" y="4096512"/>
            <a:ext cx="219456" cy="219456"/>
          </a:xfrm>
          <a:prstGeom prst="rect">
            <a:avLst/>
          </a:prstGeom>
        </p:spPr>
      </p:pic>
      <p:sp>
        <p:nvSpPr>
          <p:cNvPr id="36" name="Text 26"/>
          <p:cNvSpPr txBox="1"/>
          <p:nvPr/>
        </p:nvSpPr>
        <p:spPr>
          <a:xfrm>
            <a:off x="7269480" y="3968496"/>
            <a:ext cx="4389120" cy="475488"/>
          </a:xfrm>
          <a:prstGeom prst="rect">
            <a:avLst/>
          </a:prstGeom>
          <a:noFill/>
          <a:ln/>
        </p:spPr>
        <p:txBody>
          <a:bodyPr wrap="square" lIns="0" tIns="0" rIns="0" bIns="0" rtlCol="0" anchor="ctr"/>
          <a:lstStyle/>
          <a:p>
            <a:pPr indent="0" marL="0">
              <a:buNone/>
            </a:pPr>
            <a:r>
              <a:rPr lang="en-US" sz="1400" dirty="0">
                <a:solidFill>
                  <a:schemeClr val="tx1"/>
                </a:solidFill>
              </a:rPr>
              <a:t>20-step ReAct budget guarantees termination</a:t>
            </a:r>
            <a:endParaRPr lang="en-US" sz="1400" dirty="0"/>
          </a:p>
        </p:txBody>
      </p:sp>
      <p:sp>
        <p:nvSpPr>
          <p:cNvPr id="37" name="Shape 27"/>
          <p:cNvSpPr/>
          <p:nvPr/>
        </p:nvSpPr>
        <p:spPr>
          <a:xfrm>
            <a:off x="6675120" y="4645152"/>
            <a:ext cx="438912" cy="438912"/>
          </a:xfrm>
          <a:prstGeom prst="ellipse">
            <a:avLst/>
          </a:prstGeom>
          <a:solidFill>
            <a:srgbClr val="0F172A"/>
          </a:solidFill>
          <a:ln w="12700">
            <a:solidFill>
              <a:srgbClr val="0F172A"/>
            </a:solidFill>
            <a:prstDash val="solid"/>
          </a:ln>
        </p:spPr>
      </p:sp>
      <p:pic>
        <p:nvPicPr>
          <p:cNvPr id="38" name="Image 8" descr="preencoded.png">    </p:cNvPr>
          <p:cNvPicPr>
            <a:picLocks noChangeAspect="1"/>
          </p:cNvPicPr>
          <p:nvPr/>
        </p:nvPicPr>
        <p:blipFill>
          <a:blip r:embed="rId9"/>
          <a:stretch>
            <a:fillRect/>
          </a:stretch>
        </p:blipFill>
        <p:spPr>
          <a:xfrm>
            <a:off x="6784848" y="4754880"/>
            <a:ext cx="219456" cy="219456"/>
          </a:xfrm>
          <a:prstGeom prst="rect">
            <a:avLst/>
          </a:prstGeom>
        </p:spPr>
      </p:pic>
      <p:sp>
        <p:nvSpPr>
          <p:cNvPr id="39" name="Text 28"/>
          <p:cNvSpPr txBox="1"/>
          <p:nvPr/>
        </p:nvSpPr>
        <p:spPr>
          <a:xfrm>
            <a:off x="7269480" y="4626864"/>
            <a:ext cx="4389120" cy="475488"/>
          </a:xfrm>
          <a:prstGeom prst="rect">
            <a:avLst/>
          </a:prstGeom>
          <a:noFill/>
          <a:ln/>
        </p:spPr>
        <p:txBody>
          <a:bodyPr wrap="square" lIns="0" tIns="0" rIns="0" bIns="0" rtlCol="0" anchor="ctr"/>
          <a:lstStyle/>
          <a:p>
            <a:pPr indent="0" marL="0">
              <a:buNone/>
            </a:pPr>
            <a:r>
              <a:rPr lang="en-US" sz="1400" dirty="0">
                <a:solidFill>
                  <a:schemeClr val="tx1"/>
                </a:solidFill>
              </a:rPr>
              <a:t>≤ 3 re-plans per subtask, then 'unresolvable' (no LLM call)</a:t>
            </a:r>
            <a:endParaRPr lang="en-US" sz="1400" dirty="0"/>
          </a:p>
        </p:txBody>
      </p:sp>
      <p:sp>
        <p:nvSpPr>
          <p:cNvPr id="40" name="Shape 29"/>
          <p:cNvSpPr/>
          <p:nvPr/>
        </p:nvSpPr>
        <p:spPr>
          <a:xfrm>
            <a:off x="6675120" y="5303520"/>
            <a:ext cx="438912" cy="438912"/>
          </a:xfrm>
          <a:prstGeom prst="ellipse">
            <a:avLst/>
          </a:prstGeom>
          <a:solidFill>
            <a:srgbClr val="0F172A"/>
          </a:solidFill>
          <a:ln w="12700">
            <a:solidFill>
              <a:srgbClr val="0F172A"/>
            </a:solidFill>
            <a:prstDash val="solid"/>
          </a:ln>
        </p:spPr>
      </p:sp>
      <p:pic>
        <p:nvPicPr>
          <p:cNvPr id="41" name="Image 9" descr="preencoded.png">    </p:cNvPr>
          <p:cNvPicPr>
            <a:picLocks noChangeAspect="1"/>
          </p:cNvPicPr>
          <p:nvPr/>
        </p:nvPicPr>
        <p:blipFill>
          <a:blip r:embed="rId10"/>
          <a:stretch>
            <a:fillRect/>
          </a:stretch>
        </p:blipFill>
        <p:spPr>
          <a:xfrm>
            <a:off x="6784848" y="5413248"/>
            <a:ext cx="219456" cy="219456"/>
          </a:xfrm>
          <a:prstGeom prst="rect">
            <a:avLst/>
          </a:prstGeom>
        </p:spPr>
      </p:pic>
      <p:sp>
        <p:nvSpPr>
          <p:cNvPr id="42" name="Text 30"/>
          <p:cNvSpPr txBox="1"/>
          <p:nvPr/>
        </p:nvSpPr>
        <p:spPr>
          <a:xfrm>
            <a:off x="7269480" y="5285232"/>
            <a:ext cx="4389120" cy="475488"/>
          </a:xfrm>
          <a:prstGeom prst="rect">
            <a:avLst/>
          </a:prstGeom>
          <a:noFill/>
          <a:ln/>
        </p:spPr>
        <p:txBody>
          <a:bodyPr wrap="square" lIns="0" tIns="0" rIns="0" bIns="0" rtlCol="0" anchor="ctr"/>
          <a:lstStyle/>
          <a:p>
            <a:pPr indent="0" marL="0">
              <a:buNone/>
            </a:pPr>
            <a:r>
              <a:rPr lang="en-US" sz="1400" dirty="0">
                <a:solidFill>
                  <a:schemeClr val="tx1"/>
                </a:solidFill>
              </a:rPr>
              <a:t>Synthesis rejected twice → extractive verified-only fallback</a:t>
            </a:r>
            <a:endParaRPr lang="en-US" sz="1400" dirty="0"/>
          </a:p>
        </p:txBody>
      </p:sp>
      <p:sp>
        <p:nvSpPr>
          <p:cNvPr id="43" name="Text 31"/>
          <p:cNvSpPr txBox="1"/>
          <p:nvPr/>
        </p:nvSpPr>
        <p:spPr>
          <a:xfrm>
            <a:off x="548640" y="6108192"/>
            <a:ext cx="11064240" cy="274320"/>
          </a:xfrm>
          <a:prstGeom prst="rect">
            <a:avLst/>
          </a:prstGeom>
          <a:noFill/>
          <a:ln/>
        </p:spPr>
        <p:txBody>
          <a:bodyPr wrap="square" lIns="0" tIns="0" rIns="0" bIns="0" rtlCol="0" anchor="ctr"/>
          <a:lstStyle/>
          <a:p>
            <a:pPr indent="0" marL="0">
              <a:buNone/>
            </a:pPr>
            <a:r>
              <a:rPr lang="en-US" sz="1000" i="1" dirty="0">
                <a:solidFill>
                  <a:srgbClr val="64748B"/>
                </a:solidFill>
              </a:rPr>
              <a:t>ReAct: Yao et al. (2023) · Reflexion: Shinn et al. (2023) · LLM-Modulo: Kambhampati et al. (2024) · re-plan cap: Unit 6 feedback #3</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Structural view: UML class diagram (new in Unit 11)</a:t>
            </a:r>
            <a:endParaRPr lang="en-US" sz="3200" dirty="0"/>
          </a:p>
        </p:txBody>
      </p:sp>
      <p:sp>
        <p:nvSpPr>
          <p:cNvPr id="3" name="Shape 1"/>
          <p:cNvSpPr/>
          <p:nvPr/>
        </p:nvSpPr>
        <p:spPr>
          <a:xfrm>
            <a:off x="548640" y="1234440"/>
            <a:ext cx="2194560" cy="868680"/>
          </a:xfrm>
          <a:prstGeom prst="rect">
            <a:avLst/>
          </a:prstGeom>
          <a:solidFill>
            <a:srgbClr val="FFFFFF"/>
          </a:solidFill>
          <a:ln w="15875">
            <a:solidFill>
              <a:srgbClr val="0F172A"/>
            </a:solidFill>
            <a:prstDash val="solid"/>
          </a:ln>
        </p:spPr>
      </p:sp>
      <p:sp>
        <p:nvSpPr>
          <p:cNvPr id="4" name="Shape 2"/>
          <p:cNvSpPr/>
          <p:nvPr/>
        </p:nvSpPr>
        <p:spPr>
          <a:xfrm>
            <a:off x="548640" y="1234440"/>
            <a:ext cx="2194560" cy="384048"/>
          </a:xfrm>
          <a:prstGeom prst="rect">
            <a:avLst/>
          </a:prstGeom>
          <a:solidFill>
            <a:srgbClr val="0F172A"/>
          </a:solidFill>
          <a:ln w="12700">
            <a:solidFill>
              <a:srgbClr val="0F172A"/>
            </a:solidFill>
            <a:prstDash val="solid"/>
          </a:ln>
        </p:spPr>
      </p:sp>
      <p:sp>
        <p:nvSpPr>
          <p:cNvPr id="5" name="Text 3"/>
          <p:cNvSpPr txBox="1"/>
          <p:nvPr/>
        </p:nvSpPr>
        <p:spPr>
          <a:xfrm>
            <a:off x="548640" y="1234440"/>
            <a:ext cx="2194560" cy="384048"/>
          </a:xfrm>
          <a:prstGeom prst="rect">
            <a:avLst/>
          </a:prstGeom>
          <a:noFill/>
          <a:ln/>
        </p:spPr>
        <p:txBody>
          <a:bodyPr wrap="square" lIns="0" tIns="0" rIns="0" bIns="0" rtlCol="0" anchor="ctr"/>
          <a:lstStyle/>
          <a:p>
            <a:pPr algn="ctr" indent="0" marL="0">
              <a:buNone/>
            </a:pPr>
            <a:r>
              <a:rPr lang="en-US" sz="1300" b="1" dirty="0">
                <a:solidFill>
                  <a:srgbClr val="FFFFFF"/>
                </a:solidFill>
              </a:rPr>
              <a:t>Controller</a:t>
            </a:r>
            <a:endParaRPr lang="en-US" sz="1300" dirty="0"/>
          </a:p>
        </p:txBody>
      </p:sp>
      <p:sp>
        <p:nvSpPr>
          <p:cNvPr id="6" name="Text 4"/>
          <p:cNvSpPr txBox="1"/>
          <p:nvPr/>
        </p:nvSpPr>
        <p:spPr>
          <a:xfrm>
            <a:off x="621792" y="1645920"/>
            <a:ext cx="2048256" cy="411480"/>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+run(goal) · +step()</a:t>
            </a:r>
            <a:endParaRPr lang="en-US" sz="1050" dirty="0"/>
          </a:p>
          <a:p>
            <a:pPr indent="0" marL="0">
              <a:buNone/>
            </a:pPr>
            <a:r>
              <a:rPr lang="en-US" sz="1050" dirty="0">
                <a:solidFill>
                  <a:srgbClr val="334155"/>
                </a:solidFill>
                <a:latin typeface="Calibri" pitchFamily="34" charset="0"/>
                <a:ea typeface="Calibri" pitchFamily="34" charset="-122"/>
                <a:cs typeface="Calibri" pitchFamily="34" charset="-120"/>
              </a:rPr>
              <a:t>runs first agent that can_act</a:t>
            </a:r>
            <a:endParaRPr lang="en-US" sz="1050" dirty="0"/>
          </a:p>
        </p:txBody>
      </p:sp>
      <p:sp>
        <p:nvSpPr>
          <p:cNvPr id="7" name="Shape 5"/>
          <p:cNvSpPr/>
          <p:nvPr/>
        </p:nvSpPr>
        <p:spPr>
          <a:xfrm>
            <a:off x="3429000" y="1234440"/>
            <a:ext cx="2468880" cy="868680"/>
          </a:xfrm>
          <a:prstGeom prst="rect">
            <a:avLst/>
          </a:prstGeom>
          <a:solidFill>
            <a:srgbClr val="FFFFFF"/>
          </a:solidFill>
          <a:ln w="15875">
            <a:solidFill>
              <a:srgbClr val="0F172A"/>
            </a:solidFill>
            <a:prstDash val="solid"/>
          </a:ln>
        </p:spPr>
      </p:sp>
      <p:sp>
        <p:nvSpPr>
          <p:cNvPr id="8" name="Shape 6"/>
          <p:cNvSpPr/>
          <p:nvPr/>
        </p:nvSpPr>
        <p:spPr>
          <a:xfrm>
            <a:off x="3429000" y="1234440"/>
            <a:ext cx="2468880" cy="384048"/>
          </a:xfrm>
          <a:prstGeom prst="rect">
            <a:avLst/>
          </a:prstGeom>
          <a:solidFill>
            <a:srgbClr val="0F172A"/>
          </a:solidFill>
          <a:ln w="12700">
            <a:solidFill>
              <a:srgbClr val="0F172A"/>
            </a:solidFill>
            <a:prstDash val="solid"/>
          </a:ln>
        </p:spPr>
      </p:sp>
      <p:sp>
        <p:nvSpPr>
          <p:cNvPr id="9" name="Text 7"/>
          <p:cNvSpPr txBox="1"/>
          <p:nvPr/>
        </p:nvSpPr>
        <p:spPr>
          <a:xfrm>
            <a:off x="3429000" y="1234440"/>
            <a:ext cx="2468880" cy="384048"/>
          </a:xfrm>
          <a:prstGeom prst="rect">
            <a:avLst/>
          </a:prstGeom>
          <a:noFill/>
          <a:ln/>
        </p:spPr>
        <p:txBody>
          <a:bodyPr wrap="square" lIns="0" tIns="0" rIns="0" bIns="0" rtlCol="0" anchor="ctr"/>
          <a:lstStyle/>
          <a:p>
            <a:pPr algn="ctr" indent="0" marL="0">
              <a:buNone/>
            </a:pPr>
            <a:r>
              <a:rPr lang="en-US" sz="1000" b="1" i="1" dirty="0">
                <a:solidFill>
                  <a:srgbClr val="FFFFFF"/>
                </a:solidFill>
              </a:rPr>
              <a:t>«abstract» </a:t>
            </a:r>
            <a:pPr algn="ctr" indent="0" marL="0">
              <a:buNone/>
            </a:pPr>
            <a:r>
              <a:rPr lang="en-US" sz="1300" b="1" dirty="0">
                <a:solidFill>
                  <a:srgbClr val="FFFFFF"/>
                </a:solidFill>
              </a:rPr>
              <a:t>Agent</a:t>
            </a:r>
            <a:endParaRPr lang="en-US" sz="1300" dirty="0"/>
          </a:p>
        </p:txBody>
      </p:sp>
      <p:sp>
        <p:nvSpPr>
          <p:cNvPr id="10" name="Text 8"/>
          <p:cNvSpPr txBox="1"/>
          <p:nvPr/>
        </p:nvSpPr>
        <p:spPr>
          <a:xfrm>
            <a:off x="3502152" y="1645920"/>
            <a:ext cx="2322576" cy="411480"/>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+role · +can_act(bb) · +act(bb)</a:t>
            </a:r>
            <a:endParaRPr lang="en-US" sz="1050" dirty="0"/>
          </a:p>
        </p:txBody>
      </p:sp>
      <p:sp>
        <p:nvSpPr>
          <p:cNvPr id="11" name="Shape 9"/>
          <p:cNvSpPr/>
          <p:nvPr/>
        </p:nvSpPr>
        <p:spPr>
          <a:xfrm>
            <a:off x="6583680" y="1234440"/>
            <a:ext cx="2377440" cy="868680"/>
          </a:xfrm>
          <a:prstGeom prst="rect">
            <a:avLst/>
          </a:prstGeom>
          <a:solidFill>
            <a:srgbClr val="FFFFFF"/>
          </a:solidFill>
          <a:ln w="15875">
            <a:solidFill>
              <a:srgbClr val="0F172A"/>
            </a:solidFill>
            <a:prstDash val="solid"/>
          </a:ln>
        </p:spPr>
      </p:sp>
      <p:sp>
        <p:nvSpPr>
          <p:cNvPr id="12" name="Shape 10"/>
          <p:cNvSpPr/>
          <p:nvPr/>
        </p:nvSpPr>
        <p:spPr>
          <a:xfrm>
            <a:off x="6583680" y="1234440"/>
            <a:ext cx="2377440" cy="384048"/>
          </a:xfrm>
          <a:prstGeom prst="rect">
            <a:avLst/>
          </a:prstGeom>
          <a:solidFill>
            <a:srgbClr val="0F172A"/>
          </a:solidFill>
          <a:ln w="12700">
            <a:solidFill>
              <a:srgbClr val="0F172A"/>
            </a:solidFill>
            <a:prstDash val="solid"/>
          </a:ln>
        </p:spPr>
      </p:sp>
      <p:sp>
        <p:nvSpPr>
          <p:cNvPr id="13" name="Text 11"/>
          <p:cNvSpPr txBox="1"/>
          <p:nvPr/>
        </p:nvSpPr>
        <p:spPr>
          <a:xfrm>
            <a:off x="6583680" y="1234440"/>
            <a:ext cx="2377440" cy="384048"/>
          </a:xfrm>
          <a:prstGeom prst="rect">
            <a:avLst/>
          </a:prstGeom>
          <a:noFill/>
          <a:ln/>
        </p:spPr>
        <p:txBody>
          <a:bodyPr wrap="square" lIns="0" tIns="0" rIns="0" bIns="0" rtlCol="0" anchor="ctr"/>
          <a:lstStyle/>
          <a:p>
            <a:pPr algn="ctr" indent="0" marL="0">
              <a:buNone/>
            </a:pPr>
            <a:r>
              <a:rPr lang="en-US" sz="1300" b="1" dirty="0">
                <a:solidFill>
                  <a:srgbClr val="FFFFFF"/>
                </a:solidFill>
              </a:rPr>
              <a:t>ScopedBlackboard</a:t>
            </a:r>
            <a:endParaRPr lang="en-US" sz="1300" dirty="0"/>
          </a:p>
        </p:txBody>
      </p:sp>
      <p:sp>
        <p:nvSpPr>
          <p:cNvPr id="14" name="Text 12"/>
          <p:cNvSpPr txBox="1"/>
          <p:nvPr/>
        </p:nvSpPr>
        <p:spPr>
          <a:xfrm>
            <a:off x="6656832" y="1645920"/>
            <a:ext cx="2231136" cy="411480"/>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enforces PERMISSIONS[role]</a:t>
            </a:r>
            <a:endParaRPr lang="en-US" sz="1050" dirty="0"/>
          </a:p>
        </p:txBody>
      </p:sp>
      <p:sp>
        <p:nvSpPr>
          <p:cNvPr id="15" name="Shape 13"/>
          <p:cNvSpPr/>
          <p:nvPr/>
        </p:nvSpPr>
        <p:spPr>
          <a:xfrm>
            <a:off x="9509760" y="1234440"/>
            <a:ext cx="2148840" cy="868680"/>
          </a:xfrm>
          <a:prstGeom prst="rect">
            <a:avLst/>
          </a:prstGeom>
          <a:solidFill>
            <a:srgbClr val="FFFFFF"/>
          </a:solidFill>
          <a:ln w="15875">
            <a:solidFill>
              <a:srgbClr val="0F172A"/>
            </a:solidFill>
            <a:prstDash val="solid"/>
          </a:ln>
        </p:spPr>
      </p:sp>
      <p:sp>
        <p:nvSpPr>
          <p:cNvPr id="16" name="Shape 14"/>
          <p:cNvSpPr/>
          <p:nvPr/>
        </p:nvSpPr>
        <p:spPr>
          <a:xfrm>
            <a:off x="9509760" y="1234440"/>
            <a:ext cx="2148840" cy="384048"/>
          </a:xfrm>
          <a:prstGeom prst="rect">
            <a:avLst/>
          </a:prstGeom>
          <a:solidFill>
            <a:srgbClr val="0F172A"/>
          </a:solidFill>
          <a:ln w="12700">
            <a:solidFill>
              <a:srgbClr val="0F172A"/>
            </a:solidFill>
            <a:prstDash val="solid"/>
          </a:ln>
        </p:spPr>
      </p:sp>
      <p:sp>
        <p:nvSpPr>
          <p:cNvPr id="17" name="Text 15"/>
          <p:cNvSpPr txBox="1"/>
          <p:nvPr/>
        </p:nvSpPr>
        <p:spPr>
          <a:xfrm>
            <a:off x="9509760" y="1234440"/>
            <a:ext cx="2148840" cy="384048"/>
          </a:xfrm>
          <a:prstGeom prst="rect">
            <a:avLst/>
          </a:prstGeom>
          <a:noFill/>
          <a:ln/>
        </p:spPr>
        <p:txBody>
          <a:bodyPr wrap="square" lIns="0" tIns="0" rIns="0" bIns="0" rtlCol="0" anchor="ctr"/>
          <a:lstStyle/>
          <a:p>
            <a:pPr algn="ctr" indent="0" marL="0">
              <a:buNone/>
            </a:pPr>
            <a:r>
              <a:rPr lang="en-US" sz="1300" b="1" dirty="0">
                <a:solidFill>
                  <a:srgbClr val="FFFFFF"/>
                </a:solidFill>
              </a:rPr>
              <a:t>Blackboard</a:t>
            </a:r>
            <a:endParaRPr lang="en-US" sz="1300" dirty="0"/>
          </a:p>
        </p:txBody>
      </p:sp>
      <p:sp>
        <p:nvSpPr>
          <p:cNvPr id="18" name="Text 16"/>
          <p:cNvSpPr txBox="1"/>
          <p:nvPr/>
        </p:nvSpPr>
        <p:spPr>
          <a:xfrm>
            <a:off x="9582912" y="1645920"/>
            <a:ext cx="2002536" cy="411480"/>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SQLite · claim_subtask()</a:t>
            </a:r>
            <a:endParaRPr lang="en-US" sz="1050" dirty="0"/>
          </a:p>
          <a:p>
            <a:pPr indent="0" marL="0">
              <a:buNone/>
            </a:pPr>
            <a:r>
              <a:rPr lang="en-US" sz="1050" dirty="0">
                <a:solidFill>
                  <a:srgbClr val="334155"/>
                </a:solidFill>
                <a:latin typeface="Calibri" pitchFamily="34" charset="0"/>
                <a:ea typeface="Calibri" pitchFamily="34" charset="-122"/>
                <a:cs typeface="Calibri" pitchFamily="34" charset="-120"/>
              </a:rPr>
              <a:t>add_feedback() · log()</a:t>
            </a:r>
            <a:endParaRPr lang="en-US" sz="1050" dirty="0"/>
          </a:p>
        </p:txBody>
      </p:sp>
      <p:sp>
        <p:nvSpPr>
          <p:cNvPr id="19" name="Shape 17"/>
          <p:cNvSpPr/>
          <p:nvPr/>
        </p:nvSpPr>
        <p:spPr>
          <a:xfrm>
            <a:off x="2743200" y="1664208"/>
            <a:ext cx="685800" cy="0"/>
          </a:xfrm>
          <a:prstGeom prst="line">
            <a:avLst/>
          </a:prstGeom>
          <a:noFill/>
          <a:ln w="15875">
            <a:solidFill>
              <a:srgbClr val="475569"/>
            </a:solidFill>
            <a:prstDash val="solid"/>
            <a:headEnd type="diamond"/>
          </a:ln>
        </p:spPr>
      </p:sp>
      <p:sp>
        <p:nvSpPr>
          <p:cNvPr id="20" name="Text 18"/>
          <p:cNvSpPr txBox="1"/>
          <p:nvPr/>
        </p:nvSpPr>
        <p:spPr>
          <a:xfrm>
            <a:off x="3017520" y="1417320"/>
            <a:ext cx="411480" cy="228600"/>
          </a:xfrm>
          <a:prstGeom prst="rect">
            <a:avLst/>
          </a:prstGeom>
          <a:noFill/>
          <a:ln/>
        </p:spPr>
        <p:txBody>
          <a:bodyPr wrap="square" lIns="0" tIns="0" rIns="0" bIns="0" rtlCol="0" anchor="ctr"/>
          <a:lstStyle/>
          <a:p>
            <a:pPr indent="0" marL="0">
              <a:buNone/>
            </a:pPr>
            <a:r>
              <a:rPr lang="en-US" sz="1000" dirty="0">
                <a:solidFill>
                  <a:srgbClr val="64748B"/>
                </a:solidFill>
              </a:rPr>
              <a:t>1..5</a:t>
            </a:r>
            <a:endParaRPr lang="en-US" sz="1000" dirty="0"/>
          </a:p>
        </p:txBody>
      </p:sp>
      <p:sp>
        <p:nvSpPr>
          <p:cNvPr id="21" name="Shape 19"/>
          <p:cNvSpPr/>
          <p:nvPr/>
        </p:nvSpPr>
        <p:spPr>
          <a:xfrm>
            <a:off x="5897880" y="1664208"/>
            <a:ext cx="685800" cy="0"/>
          </a:xfrm>
          <a:prstGeom prst="line">
            <a:avLst/>
          </a:prstGeom>
          <a:noFill/>
          <a:ln w="15875">
            <a:solidFill>
              <a:srgbClr val="475569"/>
            </a:solidFill>
            <a:prstDash val="dash"/>
            <a:tailEnd type="arrow"/>
          </a:ln>
        </p:spPr>
      </p:sp>
      <p:sp>
        <p:nvSpPr>
          <p:cNvPr id="22" name="Text 20"/>
          <p:cNvSpPr txBox="1"/>
          <p:nvPr/>
        </p:nvSpPr>
        <p:spPr>
          <a:xfrm>
            <a:off x="6035040" y="1417320"/>
            <a:ext cx="457200" cy="228600"/>
          </a:xfrm>
          <a:prstGeom prst="rect">
            <a:avLst/>
          </a:prstGeom>
          <a:noFill/>
          <a:ln/>
        </p:spPr>
        <p:txBody>
          <a:bodyPr wrap="square" lIns="0" tIns="0" rIns="0" bIns="0" rtlCol="0" anchor="ctr"/>
          <a:lstStyle/>
          <a:p>
            <a:pPr indent="0" marL="0">
              <a:buNone/>
            </a:pPr>
            <a:r>
              <a:rPr lang="en-US" sz="1000" dirty="0">
                <a:solidFill>
                  <a:srgbClr val="64748B"/>
                </a:solidFill>
              </a:rPr>
              <a:t>uses</a:t>
            </a:r>
            <a:endParaRPr lang="en-US" sz="1000" dirty="0"/>
          </a:p>
        </p:txBody>
      </p:sp>
      <p:sp>
        <p:nvSpPr>
          <p:cNvPr id="23" name="Shape 21"/>
          <p:cNvSpPr/>
          <p:nvPr/>
        </p:nvSpPr>
        <p:spPr>
          <a:xfrm>
            <a:off x="8961120" y="1664208"/>
            <a:ext cx="548640" cy="0"/>
          </a:xfrm>
          <a:prstGeom prst="line">
            <a:avLst/>
          </a:prstGeom>
          <a:noFill/>
          <a:ln w="15875">
            <a:solidFill>
              <a:srgbClr val="475569"/>
            </a:solidFill>
            <a:prstDash val="solid"/>
            <a:tailEnd type="arrow"/>
          </a:ln>
        </p:spPr>
      </p:sp>
      <p:sp>
        <p:nvSpPr>
          <p:cNvPr id="24" name="Shape 22"/>
          <p:cNvSpPr/>
          <p:nvPr/>
        </p:nvSpPr>
        <p:spPr>
          <a:xfrm>
            <a:off x="4663440" y="2103120"/>
            <a:ext cx="0" cy="292608"/>
          </a:xfrm>
          <a:prstGeom prst="line">
            <a:avLst/>
          </a:prstGeom>
          <a:noFill/>
          <a:ln w="15875">
            <a:solidFill>
              <a:srgbClr val="475569"/>
            </a:solidFill>
            <a:prstDash val="solid"/>
            <a:headEnd type="triangle"/>
          </a:ln>
        </p:spPr>
      </p:sp>
      <p:sp>
        <p:nvSpPr>
          <p:cNvPr id="25" name="Shape 23"/>
          <p:cNvSpPr/>
          <p:nvPr/>
        </p:nvSpPr>
        <p:spPr>
          <a:xfrm>
            <a:off x="1600200" y="2395728"/>
            <a:ext cx="8961120" cy="0"/>
          </a:xfrm>
          <a:prstGeom prst="line">
            <a:avLst/>
          </a:prstGeom>
          <a:noFill/>
          <a:ln w="15875">
            <a:solidFill>
              <a:srgbClr val="475569"/>
            </a:solidFill>
            <a:prstDash val="solid"/>
          </a:ln>
        </p:spPr>
      </p:sp>
      <p:sp>
        <p:nvSpPr>
          <p:cNvPr id="26" name="Shape 24"/>
          <p:cNvSpPr/>
          <p:nvPr/>
        </p:nvSpPr>
        <p:spPr>
          <a:xfrm>
            <a:off x="1600200" y="2395728"/>
            <a:ext cx="0" cy="347472"/>
          </a:xfrm>
          <a:prstGeom prst="line">
            <a:avLst/>
          </a:prstGeom>
          <a:noFill/>
          <a:ln w="15875">
            <a:solidFill>
              <a:srgbClr val="475569"/>
            </a:solidFill>
            <a:prstDash val="solid"/>
          </a:ln>
        </p:spPr>
      </p:sp>
      <p:sp>
        <p:nvSpPr>
          <p:cNvPr id="27" name="Shape 25"/>
          <p:cNvSpPr/>
          <p:nvPr/>
        </p:nvSpPr>
        <p:spPr>
          <a:xfrm>
            <a:off x="548640" y="2743200"/>
            <a:ext cx="2103120" cy="868680"/>
          </a:xfrm>
          <a:prstGeom prst="rect">
            <a:avLst/>
          </a:prstGeom>
          <a:solidFill>
            <a:srgbClr val="FFFFFF"/>
          </a:solidFill>
          <a:ln w="15875">
            <a:solidFill>
              <a:srgbClr val="2563EB"/>
            </a:solidFill>
            <a:prstDash val="solid"/>
          </a:ln>
        </p:spPr>
      </p:sp>
      <p:sp>
        <p:nvSpPr>
          <p:cNvPr id="28" name="Shape 26"/>
          <p:cNvSpPr/>
          <p:nvPr/>
        </p:nvSpPr>
        <p:spPr>
          <a:xfrm>
            <a:off x="548640" y="2743200"/>
            <a:ext cx="2103120" cy="384048"/>
          </a:xfrm>
          <a:prstGeom prst="rect">
            <a:avLst/>
          </a:prstGeom>
          <a:solidFill>
            <a:srgbClr val="2563EB"/>
          </a:solidFill>
          <a:ln w="12700">
            <a:solidFill>
              <a:srgbClr val="2563EB"/>
            </a:solidFill>
            <a:prstDash val="solid"/>
          </a:ln>
        </p:spPr>
      </p:sp>
      <p:sp>
        <p:nvSpPr>
          <p:cNvPr id="29" name="Text 27"/>
          <p:cNvSpPr txBox="1"/>
          <p:nvPr/>
        </p:nvSpPr>
        <p:spPr>
          <a:xfrm>
            <a:off x="548640" y="2743200"/>
            <a:ext cx="2103120" cy="384048"/>
          </a:xfrm>
          <a:prstGeom prst="rect">
            <a:avLst/>
          </a:prstGeom>
          <a:noFill/>
          <a:ln/>
        </p:spPr>
        <p:txBody>
          <a:bodyPr wrap="square" lIns="0" tIns="0" rIns="0" bIns="0" rtlCol="0" anchor="ctr"/>
          <a:lstStyle/>
          <a:p>
            <a:pPr algn="ctr" indent="0" marL="0">
              <a:buNone/>
            </a:pPr>
            <a:r>
              <a:rPr lang="en-US" sz="1300" b="1" dirty="0">
                <a:solidFill>
                  <a:srgbClr val="FFFFFF"/>
                </a:solidFill>
              </a:rPr>
              <a:t>PlannerAgent</a:t>
            </a:r>
            <a:endParaRPr lang="en-US" sz="1300" dirty="0"/>
          </a:p>
        </p:txBody>
      </p:sp>
      <p:sp>
        <p:nvSpPr>
          <p:cNvPr id="30" name="Text 28"/>
          <p:cNvSpPr txBox="1"/>
          <p:nvPr/>
        </p:nvSpPr>
        <p:spPr>
          <a:xfrm>
            <a:off x="621792" y="3154680"/>
            <a:ext cx="1956816" cy="411480"/>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_react_step() · _validate()</a:t>
            </a:r>
            <a:endParaRPr lang="en-US" sz="1050" dirty="0"/>
          </a:p>
          <a:p>
            <a:pPr indent="0" marL="0">
              <a:buNone/>
            </a:pPr>
            <a:r>
              <a:rPr lang="en-US" sz="1050" dirty="0">
                <a:solidFill>
                  <a:srgbClr val="334155"/>
                </a:solidFill>
                <a:latin typeface="Calibri" pitchFamily="34" charset="0"/>
                <a:ea typeface="Calibri" pitchFamily="34" charset="-122"/>
                <a:cs typeface="Calibri" pitchFamily="34" charset="-120"/>
              </a:rPr>
              <a:t>⇢ LLMClient</a:t>
            </a:r>
            <a:endParaRPr lang="en-US" sz="1050" dirty="0"/>
          </a:p>
        </p:txBody>
      </p:sp>
      <p:sp>
        <p:nvSpPr>
          <p:cNvPr id="31" name="Shape 29"/>
          <p:cNvSpPr/>
          <p:nvPr/>
        </p:nvSpPr>
        <p:spPr>
          <a:xfrm>
            <a:off x="3840480" y="2395728"/>
            <a:ext cx="0" cy="347472"/>
          </a:xfrm>
          <a:prstGeom prst="line">
            <a:avLst/>
          </a:prstGeom>
          <a:noFill/>
          <a:ln w="15875">
            <a:solidFill>
              <a:srgbClr val="475569"/>
            </a:solidFill>
            <a:prstDash val="solid"/>
          </a:ln>
        </p:spPr>
      </p:sp>
      <p:sp>
        <p:nvSpPr>
          <p:cNvPr id="32" name="Shape 30"/>
          <p:cNvSpPr/>
          <p:nvPr/>
        </p:nvSpPr>
        <p:spPr>
          <a:xfrm>
            <a:off x="2788920" y="2743200"/>
            <a:ext cx="2103120" cy="868680"/>
          </a:xfrm>
          <a:prstGeom prst="rect">
            <a:avLst/>
          </a:prstGeom>
          <a:solidFill>
            <a:srgbClr val="FFFFFF"/>
          </a:solidFill>
          <a:ln w="15875">
            <a:solidFill>
              <a:srgbClr val="16A34A"/>
            </a:solidFill>
            <a:prstDash val="solid"/>
          </a:ln>
        </p:spPr>
      </p:sp>
      <p:sp>
        <p:nvSpPr>
          <p:cNvPr id="33" name="Shape 31"/>
          <p:cNvSpPr/>
          <p:nvPr/>
        </p:nvSpPr>
        <p:spPr>
          <a:xfrm>
            <a:off x="2788920" y="2743200"/>
            <a:ext cx="2103120" cy="384048"/>
          </a:xfrm>
          <a:prstGeom prst="rect">
            <a:avLst/>
          </a:prstGeom>
          <a:solidFill>
            <a:srgbClr val="16A34A"/>
          </a:solidFill>
          <a:ln w="12700">
            <a:solidFill>
              <a:srgbClr val="16A34A"/>
            </a:solidFill>
            <a:prstDash val="solid"/>
          </a:ln>
        </p:spPr>
      </p:sp>
      <p:sp>
        <p:nvSpPr>
          <p:cNvPr id="34" name="Text 32"/>
          <p:cNvSpPr txBox="1"/>
          <p:nvPr/>
        </p:nvSpPr>
        <p:spPr>
          <a:xfrm>
            <a:off x="2788920" y="2743200"/>
            <a:ext cx="2103120" cy="384048"/>
          </a:xfrm>
          <a:prstGeom prst="rect">
            <a:avLst/>
          </a:prstGeom>
          <a:noFill/>
          <a:ln/>
        </p:spPr>
        <p:txBody>
          <a:bodyPr wrap="square" lIns="0" tIns="0" rIns="0" bIns="0" rtlCol="0" anchor="ctr"/>
          <a:lstStyle/>
          <a:p>
            <a:pPr algn="ctr" indent="0" marL="0">
              <a:buNone/>
            </a:pPr>
            <a:r>
              <a:rPr lang="en-US" sz="1300" b="1" dirty="0">
                <a:solidFill>
                  <a:srgbClr val="FFFFFF"/>
                </a:solidFill>
              </a:rPr>
              <a:t>RetrieverAgent</a:t>
            </a:r>
            <a:endParaRPr lang="en-US" sz="1300" dirty="0"/>
          </a:p>
        </p:txBody>
      </p:sp>
      <p:sp>
        <p:nvSpPr>
          <p:cNvPr id="35" name="Text 33"/>
          <p:cNvSpPr txBox="1"/>
          <p:nvPr/>
        </p:nvSpPr>
        <p:spPr>
          <a:xfrm>
            <a:off x="2862072" y="3154680"/>
            <a:ext cx="1956816" cy="411480"/>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search 3 APIs</a:t>
            </a:r>
            <a:endParaRPr lang="en-US" sz="1050" dirty="0"/>
          </a:p>
          <a:p>
            <a:pPr indent="0" marL="0">
              <a:buNone/>
            </a:pPr>
            <a:r>
              <a:rPr lang="en-US" sz="1050" dirty="0">
                <a:solidFill>
                  <a:srgbClr val="334155"/>
                </a:solidFill>
                <a:latin typeface="Calibri" pitchFamily="34" charset="0"/>
                <a:ea typeface="Calibri" pitchFamily="34" charset="-122"/>
                <a:cs typeface="Calibri" pitchFamily="34" charset="-120"/>
              </a:rPr>
              <a:t>⇢ API clients</a:t>
            </a:r>
            <a:endParaRPr lang="en-US" sz="1050" dirty="0"/>
          </a:p>
        </p:txBody>
      </p:sp>
      <p:sp>
        <p:nvSpPr>
          <p:cNvPr id="36" name="Shape 34"/>
          <p:cNvSpPr/>
          <p:nvPr/>
        </p:nvSpPr>
        <p:spPr>
          <a:xfrm>
            <a:off x="6080760" y="2395728"/>
            <a:ext cx="0" cy="347472"/>
          </a:xfrm>
          <a:prstGeom prst="line">
            <a:avLst/>
          </a:prstGeom>
          <a:noFill/>
          <a:ln w="15875">
            <a:solidFill>
              <a:srgbClr val="475569"/>
            </a:solidFill>
            <a:prstDash val="solid"/>
          </a:ln>
        </p:spPr>
      </p:sp>
      <p:sp>
        <p:nvSpPr>
          <p:cNvPr id="37" name="Shape 35"/>
          <p:cNvSpPr/>
          <p:nvPr/>
        </p:nvSpPr>
        <p:spPr>
          <a:xfrm>
            <a:off x="5029200" y="2743200"/>
            <a:ext cx="2103120" cy="868680"/>
          </a:xfrm>
          <a:prstGeom prst="rect">
            <a:avLst/>
          </a:prstGeom>
          <a:solidFill>
            <a:srgbClr val="FFFFFF"/>
          </a:solidFill>
          <a:ln w="15875">
            <a:solidFill>
              <a:srgbClr val="9333EA"/>
            </a:solidFill>
            <a:prstDash val="solid"/>
          </a:ln>
        </p:spPr>
      </p:sp>
      <p:sp>
        <p:nvSpPr>
          <p:cNvPr id="38" name="Shape 36"/>
          <p:cNvSpPr/>
          <p:nvPr/>
        </p:nvSpPr>
        <p:spPr>
          <a:xfrm>
            <a:off x="5029200" y="2743200"/>
            <a:ext cx="2103120" cy="384048"/>
          </a:xfrm>
          <a:prstGeom prst="rect">
            <a:avLst/>
          </a:prstGeom>
          <a:solidFill>
            <a:srgbClr val="9333EA"/>
          </a:solidFill>
          <a:ln w="12700">
            <a:solidFill>
              <a:srgbClr val="9333EA"/>
            </a:solidFill>
            <a:prstDash val="solid"/>
          </a:ln>
        </p:spPr>
      </p:sp>
      <p:sp>
        <p:nvSpPr>
          <p:cNvPr id="39" name="Text 37"/>
          <p:cNvSpPr txBox="1"/>
          <p:nvPr/>
        </p:nvSpPr>
        <p:spPr>
          <a:xfrm>
            <a:off x="5029200" y="2743200"/>
            <a:ext cx="2103120" cy="384048"/>
          </a:xfrm>
          <a:prstGeom prst="rect">
            <a:avLst/>
          </a:prstGeom>
          <a:noFill/>
          <a:ln/>
        </p:spPr>
        <p:txBody>
          <a:bodyPr wrap="square" lIns="0" tIns="0" rIns="0" bIns="0" rtlCol="0" anchor="ctr"/>
          <a:lstStyle/>
          <a:p>
            <a:pPr algn="ctr" indent="0" marL="0">
              <a:buNone/>
            </a:pPr>
            <a:r>
              <a:rPr lang="en-US" sz="1300" b="1" dirty="0">
                <a:solidFill>
                  <a:srgbClr val="FFFFFF"/>
                </a:solidFill>
              </a:rPr>
              <a:t>ProcessorAgent</a:t>
            </a:r>
            <a:endParaRPr lang="en-US" sz="1300" dirty="0"/>
          </a:p>
        </p:txBody>
      </p:sp>
      <p:sp>
        <p:nvSpPr>
          <p:cNvPr id="40" name="Text 38"/>
          <p:cNvSpPr txBox="1"/>
          <p:nvPr/>
        </p:nvSpPr>
        <p:spPr>
          <a:xfrm>
            <a:off x="5102352" y="3154680"/>
            <a:ext cx="1956816" cy="411480"/>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select_sources()</a:t>
            </a:r>
            <a:endParaRPr lang="en-US" sz="1050" dirty="0"/>
          </a:p>
          <a:p>
            <a:pPr indent="0" marL="0">
              <a:buNone/>
            </a:pPr>
            <a:r>
              <a:rPr lang="en-US" sz="1050" dirty="0">
                <a:solidFill>
                  <a:srgbClr val="334155"/>
                </a:solidFill>
                <a:latin typeface="Calibri" pitchFamily="34" charset="0"/>
                <a:ea typeface="Calibri" pitchFamily="34" charset="-122"/>
                <a:cs typeface="Calibri" pitchFamily="34" charset="-120"/>
              </a:rPr>
              <a:t>⇢ LLMClient, Embedder</a:t>
            </a:r>
            <a:endParaRPr lang="en-US" sz="1050" dirty="0"/>
          </a:p>
        </p:txBody>
      </p:sp>
      <p:sp>
        <p:nvSpPr>
          <p:cNvPr id="41" name="Shape 39"/>
          <p:cNvSpPr/>
          <p:nvPr/>
        </p:nvSpPr>
        <p:spPr>
          <a:xfrm>
            <a:off x="8321040" y="2395728"/>
            <a:ext cx="0" cy="347472"/>
          </a:xfrm>
          <a:prstGeom prst="line">
            <a:avLst/>
          </a:prstGeom>
          <a:noFill/>
          <a:ln w="15875">
            <a:solidFill>
              <a:srgbClr val="475569"/>
            </a:solidFill>
            <a:prstDash val="solid"/>
          </a:ln>
        </p:spPr>
      </p:sp>
      <p:sp>
        <p:nvSpPr>
          <p:cNvPr id="42" name="Shape 40"/>
          <p:cNvSpPr/>
          <p:nvPr/>
        </p:nvSpPr>
        <p:spPr>
          <a:xfrm>
            <a:off x="7269480" y="2743200"/>
            <a:ext cx="2103120" cy="868680"/>
          </a:xfrm>
          <a:prstGeom prst="rect">
            <a:avLst/>
          </a:prstGeom>
          <a:solidFill>
            <a:srgbClr val="FFFFFF"/>
          </a:solidFill>
          <a:ln w="15875">
            <a:solidFill>
              <a:srgbClr val="EA580C"/>
            </a:solidFill>
            <a:prstDash val="solid"/>
          </a:ln>
        </p:spPr>
      </p:sp>
      <p:sp>
        <p:nvSpPr>
          <p:cNvPr id="43" name="Shape 41"/>
          <p:cNvSpPr/>
          <p:nvPr/>
        </p:nvSpPr>
        <p:spPr>
          <a:xfrm>
            <a:off x="7269480" y="2743200"/>
            <a:ext cx="2103120" cy="384048"/>
          </a:xfrm>
          <a:prstGeom prst="rect">
            <a:avLst/>
          </a:prstGeom>
          <a:solidFill>
            <a:srgbClr val="EA580C"/>
          </a:solidFill>
          <a:ln w="12700">
            <a:solidFill>
              <a:srgbClr val="EA580C"/>
            </a:solidFill>
            <a:prstDash val="solid"/>
          </a:ln>
        </p:spPr>
      </p:sp>
      <p:sp>
        <p:nvSpPr>
          <p:cNvPr id="44" name="Text 42"/>
          <p:cNvSpPr txBox="1"/>
          <p:nvPr/>
        </p:nvSpPr>
        <p:spPr>
          <a:xfrm>
            <a:off x="7269480" y="2743200"/>
            <a:ext cx="2103120" cy="384048"/>
          </a:xfrm>
          <a:prstGeom prst="rect">
            <a:avLst/>
          </a:prstGeom>
          <a:noFill/>
          <a:ln/>
        </p:spPr>
        <p:txBody>
          <a:bodyPr wrap="square" lIns="0" tIns="0" rIns="0" bIns="0" rtlCol="0" anchor="ctr"/>
          <a:lstStyle/>
          <a:p>
            <a:pPr algn="ctr" indent="0" marL="0">
              <a:buNone/>
            </a:pPr>
            <a:r>
              <a:rPr lang="en-US" sz="1300" b="1" dirty="0">
                <a:solidFill>
                  <a:srgbClr val="FFFFFF"/>
                </a:solidFill>
              </a:rPr>
              <a:t>CriticAgent</a:t>
            </a:r>
            <a:endParaRPr lang="en-US" sz="1300" dirty="0"/>
          </a:p>
        </p:txBody>
      </p:sp>
      <p:sp>
        <p:nvSpPr>
          <p:cNvPr id="45" name="Text 43"/>
          <p:cNvSpPr txBox="1"/>
          <p:nvPr/>
        </p:nvSpPr>
        <p:spPr>
          <a:xfrm>
            <a:off x="7342632" y="3154680"/>
            <a:ext cx="1956816" cy="411480"/>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claim + synthesis checks</a:t>
            </a:r>
            <a:endParaRPr lang="en-US" sz="1050" dirty="0"/>
          </a:p>
          <a:p>
            <a:pPr indent="0" marL="0">
              <a:buNone/>
            </a:pPr>
            <a:r>
              <a:rPr lang="en-US" sz="1050" dirty="0">
                <a:solidFill>
                  <a:srgbClr val="334155"/>
                </a:solidFill>
                <a:latin typeface="Calibri" pitchFamily="34" charset="0"/>
                <a:ea typeface="Calibri" pitchFamily="34" charset="-122"/>
                <a:cs typeface="Calibri" pitchFamily="34" charset="-120"/>
              </a:rPr>
              <a:t>⇢ LLMClient</a:t>
            </a:r>
            <a:endParaRPr lang="en-US" sz="1050" dirty="0"/>
          </a:p>
        </p:txBody>
      </p:sp>
      <p:sp>
        <p:nvSpPr>
          <p:cNvPr id="46" name="Shape 44"/>
          <p:cNvSpPr/>
          <p:nvPr/>
        </p:nvSpPr>
        <p:spPr>
          <a:xfrm>
            <a:off x="10561320" y="2395728"/>
            <a:ext cx="0" cy="347472"/>
          </a:xfrm>
          <a:prstGeom prst="line">
            <a:avLst/>
          </a:prstGeom>
          <a:noFill/>
          <a:ln w="15875">
            <a:solidFill>
              <a:srgbClr val="475569"/>
            </a:solidFill>
            <a:prstDash val="solid"/>
          </a:ln>
        </p:spPr>
      </p:sp>
      <p:sp>
        <p:nvSpPr>
          <p:cNvPr id="47" name="Shape 45"/>
          <p:cNvSpPr/>
          <p:nvPr/>
        </p:nvSpPr>
        <p:spPr>
          <a:xfrm>
            <a:off x="9509760" y="2743200"/>
            <a:ext cx="2103120" cy="868680"/>
          </a:xfrm>
          <a:prstGeom prst="rect">
            <a:avLst/>
          </a:prstGeom>
          <a:solidFill>
            <a:srgbClr val="FFFFFF"/>
          </a:solidFill>
          <a:ln w="15875">
            <a:solidFill>
              <a:srgbClr val="DC2626"/>
            </a:solidFill>
            <a:prstDash val="solid"/>
          </a:ln>
        </p:spPr>
      </p:sp>
      <p:sp>
        <p:nvSpPr>
          <p:cNvPr id="48" name="Shape 46"/>
          <p:cNvSpPr/>
          <p:nvPr/>
        </p:nvSpPr>
        <p:spPr>
          <a:xfrm>
            <a:off x="9509760" y="2743200"/>
            <a:ext cx="2103120" cy="384048"/>
          </a:xfrm>
          <a:prstGeom prst="rect">
            <a:avLst/>
          </a:prstGeom>
          <a:solidFill>
            <a:srgbClr val="DC2626"/>
          </a:solidFill>
          <a:ln w="12700">
            <a:solidFill>
              <a:srgbClr val="DC2626"/>
            </a:solidFill>
            <a:prstDash val="solid"/>
          </a:ln>
        </p:spPr>
      </p:sp>
      <p:sp>
        <p:nvSpPr>
          <p:cNvPr id="49" name="Text 47"/>
          <p:cNvSpPr txBox="1"/>
          <p:nvPr/>
        </p:nvSpPr>
        <p:spPr>
          <a:xfrm>
            <a:off x="9509760" y="2743200"/>
            <a:ext cx="2103120" cy="384048"/>
          </a:xfrm>
          <a:prstGeom prst="rect">
            <a:avLst/>
          </a:prstGeom>
          <a:noFill/>
          <a:ln/>
        </p:spPr>
        <p:txBody>
          <a:bodyPr wrap="square" lIns="0" tIns="0" rIns="0" bIns="0" rtlCol="0" anchor="ctr"/>
          <a:lstStyle/>
          <a:p>
            <a:pPr algn="ctr" indent="0" marL="0">
              <a:buNone/>
            </a:pPr>
            <a:r>
              <a:rPr lang="en-US" sz="1300" b="1" dirty="0">
                <a:solidFill>
                  <a:srgbClr val="FFFFFF"/>
                </a:solidFill>
              </a:rPr>
              <a:t>ArchivistAgent</a:t>
            </a:r>
            <a:endParaRPr lang="en-US" sz="1300" dirty="0"/>
          </a:p>
        </p:txBody>
      </p:sp>
      <p:sp>
        <p:nvSpPr>
          <p:cNvPr id="50" name="Text 48"/>
          <p:cNvSpPr txBox="1"/>
          <p:nvPr/>
        </p:nvSpPr>
        <p:spPr>
          <a:xfrm>
            <a:off x="9582912" y="3154680"/>
            <a:ext cx="1956816" cy="411480"/>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report · BibTeX · index</a:t>
            </a:r>
            <a:endParaRPr lang="en-US" sz="1050" dirty="0"/>
          </a:p>
          <a:p>
            <a:pPr indent="0" marL="0">
              <a:buNone/>
            </a:pPr>
            <a:r>
              <a:rPr lang="en-US" sz="1050" dirty="0">
                <a:solidFill>
                  <a:srgbClr val="334155"/>
                </a:solidFill>
                <a:latin typeface="Calibri" pitchFamily="34" charset="0"/>
                <a:ea typeface="Calibri" pitchFamily="34" charset="-122"/>
                <a:cs typeface="Calibri" pitchFamily="34" charset="-120"/>
              </a:rPr>
              <a:t>⇢ Embedder</a:t>
            </a:r>
            <a:endParaRPr lang="en-US" sz="1050" dirty="0"/>
          </a:p>
        </p:txBody>
      </p:sp>
      <p:sp>
        <p:nvSpPr>
          <p:cNvPr id="51" name="Text 49"/>
          <p:cNvSpPr txBox="1"/>
          <p:nvPr/>
        </p:nvSpPr>
        <p:spPr>
          <a:xfrm>
            <a:off x="4754880" y="2121408"/>
            <a:ext cx="1097280" cy="228600"/>
          </a:xfrm>
          <a:prstGeom prst="rect">
            <a:avLst/>
          </a:prstGeom>
          <a:noFill/>
          <a:ln/>
        </p:spPr>
        <p:txBody>
          <a:bodyPr wrap="square" lIns="0" tIns="0" rIns="0" bIns="0" rtlCol="0" anchor="ctr"/>
          <a:lstStyle/>
          <a:p>
            <a:pPr indent="0" marL="0">
              <a:buNone/>
            </a:pPr>
            <a:r>
              <a:rPr lang="en-US" sz="1000" dirty="0">
                <a:solidFill>
                  <a:srgbClr val="64748B"/>
                </a:solidFill>
              </a:rPr>
              <a:t>generalisation</a:t>
            </a:r>
            <a:endParaRPr lang="en-US" sz="1000" dirty="0"/>
          </a:p>
        </p:txBody>
      </p:sp>
      <p:sp>
        <p:nvSpPr>
          <p:cNvPr id="52" name="Shape 50"/>
          <p:cNvSpPr/>
          <p:nvPr/>
        </p:nvSpPr>
        <p:spPr>
          <a:xfrm>
            <a:off x="548640" y="4160520"/>
            <a:ext cx="4206240" cy="1828800"/>
          </a:xfrm>
          <a:prstGeom prst="rect">
            <a:avLst/>
          </a:prstGeom>
          <a:solidFill>
            <a:srgbClr val="F8FAFC"/>
          </a:solidFill>
          <a:ln w="12700">
            <a:solidFill>
              <a:srgbClr val="CBD5E1"/>
            </a:solidFill>
            <a:prstDash val="dash"/>
          </a:ln>
        </p:spPr>
      </p:sp>
      <p:sp>
        <p:nvSpPr>
          <p:cNvPr id="53" name="Text 51"/>
          <p:cNvSpPr txBox="1"/>
          <p:nvPr/>
        </p:nvSpPr>
        <p:spPr>
          <a:xfrm>
            <a:off x="621792" y="4178808"/>
            <a:ext cx="4114800" cy="228600"/>
          </a:xfrm>
          <a:prstGeom prst="rect">
            <a:avLst/>
          </a:prstGeom>
          <a:noFill/>
          <a:ln/>
        </p:spPr>
        <p:txBody>
          <a:bodyPr wrap="square" lIns="0" tIns="0" rIns="0" bIns="0" rtlCol="0" anchor="ctr"/>
          <a:lstStyle/>
          <a:p>
            <a:pPr indent="0" marL="0">
              <a:buNone/>
            </a:pPr>
            <a:r>
              <a:rPr lang="en-US" sz="1000" i="1" dirty="0">
                <a:solidFill>
                  <a:srgbClr val="64748B"/>
                </a:solidFill>
              </a:rPr>
              <a:t>llm/</a:t>
            </a:r>
            <a:endParaRPr lang="en-US" sz="1000" dirty="0"/>
          </a:p>
        </p:txBody>
      </p:sp>
      <p:sp>
        <p:nvSpPr>
          <p:cNvPr id="54" name="Shape 52"/>
          <p:cNvSpPr/>
          <p:nvPr/>
        </p:nvSpPr>
        <p:spPr>
          <a:xfrm>
            <a:off x="685800" y="4434840"/>
            <a:ext cx="1828800" cy="685800"/>
          </a:xfrm>
          <a:prstGeom prst="rect">
            <a:avLst/>
          </a:prstGeom>
          <a:solidFill>
            <a:srgbClr val="FFFFFF"/>
          </a:solidFill>
          <a:ln w="15875">
            <a:solidFill>
              <a:srgbClr val="0F172A"/>
            </a:solidFill>
            <a:prstDash val="solid"/>
          </a:ln>
        </p:spPr>
      </p:sp>
      <p:sp>
        <p:nvSpPr>
          <p:cNvPr id="55" name="Shape 53"/>
          <p:cNvSpPr/>
          <p:nvPr/>
        </p:nvSpPr>
        <p:spPr>
          <a:xfrm>
            <a:off x="685800" y="4434840"/>
            <a:ext cx="1828800" cy="384048"/>
          </a:xfrm>
          <a:prstGeom prst="rect">
            <a:avLst/>
          </a:prstGeom>
          <a:solidFill>
            <a:srgbClr val="0F172A"/>
          </a:solidFill>
          <a:ln w="12700">
            <a:solidFill>
              <a:srgbClr val="0F172A"/>
            </a:solidFill>
            <a:prstDash val="solid"/>
          </a:ln>
        </p:spPr>
      </p:sp>
      <p:sp>
        <p:nvSpPr>
          <p:cNvPr id="56" name="Text 54"/>
          <p:cNvSpPr txBox="1"/>
          <p:nvPr/>
        </p:nvSpPr>
        <p:spPr>
          <a:xfrm>
            <a:off x="685800" y="4434840"/>
            <a:ext cx="1828800" cy="384048"/>
          </a:xfrm>
          <a:prstGeom prst="rect">
            <a:avLst/>
          </a:prstGeom>
          <a:noFill/>
          <a:ln/>
        </p:spPr>
        <p:txBody>
          <a:bodyPr wrap="square" lIns="0" tIns="0" rIns="0" bIns="0" rtlCol="0" anchor="ctr"/>
          <a:lstStyle/>
          <a:p>
            <a:pPr algn="ctr" indent="0" marL="0">
              <a:buNone/>
            </a:pPr>
            <a:r>
              <a:rPr lang="en-US" sz="1000" b="1" i="1" dirty="0">
                <a:solidFill>
                  <a:srgbClr val="FFFFFF"/>
                </a:solidFill>
              </a:rPr>
              <a:t>«interface» </a:t>
            </a:r>
            <a:pPr algn="ctr" indent="0" marL="0">
              <a:buNone/>
            </a:pPr>
            <a:r>
              <a:rPr lang="en-US" sz="1300" b="1" dirty="0">
                <a:solidFill>
                  <a:srgbClr val="FFFFFF"/>
                </a:solidFill>
              </a:rPr>
              <a:t>LLMClient</a:t>
            </a:r>
            <a:endParaRPr lang="en-US" sz="1300" dirty="0"/>
          </a:p>
        </p:txBody>
      </p:sp>
      <p:sp>
        <p:nvSpPr>
          <p:cNvPr id="57" name="Text 55"/>
          <p:cNvSpPr txBox="1"/>
          <p:nvPr/>
        </p:nvSpPr>
        <p:spPr>
          <a:xfrm>
            <a:off x="758952" y="4846320"/>
            <a:ext cx="1682496" cy="228600"/>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+complete(task, model…)</a:t>
            </a:r>
            <a:endParaRPr lang="en-US" sz="1050" dirty="0"/>
          </a:p>
        </p:txBody>
      </p:sp>
      <p:sp>
        <p:nvSpPr>
          <p:cNvPr id="58" name="Shape 56"/>
          <p:cNvSpPr/>
          <p:nvPr/>
        </p:nvSpPr>
        <p:spPr>
          <a:xfrm>
            <a:off x="2697480" y="4434840"/>
            <a:ext cx="1920240" cy="685800"/>
          </a:xfrm>
          <a:prstGeom prst="rect">
            <a:avLst/>
          </a:prstGeom>
          <a:solidFill>
            <a:srgbClr val="FFFFFF"/>
          </a:solidFill>
          <a:ln w="15875">
            <a:solidFill>
              <a:srgbClr val="0F172A"/>
            </a:solidFill>
            <a:prstDash val="solid"/>
          </a:ln>
        </p:spPr>
      </p:sp>
      <p:sp>
        <p:nvSpPr>
          <p:cNvPr id="59" name="Shape 57"/>
          <p:cNvSpPr/>
          <p:nvPr/>
        </p:nvSpPr>
        <p:spPr>
          <a:xfrm>
            <a:off x="2697480" y="4434840"/>
            <a:ext cx="1920240" cy="384048"/>
          </a:xfrm>
          <a:prstGeom prst="rect">
            <a:avLst/>
          </a:prstGeom>
          <a:solidFill>
            <a:srgbClr val="0F172A"/>
          </a:solidFill>
          <a:ln w="12700">
            <a:solidFill>
              <a:srgbClr val="0F172A"/>
            </a:solidFill>
            <a:prstDash val="solid"/>
          </a:ln>
        </p:spPr>
      </p:sp>
      <p:sp>
        <p:nvSpPr>
          <p:cNvPr id="60" name="Text 58"/>
          <p:cNvSpPr txBox="1"/>
          <p:nvPr/>
        </p:nvSpPr>
        <p:spPr>
          <a:xfrm>
            <a:off x="2697480" y="4434840"/>
            <a:ext cx="1920240" cy="384048"/>
          </a:xfrm>
          <a:prstGeom prst="rect">
            <a:avLst/>
          </a:prstGeom>
          <a:noFill/>
          <a:ln/>
        </p:spPr>
        <p:txBody>
          <a:bodyPr wrap="square" lIns="0" tIns="0" rIns="0" bIns="0" rtlCol="0" anchor="ctr"/>
          <a:lstStyle/>
          <a:p>
            <a:pPr algn="ctr" indent="0" marL="0">
              <a:buNone/>
            </a:pPr>
            <a:r>
              <a:rPr lang="en-US" sz="1300" b="1" dirty="0">
                <a:solidFill>
                  <a:srgbClr val="FFFFFF"/>
                </a:solidFill>
              </a:rPr>
              <a:t>OpenAICompatible</a:t>
            </a:r>
            <a:endParaRPr lang="en-US" sz="1300" dirty="0"/>
          </a:p>
        </p:txBody>
      </p:sp>
      <p:sp>
        <p:nvSpPr>
          <p:cNvPr id="61" name="Text 59"/>
          <p:cNvSpPr txBox="1"/>
          <p:nvPr/>
        </p:nvSpPr>
        <p:spPr>
          <a:xfrm>
            <a:off x="2770632" y="4846320"/>
            <a:ext cx="1773936" cy="228600"/>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Groq · fallbacks</a:t>
            </a:r>
            <a:endParaRPr lang="en-US" sz="1050" dirty="0"/>
          </a:p>
        </p:txBody>
      </p:sp>
      <p:sp>
        <p:nvSpPr>
          <p:cNvPr id="62" name="Shape 60"/>
          <p:cNvSpPr/>
          <p:nvPr/>
        </p:nvSpPr>
        <p:spPr>
          <a:xfrm>
            <a:off x="685800" y="5212080"/>
            <a:ext cx="1828800" cy="685800"/>
          </a:xfrm>
          <a:prstGeom prst="rect">
            <a:avLst/>
          </a:prstGeom>
          <a:solidFill>
            <a:srgbClr val="FFFFFF"/>
          </a:solidFill>
          <a:ln w="15875">
            <a:solidFill>
              <a:srgbClr val="0F172A"/>
            </a:solidFill>
            <a:prstDash val="solid"/>
          </a:ln>
        </p:spPr>
      </p:sp>
      <p:sp>
        <p:nvSpPr>
          <p:cNvPr id="63" name="Shape 61"/>
          <p:cNvSpPr/>
          <p:nvPr/>
        </p:nvSpPr>
        <p:spPr>
          <a:xfrm>
            <a:off x="685800" y="5212080"/>
            <a:ext cx="1828800" cy="384048"/>
          </a:xfrm>
          <a:prstGeom prst="rect">
            <a:avLst/>
          </a:prstGeom>
          <a:solidFill>
            <a:srgbClr val="0F172A"/>
          </a:solidFill>
          <a:ln w="12700">
            <a:solidFill>
              <a:srgbClr val="0F172A"/>
            </a:solidFill>
            <a:prstDash val="solid"/>
          </a:ln>
        </p:spPr>
      </p:sp>
      <p:sp>
        <p:nvSpPr>
          <p:cNvPr id="64" name="Text 62"/>
          <p:cNvSpPr txBox="1"/>
          <p:nvPr/>
        </p:nvSpPr>
        <p:spPr>
          <a:xfrm>
            <a:off x="685800" y="5212080"/>
            <a:ext cx="1828800" cy="384048"/>
          </a:xfrm>
          <a:prstGeom prst="rect">
            <a:avLst/>
          </a:prstGeom>
          <a:noFill/>
          <a:ln/>
        </p:spPr>
        <p:txBody>
          <a:bodyPr wrap="square" lIns="0" tIns="0" rIns="0" bIns="0" rtlCol="0" anchor="ctr"/>
          <a:lstStyle/>
          <a:p>
            <a:pPr algn="ctr" indent="0" marL="0">
              <a:buNone/>
            </a:pPr>
            <a:r>
              <a:rPr lang="en-US" sz="1300" b="1" dirty="0">
                <a:solidFill>
                  <a:srgbClr val="FFFFFF"/>
                </a:solidFill>
              </a:rPr>
              <a:t>MockLLM</a:t>
            </a:r>
            <a:endParaRPr lang="en-US" sz="1300" dirty="0"/>
          </a:p>
        </p:txBody>
      </p:sp>
      <p:sp>
        <p:nvSpPr>
          <p:cNvPr id="65" name="Text 63"/>
          <p:cNvSpPr txBox="1"/>
          <p:nvPr/>
        </p:nvSpPr>
        <p:spPr>
          <a:xfrm>
            <a:off x="758952" y="5623560"/>
            <a:ext cx="1682496" cy="228600"/>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deterministic rules</a:t>
            </a:r>
            <a:endParaRPr lang="en-US" sz="1050" dirty="0"/>
          </a:p>
        </p:txBody>
      </p:sp>
      <p:sp>
        <p:nvSpPr>
          <p:cNvPr id="66" name="Shape 64"/>
          <p:cNvSpPr/>
          <p:nvPr/>
        </p:nvSpPr>
        <p:spPr>
          <a:xfrm>
            <a:off x="2697480" y="5212080"/>
            <a:ext cx="1920240" cy="685800"/>
          </a:xfrm>
          <a:prstGeom prst="rect">
            <a:avLst/>
          </a:prstGeom>
          <a:solidFill>
            <a:srgbClr val="FFFFFF"/>
          </a:solidFill>
          <a:ln w="15875">
            <a:solidFill>
              <a:srgbClr val="0F172A"/>
            </a:solidFill>
            <a:prstDash val="solid"/>
          </a:ln>
        </p:spPr>
      </p:sp>
      <p:sp>
        <p:nvSpPr>
          <p:cNvPr id="67" name="Shape 65"/>
          <p:cNvSpPr/>
          <p:nvPr/>
        </p:nvSpPr>
        <p:spPr>
          <a:xfrm>
            <a:off x="2697480" y="5212080"/>
            <a:ext cx="1920240" cy="384048"/>
          </a:xfrm>
          <a:prstGeom prst="rect">
            <a:avLst/>
          </a:prstGeom>
          <a:solidFill>
            <a:srgbClr val="0F172A"/>
          </a:solidFill>
          <a:ln w="12700">
            <a:solidFill>
              <a:srgbClr val="0F172A"/>
            </a:solidFill>
            <a:prstDash val="solid"/>
          </a:ln>
        </p:spPr>
      </p:sp>
      <p:sp>
        <p:nvSpPr>
          <p:cNvPr id="68" name="Text 66"/>
          <p:cNvSpPr txBox="1"/>
          <p:nvPr/>
        </p:nvSpPr>
        <p:spPr>
          <a:xfrm>
            <a:off x="2697480" y="5212080"/>
            <a:ext cx="1920240" cy="384048"/>
          </a:xfrm>
          <a:prstGeom prst="rect">
            <a:avLst/>
          </a:prstGeom>
          <a:noFill/>
          <a:ln/>
        </p:spPr>
        <p:txBody>
          <a:bodyPr wrap="square" lIns="0" tIns="0" rIns="0" bIns="0" rtlCol="0" anchor="ctr"/>
          <a:lstStyle/>
          <a:p>
            <a:pPr algn="ctr" indent="0" marL="0">
              <a:buNone/>
            </a:pPr>
            <a:r>
              <a:rPr lang="en-US" sz="1300" b="1" dirty="0">
                <a:solidFill>
                  <a:srgbClr val="FFFFFF"/>
                </a:solidFill>
              </a:rPr>
              <a:t>ScriptedLLM</a:t>
            </a:r>
            <a:endParaRPr lang="en-US" sz="1300" dirty="0"/>
          </a:p>
        </p:txBody>
      </p:sp>
      <p:sp>
        <p:nvSpPr>
          <p:cNvPr id="69" name="Text 67"/>
          <p:cNvSpPr txBox="1"/>
          <p:nvPr/>
        </p:nvSpPr>
        <p:spPr>
          <a:xfrm>
            <a:off x="2770632" y="5623560"/>
            <a:ext cx="1773936" cy="228600"/>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forces failure paths</a:t>
            </a:r>
            <a:endParaRPr lang="en-US" sz="1050" dirty="0"/>
          </a:p>
        </p:txBody>
      </p:sp>
      <p:sp>
        <p:nvSpPr>
          <p:cNvPr id="70" name="Shape 68"/>
          <p:cNvSpPr/>
          <p:nvPr/>
        </p:nvSpPr>
        <p:spPr>
          <a:xfrm>
            <a:off x="4937760" y="4160520"/>
            <a:ext cx="2194560" cy="1828800"/>
          </a:xfrm>
          <a:prstGeom prst="rect">
            <a:avLst/>
          </a:prstGeom>
          <a:solidFill>
            <a:srgbClr val="F8FAFC"/>
          </a:solidFill>
          <a:ln w="12700">
            <a:solidFill>
              <a:srgbClr val="CBD5E1"/>
            </a:solidFill>
            <a:prstDash val="dash"/>
          </a:ln>
        </p:spPr>
      </p:sp>
      <p:sp>
        <p:nvSpPr>
          <p:cNvPr id="71" name="Text 69"/>
          <p:cNvSpPr txBox="1"/>
          <p:nvPr/>
        </p:nvSpPr>
        <p:spPr>
          <a:xfrm>
            <a:off x="5010912" y="4178808"/>
            <a:ext cx="2103120" cy="228600"/>
          </a:xfrm>
          <a:prstGeom prst="rect">
            <a:avLst/>
          </a:prstGeom>
          <a:noFill/>
          <a:ln/>
        </p:spPr>
        <p:txBody>
          <a:bodyPr wrap="square" lIns="0" tIns="0" rIns="0" bIns="0" rtlCol="0" anchor="ctr"/>
          <a:lstStyle/>
          <a:p>
            <a:pPr indent="0" marL="0">
              <a:buNone/>
            </a:pPr>
            <a:r>
              <a:rPr lang="en-US" sz="1000" i="1" dirty="0">
                <a:solidFill>
                  <a:srgbClr val="64748B"/>
                </a:solidFill>
              </a:rPr>
              <a:t>embeddings.py</a:t>
            </a:r>
            <a:endParaRPr lang="en-US" sz="1000" dirty="0"/>
          </a:p>
        </p:txBody>
      </p:sp>
      <p:sp>
        <p:nvSpPr>
          <p:cNvPr id="72" name="Shape 70"/>
          <p:cNvSpPr/>
          <p:nvPr/>
        </p:nvSpPr>
        <p:spPr>
          <a:xfrm>
            <a:off x="5074920" y="4434840"/>
            <a:ext cx="1920240" cy="685800"/>
          </a:xfrm>
          <a:prstGeom prst="rect">
            <a:avLst/>
          </a:prstGeom>
          <a:solidFill>
            <a:srgbClr val="FFFFFF"/>
          </a:solidFill>
          <a:ln w="15875">
            <a:solidFill>
              <a:srgbClr val="0F172A"/>
            </a:solidFill>
            <a:prstDash val="solid"/>
          </a:ln>
        </p:spPr>
      </p:sp>
      <p:sp>
        <p:nvSpPr>
          <p:cNvPr id="73" name="Shape 71"/>
          <p:cNvSpPr/>
          <p:nvPr/>
        </p:nvSpPr>
        <p:spPr>
          <a:xfrm>
            <a:off x="5074920" y="4434840"/>
            <a:ext cx="1920240" cy="384048"/>
          </a:xfrm>
          <a:prstGeom prst="rect">
            <a:avLst/>
          </a:prstGeom>
          <a:solidFill>
            <a:srgbClr val="0F172A"/>
          </a:solidFill>
          <a:ln w="12700">
            <a:solidFill>
              <a:srgbClr val="0F172A"/>
            </a:solidFill>
            <a:prstDash val="solid"/>
          </a:ln>
        </p:spPr>
      </p:sp>
      <p:sp>
        <p:nvSpPr>
          <p:cNvPr id="74" name="Text 72"/>
          <p:cNvSpPr txBox="1"/>
          <p:nvPr/>
        </p:nvSpPr>
        <p:spPr>
          <a:xfrm>
            <a:off x="5074920" y="4434840"/>
            <a:ext cx="1920240" cy="384048"/>
          </a:xfrm>
          <a:prstGeom prst="rect">
            <a:avLst/>
          </a:prstGeom>
          <a:noFill/>
          <a:ln/>
        </p:spPr>
        <p:txBody>
          <a:bodyPr wrap="square" lIns="0" tIns="0" rIns="0" bIns="0" rtlCol="0" anchor="ctr"/>
          <a:lstStyle/>
          <a:p>
            <a:pPr algn="ctr" indent="0" marL="0">
              <a:buNone/>
            </a:pPr>
            <a:r>
              <a:rPr lang="en-US" sz="1000" b="1" i="1" dirty="0">
                <a:solidFill>
                  <a:srgbClr val="FFFFFF"/>
                </a:solidFill>
              </a:rPr>
              <a:t>«interface» </a:t>
            </a:r>
            <a:pPr algn="ctr" indent="0" marL="0">
              <a:buNone/>
            </a:pPr>
            <a:r>
              <a:rPr lang="en-US" sz="1300" b="1" dirty="0">
                <a:solidFill>
                  <a:srgbClr val="FFFFFF"/>
                </a:solidFill>
              </a:rPr>
              <a:t>Embedder</a:t>
            </a:r>
            <a:endParaRPr lang="en-US" sz="1300" dirty="0"/>
          </a:p>
        </p:txBody>
      </p:sp>
      <p:sp>
        <p:nvSpPr>
          <p:cNvPr id="75" name="Text 73"/>
          <p:cNvSpPr txBox="1"/>
          <p:nvPr/>
        </p:nvSpPr>
        <p:spPr>
          <a:xfrm>
            <a:off x="5148072" y="4846320"/>
            <a:ext cx="1773936" cy="228600"/>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+embed(texts)</a:t>
            </a:r>
            <a:endParaRPr lang="en-US" sz="1050" dirty="0"/>
          </a:p>
        </p:txBody>
      </p:sp>
      <p:sp>
        <p:nvSpPr>
          <p:cNvPr id="76" name="Shape 74"/>
          <p:cNvSpPr/>
          <p:nvPr/>
        </p:nvSpPr>
        <p:spPr>
          <a:xfrm>
            <a:off x="5074920" y="5212080"/>
            <a:ext cx="1920240" cy="685800"/>
          </a:xfrm>
          <a:prstGeom prst="rect">
            <a:avLst/>
          </a:prstGeom>
          <a:solidFill>
            <a:srgbClr val="FFFFFF"/>
          </a:solidFill>
          <a:ln w="15875">
            <a:solidFill>
              <a:srgbClr val="0F172A"/>
            </a:solidFill>
            <a:prstDash val="solid"/>
          </a:ln>
        </p:spPr>
      </p:sp>
      <p:sp>
        <p:nvSpPr>
          <p:cNvPr id="77" name="Shape 75"/>
          <p:cNvSpPr/>
          <p:nvPr/>
        </p:nvSpPr>
        <p:spPr>
          <a:xfrm>
            <a:off x="5074920" y="5212080"/>
            <a:ext cx="1920240" cy="384048"/>
          </a:xfrm>
          <a:prstGeom prst="rect">
            <a:avLst/>
          </a:prstGeom>
          <a:solidFill>
            <a:srgbClr val="0F172A"/>
          </a:solidFill>
          <a:ln w="12700">
            <a:solidFill>
              <a:srgbClr val="0F172A"/>
            </a:solidFill>
            <a:prstDash val="solid"/>
          </a:ln>
        </p:spPr>
      </p:sp>
      <p:sp>
        <p:nvSpPr>
          <p:cNvPr id="78" name="Text 76"/>
          <p:cNvSpPr txBox="1"/>
          <p:nvPr/>
        </p:nvSpPr>
        <p:spPr>
          <a:xfrm>
            <a:off x="5074920" y="5212080"/>
            <a:ext cx="1920240" cy="384048"/>
          </a:xfrm>
          <a:prstGeom prst="rect">
            <a:avLst/>
          </a:prstGeom>
          <a:noFill/>
          <a:ln/>
        </p:spPr>
        <p:txBody>
          <a:bodyPr wrap="square" lIns="0" tIns="0" rIns="0" bIns="0" rtlCol="0" anchor="ctr"/>
          <a:lstStyle/>
          <a:p>
            <a:pPr algn="ctr" indent="0" marL="0">
              <a:buNone/>
            </a:pPr>
            <a:r>
              <a:rPr lang="en-US" sz="1300" b="1" dirty="0">
                <a:solidFill>
                  <a:srgbClr val="FFFFFF"/>
                </a:solidFill>
              </a:rPr>
              <a:t>MiniLM · Hashing</a:t>
            </a:r>
            <a:endParaRPr lang="en-US" sz="1300" dirty="0"/>
          </a:p>
        </p:txBody>
      </p:sp>
      <p:sp>
        <p:nvSpPr>
          <p:cNvPr id="79" name="Text 77"/>
          <p:cNvSpPr txBox="1"/>
          <p:nvPr/>
        </p:nvSpPr>
        <p:spPr>
          <a:xfrm>
            <a:off x="5148072" y="5623560"/>
            <a:ext cx="1773936" cy="228600"/>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local · offline tests</a:t>
            </a:r>
            <a:endParaRPr lang="en-US" sz="1050" dirty="0"/>
          </a:p>
        </p:txBody>
      </p:sp>
      <p:sp>
        <p:nvSpPr>
          <p:cNvPr id="80" name="Shape 78"/>
          <p:cNvSpPr/>
          <p:nvPr/>
        </p:nvSpPr>
        <p:spPr>
          <a:xfrm>
            <a:off x="7315200" y="4160520"/>
            <a:ext cx="2926080" cy="1828800"/>
          </a:xfrm>
          <a:prstGeom prst="rect">
            <a:avLst/>
          </a:prstGeom>
          <a:solidFill>
            <a:srgbClr val="F8FAFC"/>
          </a:solidFill>
          <a:ln w="12700">
            <a:solidFill>
              <a:srgbClr val="CBD5E1"/>
            </a:solidFill>
            <a:prstDash val="dash"/>
          </a:ln>
        </p:spPr>
      </p:sp>
      <p:sp>
        <p:nvSpPr>
          <p:cNvPr id="81" name="Text 79"/>
          <p:cNvSpPr txBox="1"/>
          <p:nvPr/>
        </p:nvSpPr>
        <p:spPr>
          <a:xfrm>
            <a:off x="7388352" y="4178808"/>
            <a:ext cx="2834640" cy="228600"/>
          </a:xfrm>
          <a:prstGeom prst="rect">
            <a:avLst/>
          </a:prstGeom>
          <a:noFill/>
          <a:ln/>
        </p:spPr>
        <p:txBody>
          <a:bodyPr wrap="square" lIns="0" tIns="0" rIns="0" bIns="0" rtlCol="0" anchor="ctr"/>
          <a:lstStyle/>
          <a:p>
            <a:pPr indent="0" marL="0">
              <a:buNone/>
            </a:pPr>
            <a:r>
              <a:rPr lang="en-US" sz="1000" i="1" dirty="0">
                <a:solidFill>
                  <a:srgbClr val="64748B"/>
                </a:solidFill>
              </a:rPr>
              <a:t>sources/</a:t>
            </a:r>
            <a:endParaRPr lang="en-US" sz="1000" dirty="0"/>
          </a:p>
        </p:txBody>
      </p:sp>
      <p:sp>
        <p:nvSpPr>
          <p:cNvPr id="82" name="Shape 80"/>
          <p:cNvSpPr/>
          <p:nvPr/>
        </p:nvSpPr>
        <p:spPr>
          <a:xfrm>
            <a:off x="7452360" y="4434840"/>
            <a:ext cx="2651760" cy="685800"/>
          </a:xfrm>
          <a:prstGeom prst="rect">
            <a:avLst/>
          </a:prstGeom>
          <a:solidFill>
            <a:srgbClr val="FFFFFF"/>
          </a:solidFill>
          <a:ln w="15875">
            <a:solidFill>
              <a:srgbClr val="0F172A"/>
            </a:solidFill>
            <a:prstDash val="solid"/>
          </a:ln>
        </p:spPr>
      </p:sp>
      <p:sp>
        <p:nvSpPr>
          <p:cNvPr id="83" name="Shape 81"/>
          <p:cNvSpPr/>
          <p:nvPr/>
        </p:nvSpPr>
        <p:spPr>
          <a:xfrm>
            <a:off x="7452360" y="4434840"/>
            <a:ext cx="2651760" cy="384048"/>
          </a:xfrm>
          <a:prstGeom prst="rect">
            <a:avLst/>
          </a:prstGeom>
          <a:solidFill>
            <a:srgbClr val="0F172A"/>
          </a:solidFill>
          <a:ln w="12700">
            <a:solidFill>
              <a:srgbClr val="0F172A"/>
            </a:solidFill>
            <a:prstDash val="solid"/>
          </a:ln>
        </p:spPr>
      </p:sp>
      <p:sp>
        <p:nvSpPr>
          <p:cNvPr id="84" name="Text 82"/>
          <p:cNvSpPr txBox="1"/>
          <p:nvPr/>
        </p:nvSpPr>
        <p:spPr>
          <a:xfrm>
            <a:off x="7452360" y="4434840"/>
            <a:ext cx="2651760" cy="384048"/>
          </a:xfrm>
          <a:prstGeom prst="rect">
            <a:avLst/>
          </a:prstGeom>
          <a:noFill/>
          <a:ln/>
        </p:spPr>
        <p:txBody>
          <a:bodyPr wrap="square" lIns="0" tIns="0" rIns="0" bIns="0" rtlCol="0" anchor="ctr"/>
          <a:lstStyle/>
          <a:p>
            <a:pPr algn="ctr" indent="0" marL="0">
              <a:buNone/>
            </a:pPr>
            <a:r>
              <a:rPr lang="en-US" sz="1300" b="1" dirty="0">
                <a:solidFill>
                  <a:srgbClr val="FFFFFF"/>
                </a:solidFill>
              </a:rPr>
              <a:t>ScholarlyHTTP</a:t>
            </a:r>
            <a:endParaRPr lang="en-US" sz="1300" dirty="0"/>
          </a:p>
        </p:txBody>
      </p:sp>
      <p:sp>
        <p:nvSpPr>
          <p:cNvPr id="85" name="Text 83"/>
          <p:cNvSpPr txBox="1"/>
          <p:nvPr/>
        </p:nvSpPr>
        <p:spPr>
          <a:xfrm>
            <a:off x="7525512" y="4846320"/>
            <a:ext cx="2505456" cy="228600"/>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rate limits · cache · retries</a:t>
            </a:r>
            <a:endParaRPr lang="en-US" sz="1050" dirty="0"/>
          </a:p>
        </p:txBody>
      </p:sp>
      <p:sp>
        <p:nvSpPr>
          <p:cNvPr id="86" name="Shape 84"/>
          <p:cNvSpPr/>
          <p:nvPr/>
        </p:nvSpPr>
        <p:spPr>
          <a:xfrm>
            <a:off x="7452360" y="5212080"/>
            <a:ext cx="2651760" cy="685800"/>
          </a:xfrm>
          <a:prstGeom prst="rect">
            <a:avLst/>
          </a:prstGeom>
          <a:solidFill>
            <a:srgbClr val="FFFFFF"/>
          </a:solidFill>
          <a:ln w="15875">
            <a:solidFill>
              <a:srgbClr val="0F172A"/>
            </a:solidFill>
            <a:prstDash val="solid"/>
          </a:ln>
        </p:spPr>
      </p:sp>
      <p:sp>
        <p:nvSpPr>
          <p:cNvPr id="87" name="Shape 85"/>
          <p:cNvSpPr/>
          <p:nvPr/>
        </p:nvSpPr>
        <p:spPr>
          <a:xfrm>
            <a:off x="7452360" y="5212080"/>
            <a:ext cx="2651760" cy="384048"/>
          </a:xfrm>
          <a:prstGeom prst="rect">
            <a:avLst/>
          </a:prstGeom>
          <a:solidFill>
            <a:srgbClr val="0F172A"/>
          </a:solidFill>
          <a:ln w="12700">
            <a:solidFill>
              <a:srgbClr val="0F172A"/>
            </a:solidFill>
            <a:prstDash val="solid"/>
          </a:ln>
        </p:spPr>
      </p:sp>
      <p:sp>
        <p:nvSpPr>
          <p:cNvPr id="88" name="Text 86"/>
          <p:cNvSpPr txBox="1"/>
          <p:nvPr/>
        </p:nvSpPr>
        <p:spPr>
          <a:xfrm>
            <a:off x="7452360" y="5212080"/>
            <a:ext cx="2651760" cy="384048"/>
          </a:xfrm>
          <a:prstGeom prst="rect">
            <a:avLst/>
          </a:prstGeom>
          <a:noFill/>
          <a:ln/>
        </p:spPr>
        <p:txBody>
          <a:bodyPr wrap="square" lIns="0" tIns="0" rIns="0" bIns="0" rtlCol="0" anchor="ctr"/>
          <a:lstStyle/>
          <a:p>
            <a:pPr algn="ctr" indent="0" marL="0">
              <a:buNone/>
            </a:pPr>
            <a:r>
              <a:rPr lang="en-US" sz="1300" b="1" dirty="0">
                <a:solidFill>
                  <a:srgbClr val="FFFFFF"/>
                </a:solidFill>
              </a:rPr>
              <a:t>Arxiv · OpenAlex · Crossref</a:t>
            </a:r>
            <a:endParaRPr lang="en-US" sz="1300" dirty="0"/>
          </a:p>
        </p:txBody>
      </p:sp>
      <p:sp>
        <p:nvSpPr>
          <p:cNvPr id="89" name="Text 87"/>
          <p:cNvSpPr txBox="1"/>
          <p:nvPr/>
        </p:nvSpPr>
        <p:spPr>
          <a:xfrm>
            <a:off x="7525512" y="5623560"/>
            <a:ext cx="2505456" cy="228600"/>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parse → common record</a:t>
            </a:r>
            <a:endParaRPr lang="en-US" sz="1050" dirty="0"/>
          </a:p>
        </p:txBody>
      </p:sp>
      <p:sp>
        <p:nvSpPr>
          <p:cNvPr id="90" name="Shape 88"/>
          <p:cNvSpPr/>
          <p:nvPr/>
        </p:nvSpPr>
        <p:spPr>
          <a:xfrm>
            <a:off x="10424160" y="4434840"/>
            <a:ext cx="1234440" cy="1463040"/>
          </a:xfrm>
          <a:prstGeom prst="rect">
            <a:avLst/>
          </a:prstGeom>
          <a:solidFill>
            <a:srgbClr val="FFFFFF"/>
          </a:solidFill>
          <a:ln w="15875">
            <a:solidFill>
              <a:srgbClr val="0F172A"/>
            </a:solidFill>
            <a:prstDash val="solid"/>
          </a:ln>
        </p:spPr>
      </p:sp>
      <p:sp>
        <p:nvSpPr>
          <p:cNvPr id="91" name="Shape 89"/>
          <p:cNvSpPr/>
          <p:nvPr/>
        </p:nvSpPr>
        <p:spPr>
          <a:xfrm>
            <a:off x="10424160" y="4434840"/>
            <a:ext cx="1234440" cy="384048"/>
          </a:xfrm>
          <a:prstGeom prst="rect">
            <a:avLst/>
          </a:prstGeom>
          <a:solidFill>
            <a:srgbClr val="0F172A"/>
          </a:solidFill>
          <a:ln w="12700">
            <a:solidFill>
              <a:srgbClr val="0F172A"/>
            </a:solidFill>
            <a:prstDash val="solid"/>
          </a:ln>
        </p:spPr>
      </p:sp>
      <p:sp>
        <p:nvSpPr>
          <p:cNvPr id="92" name="Text 90"/>
          <p:cNvSpPr txBox="1"/>
          <p:nvPr/>
        </p:nvSpPr>
        <p:spPr>
          <a:xfrm>
            <a:off x="10424160" y="4434840"/>
            <a:ext cx="1234440" cy="384048"/>
          </a:xfrm>
          <a:prstGeom prst="rect">
            <a:avLst/>
          </a:prstGeom>
          <a:noFill/>
          <a:ln/>
        </p:spPr>
        <p:txBody>
          <a:bodyPr wrap="square" lIns="0" tIns="0" rIns="0" bIns="0" rtlCol="0" anchor="ctr"/>
          <a:lstStyle/>
          <a:p>
            <a:pPr algn="ctr" indent="0" marL="0">
              <a:buNone/>
            </a:pPr>
            <a:r>
              <a:rPr lang="en-US" sz="1000" b="1" i="1" dirty="0">
                <a:solidFill>
                  <a:srgbClr val="FFFFFF"/>
                </a:solidFill>
              </a:rPr>
              <a:t>«frozen» </a:t>
            </a:r>
            <a:pPr algn="ctr" indent="0" marL="0">
              <a:buNone/>
            </a:pPr>
            <a:r>
              <a:rPr lang="en-US" sz="1300" b="1" dirty="0">
                <a:solidFill>
                  <a:srgbClr val="FFFFFF"/>
                </a:solidFill>
              </a:rPr>
              <a:t>Settings</a:t>
            </a:r>
            <a:endParaRPr lang="en-US" sz="1300" dirty="0"/>
          </a:p>
        </p:txBody>
      </p:sp>
      <p:sp>
        <p:nvSpPr>
          <p:cNvPr id="93" name="Text 91"/>
          <p:cNvSpPr txBox="1"/>
          <p:nvPr/>
        </p:nvSpPr>
        <p:spPr>
          <a:xfrm>
            <a:off x="10497312" y="4846320"/>
            <a:ext cx="1088136" cy="1005840"/>
          </a:xfrm>
          <a:prstGeom prst="rect">
            <a:avLst/>
          </a:prstGeom>
          <a:noFill/>
          <a:ln/>
        </p:spPr>
        <p:txBody>
          <a:bodyPr wrap="square" lIns="0" tIns="0" rIns="0" bIns="0" rtlCol="0" anchor="t"/>
          <a:lstStyle/>
          <a:p>
            <a:pPr indent="0" marL="0">
              <a:buNone/>
            </a:pPr>
            <a:r>
              <a:rPr lang="en-US" sz="1050" dirty="0">
                <a:solidFill>
                  <a:srgbClr val="334155"/>
                </a:solidFill>
                <a:latin typeface="Calibri" pitchFamily="34" charset="0"/>
                <a:ea typeface="Calibri" pitchFamily="34" charset="-122"/>
                <a:cs typeface="Calibri" pitchFamily="34" charset="-120"/>
              </a:rPr>
              <a:t>all thresholds, budgets, models</a:t>
            </a:r>
            <a:endParaRPr lang="en-US" sz="1050" dirty="0"/>
          </a:p>
        </p:txBody>
      </p:sp>
      <p:sp>
        <p:nvSpPr>
          <p:cNvPr id="94" name="Text 92"/>
          <p:cNvSpPr txBox="1"/>
          <p:nvPr/>
        </p:nvSpPr>
        <p:spPr>
          <a:xfrm>
            <a:off x="548640" y="6108192"/>
            <a:ext cx="11064240" cy="274320"/>
          </a:xfrm>
          <a:prstGeom prst="rect">
            <a:avLst/>
          </a:prstGeom>
          <a:noFill/>
          <a:ln/>
        </p:spPr>
        <p:txBody>
          <a:bodyPr wrap="square" lIns="0" tIns="0" rIns="0" bIns="0" rtlCol="0" anchor="ctr"/>
          <a:lstStyle/>
          <a:p>
            <a:pPr indent="0" marL="0">
              <a:buNone/>
            </a:pPr>
            <a:r>
              <a:rPr lang="en-US" sz="1000" i="1" dirty="0">
                <a:solidFill>
                  <a:srgbClr val="64748B"/>
                </a:solidFill>
              </a:rPr>
              <a:t>◆ aggregation (Controller holds 5 agents)   ▲ generalisation (5 roles inherit Agent)   ⇢ dependency (listed in each class)</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bg1"/>
                </a:solidFill>
                <a:latin typeface="Cambria" pitchFamily="34" charset="0"/>
                <a:ea typeface="Cambria" pitchFamily="34" charset="-122"/>
                <a:cs typeface="Cambria" pitchFamily="34" charset="-120"/>
              </a:rPr>
              <a:t>Live demonstration</a:t>
            </a:r>
            <a:endParaRPr lang="en-US" sz="3200" dirty="0"/>
          </a:p>
        </p:txBody>
      </p:sp>
      <p:sp>
        <p:nvSpPr>
          <p:cNvPr id="3" name="Shape 1"/>
          <p:cNvSpPr/>
          <p:nvPr/>
        </p:nvSpPr>
        <p:spPr>
          <a:xfrm>
            <a:off x="548640" y="1234440"/>
            <a:ext cx="6949440" cy="4343400"/>
          </a:xfrm>
          <a:prstGeom prst="rect">
            <a:avLst/>
          </a:prstGeom>
          <a:solidFill>
            <a:srgbClr val="1E293B"/>
          </a:solidFill>
          <a:ln w="12700">
            <a:solidFill>
              <a:srgbClr val="475569"/>
            </a:solidFill>
            <a:prstDash val="solid"/>
          </a:ln>
          <a:effectLst>
            <a:outerShdw sx="100000" sy="100000" kx="0" ky="0" algn="bl" rotWithShape="0" blurRad="101600" dist="38100" dir="5400000">
              <a:srgbClr val="000000">
                <a:alpha val="40000"/>
              </a:srgbClr>
            </a:outerShdw>
          </a:effectLst>
        </p:spPr>
      </p:sp>
      <p:pic>
        <p:nvPicPr>
          <p:cNvPr id="4" name="dashboard screenshot" descr="C:\Users\Adila\OneDrive\Documents\University\Adil\Intelligent Agents\scholarplan\evidence\screenshots\01_dashboard_trace.png">    </p:cNvPr>
          <p:cNvPicPr>
            <a:picLocks noChangeAspect="1"/>
          </p:cNvPicPr>
          <p:nvPr/>
        </p:nvPicPr>
        <p:blipFill>
          <a:blip r:embed="rId1"/>
          <a:stretch>
            <a:fillRect/>
          </a:stretch>
        </p:blipFill>
        <p:spPr>
          <a:xfrm>
            <a:off x="548640" y="1234440"/>
            <a:ext cx="6949440" cy="4343400"/>
          </a:xfrm>
          <a:prstGeom prst="rect">
            <a:avLst/>
          </a:prstGeom>
        </p:spPr>
      </p:pic>
      <p:sp>
        <p:nvSpPr>
          <p:cNvPr id="5" name="Text 2"/>
          <p:cNvSpPr txBox="1"/>
          <p:nvPr/>
        </p:nvSpPr>
        <p:spPr>
          <a:xfrm>
            <a:off x="548640" y="5650992"/>
            <a:ext cx="6949440" cy="274320"/>
          </a:xfrm>
          <a:prstGeom prst="rect">
            <a:avLst/>
          </a:prstGeom>
          <a:noFill/>
          <a:ln/>
        </p:spPr>
        <p:txBody>
          <a:bodyPr wrap="square" lIns="0" tIns="0" rIns="0" bIns="0" rtlCol="0" anchor="ctr"/>
          <a:lstStyle/>
          <a:p>
            <a:pPr indent="0" marL="0">
              <a:buNone/>
            </a:pPr>
            <a:r>
              <a:rPr lang="en-US" sz="1100" i="1" dirty="0">
                <a:solidFill>
                  <a:srgbClr val="94A3B8"/>
                </a:solidFill>
              </a:rPr>
              <a:t>Streamlit dashboard reading the live blackboard · uv run scholarplan ui</a:t>
            </a:r>
            <a:endParaRPr lang="en-US" sz="1100" dirty="0"/>
          </a:p>
        </p:txBody>
      </p:sp>
      <p:sp>
        <p:nvSpPr>
          <p:cNvPr id="6" name="Text 3"/>
          <p:cNvSpPr txBox="1"/>
          <p:nvPr/>
        </p:nvSpPr>
        <p:spPr>
          <a:xfrm>
            <a:off x="7863840" y="1234440"/>
            <a:ext cx="3749040" cy="411480"/>
          </a:xfrm>
          <a:prstGeom prst="rect">
            <a:avLst/>
          </a:prstGeom>
          <a:noFill/>
          <a:ln/>
        </p:spPr>
        <p:txBody>
          <a:bodyPr wrap="square" lIns="0" tIns="0" rIns="0" bIns="0" rtlCol="0" anchor="ctr"/>
          <a:lstStyle/>
          <a:p>
            <a:pPr indent="0" marL="0">
              <a:buNone/>
            </a:pPr>
            <a:r>
              <a:rPr lang="en-US" sz="2000" b="1" dirty="0">
                <a:solidFill>
                  <a:srgbClr val="F2A541"/>
                </a:solidFill>
                <a:latin typeface="Cambria" pitchFamily="34" charset="0"/>
                <a:ea typeface="Cambria" pitchFamily="34" charset="-122"/>
                <a:cs typeface="Cambria" pitchFamily="34" charset="-120"/>
              </a:rPr>
              <a:t>What to watch</a:t>
            </a:r>
            <a:endParaRPr lang="en-US" sz="2000" dirty="0"/>
          </a:p>
        </p:txBody>
      </p:sp>
      <p:sp>
        <p:nvSpPr>
          <p:cNvPr id="7" name="planner dot"/>
          <p:cNvSpPr/>
          <p:nvPr/>
        </p:nvSpPr>
        <p:spPr>
          <a:xfrm>
            <a:off x="7863840" y="1810512"/>
            <a:ext cx="475488" cy="475488"/>
          </a:xfrm>
          <a:prstGeom prst="ellipse">
            <a:avLst/>
          </a:prstGeom>
          <a:solidFill>
            <a:srgbClr val="2563EB"/>
          </a:solidFill>
          <a:ln w="12700">
            <a:solidFill>
              <a:srgbClr val="2563EB"/>
            </a:solidFill>
            <a:prstDash val="solid"/>
          </a:ln>
        </p:spPr>
      </p:sp>
      <p:pic>
        <p:nvPicPr>
          <p:cNvPr id="8" name="planner icon" descr="preencoded.png">    </p:cNvPr>
          <p:cNvPicPr>
            <a:picLocks noChangeAspect="1"/>
          </p:cNvPicPr>
          <p:nvPr/>
        </p:nvPicPr>
        <p:blipFill>
          <a:blip r:embed="rId2"/>
          <a:stretch>
            <a:fillRect/>
          </a:stretch>
        </p:blipFill>
        <p:spPr>
          <a:xfrm>
            <a:off x="7987467" y="1934139"/>
            <a:ext cx="228234" cy="228234"/>
          </a:xfrm>
          <a:prstGeom prst="rect">
            <a:avLst/>
          </a:prstGeom>
        </p:spPr>
      </p:pic>
      <p:sp>
        <p:nvSpPr>
          <p:cNvPr id="9" name="Text 5"/>
          <p:cNvSpPr txBox="1"/>
          <p:nvPr/>
        </p:nvSpPr>
        <p:spPr>
          <a:xfrm>
            <a:off x="8458200" y="1773936"/>
            <a:ext cx="3200400" cy="566928"/>
          </a:xfrm>
          <a:prstGeom prst="rect">
            <a:avLst/>
          </a:prstGeom>
          <a:noFill/>
          <a:ln/>
        </p:spPr>
        <p:txBody>
          <a:bodyPr wrap="square" lIns="0" tIns="0" rIns="0" bIns="0" rtlCol="0" anchor="ctr"/>
          <a:lstStyle/>
          <a:p>
            <a:pPr indent="0" marL="0">
              <a:buNone/>
            </a:pPr>
            <a:r>
              <a:rPr lang="en-US" sz="1400" dirty="0">
                <a:solidFill>
                  <a:srgbClr val="E2E8F0"/>
                </a:solidFill>
              </a:rPr>
              <a:t>Planner Thought → 4-subtask plan</a:t>
            </a:r>
            <a:endParaRPr lang="en-US" sz="1400" dirty="0"/>
          </a:p>
        </p:txBody>
      </p:sp>
      <p:sp>
        <p:nvSpPr>
          <p:cNvPr id="10" name="retriever dot"/>
          <p:cNvSpPr/>
          <p:nvPr/>
        </p:nvSpPr>
        <p:spPr>
          <a:xfrm>
            <a:off x="7863840" y="2523744"/>
            <a:ext cx="475488" cy="475488"/>
          </a:xfrm>
          <a:prstGeom prst="ellipse">
            <a:avLst/>
          </a:prstGeom>
          <a:solidFill>
            <a:srgbClr val="16A34A"/>
          </a:solidFill>
          <a:ln w="12700">
            <a:solidFill>
              <a:srgbClr val="16A34A"/>
            </a:solidFill>
            <a:prstDash val="solid"/>
          </a:ln>
        </p:spPr>
      </p:sp>
      <p:pic>
        <p:nvPicPr>
          <p:cNvPr id="11" name="retriever icon" descr="preencoded.png">    </p:cNvPr>
          <p:cNvPicPr>
            <a:picLocks noChangeAspect="1"/>
          </p:cNvPicPr>
          <p:nvPr/>
        </p:nvPicPr>
        <p:blipFill>
          <a:blip r:embed="rId3"/>
          <a:stretch>
            <a:fillRect/>
          </a:stretch>
        </p:blipFill>
        <p:spPr>
          <a:xfrm>
            <a:off x="7987467" y="2647371"/>
            <a:ext cx="228234" cy="228234"/>
          </a:xfrm>
          <a:prstGeom prst="rect">
            <a:avLst/>
          </a:prstGeom>
        </p:spPr>
      </p:pic>
      <p:sp>
        <p:nvSpPr>
          <p:cNvPr id="12" name="Text 7"/>
          <p:cNvSpPr txBox="1"/>
          <p:nvPr/>
        </p:nvSpPr>
        <p:spPr>
          <a:xfrm>
            <a:off x="8458200" y="2487168"/>
            <a:ext cx="3200400" cy="566928"/>
          </a:xfrm>
          <a:prstGeom prst="rect">
            <a:avLst/>
          </a:prstGeom>
          <a:noFill/>
          <a:ln/>
        </p:spPr>
        <p:txBody>
          <a:bodyPr wrap="square" lIns="0" tIns="0" rIns="0" bIns="0" rtlCol="0" anchor="ctr"/>
          <a:lstStyle/>
          <a:p>
            <a:pPr indent="0" marL="0">
              <a:buNone/>
            </a:pPr>
            <a:r>
              <a:rPr lang="en-US" sz="1400" dirty="0">
                <a:solidFill>
                  <a:srgbClr val="E2E8F0"/>
                </a:solidFill>
              </a:rPr>
              <a:t>Highlighted card = agent acting; per-API record counts</a:t>
            </a:r>
            <a:endParaRPr lang="en-US" sz="1400" dirty="0"/>
          </a:p>
        </p:txBody>
      </p:sp>
      <p:sp>
        <p:nvSpPr>
          <p:cNvPr id="13" name="processor dot"/>
          <p:cNvSpPr/>
          <p:nvPr/>
        </p:nvSpPr>
        <p:spPr>
          <a:xfrm>
            <a:off x="7863840" y="3236976"/>
            <a:ext cx="475488" cy="475488"/>
          </a:xfrm>
          <a:prstGeom prst="ellipse">
            <a:avLst/>
          </a:prstGeom>
          <a:solidFill>
            <a:srgbClr val="9333EA"/>
          </a:solidFill>
          <a:ln w="12700">
            <a:solidFill>
              <a:srgbClr val="9333EA"/>
            </a:solidFill>
            <a:prstDash val="solid"/>
          </a:ln>
        </p:spPr>
      </p:sp>
      <p:pic>
        <p:nvPicPr>
          <p:cNvPr id="14" name="processor icon" descr="preencoded.png">    </p:cNvPr>
          <p:cNvPicPr>
            <a:picLocks noChangeAspect="1"/>
          </p:cNvPicPr>
          <p:nvPr/>
        </p:nvPicPr>
        <p:blipFill>
          <a:blip r:embed="rId4"/>
          <a:stretch>
            <a:fillRect/>
          </a:stretch>
        </p:blipFill>
        <p:spPr>
          <a:xfrm>
            <a:off x="7987467" y="3360603"/>
            <a:ext cx="228234" cy="228234"/>
          </a:xfrm>
          <a:prstGeom prst="rect">
            <a:avLst/>
          </a:prstGeom>
        </p:spPr>
      </p:pic>
      <p:sp>
        <p:nvSpPr>
          <p:cNvPr id="15" name="Text 9"/>
          <p:cNvSpPr txBox="1"/>
          <p:nvPr/>
        </p:nvSpPr>
        <p:spPr>
          <a:xfrm>
            <a:off x="8458200" y="3200400"/>
            <a:ext cx="3200400" cy="566928"/>
          </a:xfrm>
          <a:prstGeom prst="rect">
            <a:avLst/>
          </a:prstGeom>
          <a:noFill/>
          <a:ln/>
        </p:spPr>
        <p:txBody>
          <a:bodyPr wrap="square" lIns="0" tIns="0" rIns="0" bIns="0" rtlCol="0" anchor="ctr"/>
          <a:lstStyle/>
          <a:p>
            <a:pPr indent="0" marL="0">
              <a:buNone/>
            </a:pPr>
            <a:r>
              <a:rPr lang="en-US" sz="1400" dirty="0">
                <a:solidFill>
                  <a:srgbClr val="E2E8F0"/>
                </a:solidFill>
              </a:rPr>
              <a:t>Duplicates removed · sources selected</a:t>
            </a:r>
            <a:endParaRPr lang="en-US" sz="1400" dirty="0"/>
          </a:p>
        </p:txBody>
      </p:sp>
      <p:sp>
        <p:nvSpPr>
          <p:cNvPr id="16" name="critic dot"/>
          <p:cNvSpPr/>
          <p:nvPr/>
        </p:nvSpPr>
        <p:spPr>
          <a:xfrm>
            <a:off x="7863840" y="3950208"/>
            <a:ext cx="475488" cy="475488"/>
          </a:xfrm>
          <a:prstGeom prst="ellipse">
            <a:avLst/>
          </a:prstGeom>
          <a:solidFill>
            <a:srgbClr val="EA580C"/>
          </a:solidFill>
          <a:ln w="12700">
            <a:solidFill>
              <a:srgbClr val="EA580C"/>
            </a:solidFill>
            <a:prstDash val="solid"/>
          </a:ln>
        </p:spPr>
      </p:sp>
      <p:pic>
        <p:nvPicPr>
          <p:cNvPr id="17" name="critic icon" descr="preencoded.png">    </p:cNvPr>
          <p:cNvPicPr>
            <a:picLocks noChangeAspect="1"/>
          </p:cNvPicPr>
          <p:nvPr/>
        </p:nvPicPr>
        <p:blipFill>
          <a:blip r:embed="rId5"/>
          <a:stretch>
            <a:fillRect/>
          </a:stretch>
        </p:blipFill>
        <p:spPr>
          <a:xfrm>
            <a:off x="7987467" y="4073835"/>
            <a:ext cx="228234" cy="228234"/>
          </a:xfrm>
          <a:prstGeom prst="rect">
            <a:avLst/>
          </a:prstGeom>
        </p:spPr>
      </p:pic>
      <p:sp>
        <p:nvSpPr>
          <p:cNvPr id="18" name="Text 11"/>
          <p:cNvSpPr txBox="1"/>
          <p:nvPr/>
        </p:nvSpPr>
        <p:spPr>
          <a:xfrm>
            <a:off x="8458200" y="3913632"/>
            <a:ext cx="3200400" cy="566928"/>
          </a:xfrm>
          <a:prstGeom prst="rect">
            <a:avLst/>
          </a:prstGeom>
          <a:noFill/>
          <a:ln/>
        </p:spPr>
        <p:txBody>
          <a:bodyPr wrap="square" lIns="0" tIns="0" rIns="0" bIns="0" rtlCol="0" anchor="ctr"/>
          <a:lstStyle/>
          <a:p>
            <a:pPr indent="0" marL="0">
              <a:buNone/>
            </a:pPr>
            <a:r>
              <a:rPr lang="en-US" sz="1400" dirty="0">
                <a:solidFill>
                  <a:srgbClr val="E2E8F0"/>
                </a:solidFill>
              </a:rPr>
              <a:t>Planted [DEMO] claim rejected, with reason + abstract</a:t>
            </a:r>
            <a:endParaRPr lang="en-US" sz="1400" dirty="0"/>
          </a:p>
        </p:txBody>
      </p:sp>
      <p:sp>
        <p:nvSpPr>
          <p:cNvPr id="19" name="archivist dot"/>
          <p:cNvSpPr/>
          <p:nvPr/>
        </p:nvSpPr>
        <p:spPr>
          <a:xfrm>
            <a:off x="7863840" y="4663440"/>
            <a:ext cx="475488" cy="475488"/>
          </a:xfrm>
          <a:prstGeom prst="ellipse">
            <a:avLst/>
          </a:prstGeom>
          <a:solidFill>
            <a:srgbClr val="DC2626"/>
          </a:solidFill>
          <a:ln w="12700">
            <a:solidFill>
              <a:srgbClr val="DC2626"/>
            </a:solidFill>
            <a:prstDash val="solid"/>
          </a:ln>
        </p:spPr>
      </p:sp>
      <p:pic>
        <p:nvPicPr>
          <p:cNvPr id="20" name="archivist icon" descr="preencoded.png">    </p:cNvPr>
          <p:cNvPicPr>
            <a:picLocks noChangeAspect="1"/>
          </p:cNvPicPr>
          <p:nvPr/>
        </p:nvPicPr>
        <p:blipFill>
          <a:blip r:embed="rId6"/>
          <a:stretch>
            <a:fillRect/>
          </a:stretch>
        </p:blipFill>
        <p:spPr>
          <a:xfrm>
            <a:off x="7987467" y="4787067"/>
            <a:ext cx="228234" cy="228234"/>
          </a:xfrm>
          <a:prstGeom prst="rect">
            <a:avLst/>
          </a:prstGeom>
        </p:spPr>
      </p:pic>
      <p:sp>
        <p:nvSpPr>
          <p:cNvPr id="21" name="Text 13"/>
          <p:cNvSpPr txBox="1"/>
          <p:nvPr/>
        </p:nvSpPr>
        <p:spPr>
          <a:xfrm>
            <a:off x="8458200" y="4626864"/>
            <a:ext cx="3200400" cy="566928"/>
          </a:xfrm>
          <a:prstGeom prst="rect">
            <a:avLst/>
          </a:prstGeom>
          <a:noFill/>
          <a:ln/>
        </p:spPr>
        <p:txBody>
          <a:bodyPr wrap="square" lIns="0" tIns="0" rIns="0" bIns="0" rtlCol="0" anchor="ctr"/>
          <a:lstStyle/>
          <a:p>
            <a:pPr indent="0" marL="0">
              <a:buNone/>
            </a:pPr>
            <a:r>
              <a:rPr lang="en-US" sz="1400" dirty="0">
                <a:solidFill>
                  <a:srgbClr val="E2E8F0"/>
                </a:solidFill>
              </a:rPr>
              <a:t>Report · BibTeX · semantic search of the index</a:t>
            </a:r>
            <a:endParaRPr lang="en-US" sz="1400" dirty="0"/>
          </a:p>
        </p:txBody>
      </p:sp>
      <p:sp>
        <p:nvSpPr>
          <p:cNvPr id="22" name="Shape 14"/>
          <p:cNvSpPr/>
          <p:nvPr/>
        </p:nvSpPr>
        <p:spPr>
          <a:xfrm>
            <a:off x="7863840" y="5440680"/>
            <a:ext cx="3794760" cy="566928"/>
          </a:xfrm>
          <a:prstGeom prst="roundRect">
            <a:avLst>
              <a:gd name="adj" fmla="val 12903"/>
            </a:avLst>
          </a:prstGeom>
          <a:solidFill>
            <a:srgbClr val="1E293B"/>
          </a:solidFill>
          <a:ln w="12700">
            <a:solidFill>
              <a:srgbClr val="475569"/>
            </a:solidFill>
            <a:prstDash val="solid"/>
          </a:ln>
        </p:spPr>
      </p:sp>
      <p:sp>
        <p:nvSpPr>
          <p:cNvPr id="23" name="Text 15"/>
          <p:cNvSpPr txBox="1"/>
          <p:nvPr/>
        </p:nvSpPr>
        <p:spPr>
          <a:xfrm>
            <a:off x="7973568" y="5458968"/>
            <a:ext cx="3611880" cy="530352"/>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Code: planner._react_step · _validate · blackboard.claim_subtask</a:t>
            </a:r>
            <a:endParaRPr lang="en-US" sz="12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Does it work? Evaluation against measurable targets</a:t>
            </a:r>
            <a:endParaRPr lang="en-US" sz="3200" dirty="0"/>
          </a:p>
        </p:txBody>
      </p:sp>
      <p:sp>
        <p:nvSpPr>
          <p:cNvPr id="3" name="Text 1"/>
          <p:cNvSpPr txBox="1"/>
          <p:nvPr/>
        </p:nvSpPr>
        <p:spPr>
          <a:xfrm>
            <a:off x="548640" y="1234440"/>
            <a:ext cx="6035040" cy="320040"/>
          </a:xfrm>
          <a:prstGeom prst="rect">
            <a:avLst/>
          </a:prstGeom>
          <a:noFill/>
          <a:ln/>
        </p:spPr>
        <p:txBody>
          <a:bodyPr wrap="square" lIns="0" tIns="0" rIns="0" bIns="0" rtlCol="0" anchor="ctr"/>
          <a:lstStyle/>
          <a:p>
            <a:pPr indent="0" marL="0">
              <a:buNone/>
            </a:pPr>
            <a:r>
              <a:rPr lang="en-US" sz="1500" b="1" dirty="0">
                <a:solidFill>
                  <a:schemeClr val="tx1"/>
                </a:solidFill>
              </a:rPr>
              <a:t>Critic on 21 hand-labelled claim–source pairs (9 hallucinations)</a:t>
            </a:r>
            <a:endParaRPr lang="en-US" sz="1500" dirty="0"/>
          </a:p>
        </p:txBody>
      </p:sp>
      <p:graphicFrame>
        <p:nvGraphicFramePr>
          <p:cNvPr id="4" name="Chart 0" descr=""/>
          <p:cNvGraphicFramePr/>
          <p:nvPr/>
        </p:nvGraphicFramePr>
        <p:xfrm>
          <a:off x="548640" y="1600200"/>
          <a:ext cx="6035040" cy="35204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212080"/>
            <a:ext cx="6035040" cy="502920"/>
          </a:xfrm>
          <a:prstGeom prst="rect">
            <a:avLst/>
          </a:prstGeom>
          <a:noFill/>
          <a:ln/>
        </p:spPr>
        <p:txBody>
          <a:bodyPr wrap="square" lIns="0" tIns="0" rIns="0" bIns="0" rtlCol="0" anchor="ctr"/>
          <a:lstStyle/>
          <a:p>
            <a:pPr indent="0" marL="0">
              <a:buNone/>
            </a:pPr>
            <a:r>
              <a:rPr lang="en-US" sz="1200" i="1" dirty="0">
                <a:solidFill>
                  <a:schemeClr val="tx2"/>
                </a:solidFill>
              </a:rPr>
              <a:t>Targets: precision ≥ 0.85, recall ≥ 0.75. Small benchmark: a perfect score likely reflects a ceiling effect.</a:t>
            </a:r>
            <a:endParaRPr lang="en-US" sz="1200" dirty="0"/>
          </a:p>
        </p:txBody>
      </p:sp>
      <p:sp>
        <p:nvSpPr>
          <p:cNvPr id="6" name="Shape 3"/>
          <p:cNvSpPr/>
          <p:nvPr/>
        </p:nvSpPr>
        <p:spPr>
          <a:xfrm>
            <a:off x="6949440" y="1234440"/>
            <a:ext cx="4709160" cy="1417320"/>
          </a:xfrm>
          <a:prstGeom prst="roundRect">
            <a:avLst>
              <a:gd name="adj" fmla="val 6452"/>
            </a:avLst>
          </a:prstGeom>
          <a:solidFill>
            <a:schemeClr val="bg2"/>
          </a:solidFill>
          <a:ln w="12700">
            <a:solidFill>
              <a:schemeClr val="bg2"/>
            </a:solidFill>
            <a:prstDash val="solid"/>
          </a:ln>
        </p:spPr>
      </p:sp>
      <p:sp>
        <p:nvSpPr>
          <p:cNvPr id="7" name="Text 4"/>
          <p:cNvSpPr txBox="1"/>
          <p:nvPr/>
        </p:nvSpPr>
        <p:spPr>
          <a:xfrm>
            <a:off x="7132320" y="1325880"/>
            <a:ext cx="1920240" cy="68580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0.90</a:t>
            </a:r>
            <a:endParaRPr lang="en-US" sz="3000" dirty="0"/>
          </a:p>
        </p:txBody>
      </p:sp>
      <p:sp>
        <p:nvSpPr>
          <p:cNvPr id="8" name="Text 5"/>
          <p:cNvSpPr txBox="1"/>
          <p:nvPr/>
        </p:nvSpPr>
        <p:spPr>
          <a:xfrm>
            <a:off x="9098280" y="1344168"/>
            <a:ext cx="2468880" cy="640080"/>
          </a:xfrm>
          <a:prstGeom prst="rect">
            <a:avLst/>
          </a:prstGeom>
          <a:noFill/>
          <a:ln/>
        </p:spPr>
        <p:txBody>
          <a:bodyPr wrap="square" lIns="0" tIns="0" rIns="0" bIns="0" rtlCol="0" anchor="ctr"/>
          <a:lstStyle/>
          <a:p>
            <a:pPr indent="0" marL="0">
              <a:buNone/>
            </a:pPr>
            <a:r>
              <a:rPr lang="en-US" sz="1300" b="1" dirty="0">
                <a:solidFill>
                  <a:schemeClr val="tx1"/>
                </a:solidFill>
              </a:rPr>
              <a:t>Retrieval recall (target ≥ 0.75)</a:t>
            </a:r>
            <a:endParaRPr lang="en-US" sz="1300" dirty="0"/>
          </a:p>
        </p:txBody>
      </p:sp>
      <p:sp>
        <p:nvSpPr>
          <p:cNvPr id="9" name="Text 6"/>
          <p:cNvSpPr txBox="1"/>
          <p:nvPr/>
        </p:nvSpPr>
        <p:spPr>
          <a:xfrm>
            <a:off x="7132320" y="2039112"/>
            <a:ext cx="4434840" cy="566928"/>
          </a:xfrm>
          <a:prstGeom prst="rect">
            <a:avLst/>
          </a:prstGeom>
          <a:noFill/>
          <a:ln/>
        </p:spPr>
        <p:txBody>
          <a:bodyPr wrap="square" lIns="0" tIns="0" rIns="0" bIns="0" rtlCol="0" anchor="t"/>
          <a:lstStyle/>
          <a:p>
            <a:pPr indent="0" marL="0">
              <a:buNone/>
            </a:pPr>
            <a:r>
              <a:rPr lang="en-US" sz="1100" dirty="0">
                <a:solidFill>
                  <a:schemeClr val="tx2"/>
                </a:solidFill>
              </a:rPr>
              <a:t>10 fixed queries for papers our Unit 6 report cited; arXiv 7 · OpenAlex 6 · Crossref 1. Miss: Hayes-Roth (1985), no indexed abstract.</a:t>
            </a:r>
            <a:endParaRPr lang="en-US" sz="1100" dirty="0"/>
          </a:p>
        </p:txBody>
      </p:sp>
      <p:sp>
        <p:nvSpPr>
          <p:cNvPr id="10" name="Shape 7"/>
          <p:cNvSpPr/>
          <p:nvPr/>
        </p:nvSpPr>
        <p:spPr>
          <a:xfrm>
            <a:off x="6949440" y="2807208"/>
            <a:ext cx="4709160" cy="1417320"/>
          </a:xfrm>
          <a:prstGeom prst="roundRect">
            <a:avLst>
              <a:gd name="adj" fmla="val 6452"/>
            </a:avLst>
          </a:prstGeom>
          <a:solidFill>
            <a:schemeClr val="bg2"/>
          </a:solidFill>
          <a:ln w="12700">
            <a:solidFill>
              <a:schemeClr val="bg2"/>
            </a:solidFill>
            <a:prstDash val="solid"/>
          </a:ln>
        </p:spPr>
      </p:sp>
      <p:sp>
        <p:nvSpPr>
          <p:cNvPr id="11" name="Text 8"/>
          <p:cNvSpPr txBox="1"/>
          <p:nvPr/>
        </p:nvSpPr>
        <p:spPr>
          <a:xfrm>
            <a:off x="7132320" y="2898648"/>
            <a:ext cx="1920240" cy="68580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3/3</a:t>
            </a:r>
            <a:endParaRPr lang="en-US" sz="3000" dirty="0"/>
          </a:p>
        </p:txBody>
      </p:sp>
      <p:sp>
        <p:nvSpPr>
          <p:cNvPr id="12" name="Text 9"/>
          <p:cNvSpPr txBox="1"/>
          <p:nvPr/>
        </p:nvSpPr>
        <p:spPr>
          <a:xfrm>
            <a:off x="9098280" y="2916936"/>
            <a:ext cx="2468880" cy="640080"/>
          </a:xfrm>
          <a:prstGeom prst="rect">
            <a:avLst/>
          </a:prstGeom>
          <a:noFill/>
          <a:ln/>
        </p:spPr>
        <p:txBody>
          <a:bodyPr wrap="square" lIns="0" tIns="0" rIns="0" bIns="0" rtlCol="0" anchor="ctr"/>
          <a:lstStyle/>
          <a:p>
            <a:pPr indent="0" marL="0">
              <a:buNone/>
            </a:pPr>
            <a:r>
              <a:rPr lang="en-US" sz="1300" b="1" dirty="0">
                <a:solidFill>
                  <a:schemeClr val="tx1"/>
                </a:solidFill>
              </a:rPr>
              <a:t>Live goals completed within budget</a:t>
            </a:r>
            <a:endParaRPr lang="en-US" sz="1300" dirty="0"/>
          </a:p>
        </p:txBody>
      </p:sp>
      <p:sp>
        <p:nvSpPr>
          <p:cNvPr id="13" name="Text 10"/>
          <p:cNvSpPr txBox="1"/>
          <p:nvPr/>
        </p:nvSpPr>
        <p:spPr>
          <a:xfrm>
            <a:off x="7132320" y="3611880"/>
            <a:ext cx="4434840" cy="566928"/>
          </a:xfrm>
          <a:prstGeom prst="rect">
            <a:avLst/>
          </a:prstGeom>
          <a:noFill/>
          <a:ln/>
        </p:spPr>
        <p:txBody>
          <a:bodyPr wrap="square" lIns="0" tIns="0" rIns="0" bIns="0" rtlCol="0" anchor="t"/>
          <a:lstStyle/>
          <a:p>
            <a:pPr indent="0" marL="0">
              <a:buNone/>
            </a:pPr>
            <a:r>
              <a:rPr lang="en-US" sz="1100" dirty="0">
                <a:solidFill>
                  <a:schemeClr val="tx2"/>
                </a:solidFill>
              </a:rPr>
              <a:t>Mean 6.7 ReAct steps, 58.5 s and ~21k tokens per run; 2 genuine re-plans.</a:t>
            </a:r>
            <a:endParaRPr lang="en-US" sz="1100" dirty="0"/>
          </a:p>
        </p:txBody>
      </p:sp>
      <p:sp>
        <p:nvSpPr>
          <p:cNvPr id="14" name="Shape 11"/>
          <p:cNvSpPr/>
          <p:nvPr/>
        </p:nvSpPr>
        <p:spPr>
          <a:xfrm>
            <a:off x="6949440" y="4379976"/>
            <a:ext cx="4709160" cy="1417320"/>
          </a:xfrm>
          <a:prstGeom prst="roundRect">
            <a:avLst>
              <a:gd name="adj" fmla="val 6452"/>
            </a:avLst>
          </a:prstGeom>
          <a:solidFill>
            <a:schemeClr val="bg2"/>
          </a:solidFill>
          <a:ln w="12700">
            <a:solidFill>
              <a:schemeClr val="bg2"/>
            </a:solidFill>
            <a:prstDash val="solid"/>
          </a:ln>
        </p:spPr>
      </p:sp>
      <p:sp>
        <p:nvSpPr>
          <p:cNvPr id="15" name="Text 12"/>
          <p:cNvSpPr txBox="1"/>
          <p:nvPr/>
        </p:nvSpPr>
        <p:spPr>
          <a:xfrm>
            <a:off x="7132320" y="4471416"/>
            <a:ext cx="1920240" cy="68580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0.92 · 0.30</a:t>
            </a:r>
            <a:endParaRPr lang="en-US" sz="3000" dirty="0"/>
          </a:p>
        </p:txBody>
      </p:sp>
      <p:sp>
        <p:nvSpPr>
          <p:cNvPr id="16" name="Text 13"/>
          <p:cNvSpPr txBox="1"/>
          <p:nvPr/>
        </p:nvSpPr>
        <p:spPr>
          <a:xfrm>
            <a:off x="9098280" y="4489704"/>
            <a:ext cx="2468880" cy="640080"/>
          </a:xfrm>
          <a:prstGeom prst="rect">
            <a:avLst/>
          </a:prstGeom>
          <a:noFill/>
          <a:ln/>
        </p:spPr>
        <p:txBody>
          <a:bodyPr wrap="square" lIns="0" tIns="0" rIns="0" bIns="0" rtlCol="0" anchor="ctr"/>
          <a:lstStyle/>
          <a:p>
            <a:pPr indent="0" marL="0">
              <a:buNone/>
            </a:pPr>
            <a:r>
              <a:rPr lang="en-US" sz="1300" b="1" dirty="0">
                <a:solidFill>
                  <a:schemeClr val="tx1"/>
                </a:solidFill>
              </a:rPr>
              <a:t>Dedup / relevance cosine thresholds</a:t>
            </a:r>
            <a:endParaRPr lang="en-US" sz="1300" dirty="0"/>
          </a:p>
        </p:txBody>
      </p:sp>
      <p:sp>
        <p:nvSpPr>
          <p:cNvPr id="17" name="Text 14"/>
          <p:cNvSpPr txBox="1"/>
          <p:nvPr/>
        </p:nvSpPr>
        <p:spPr>
          <a:xfrm>
            <a:off x="7132320" y="5184648"/>
            <a:ext cx="4434840" cy="566928"/>
          </a:xfrm>
          <a:prstGeom prst="rect">
            <a:avLst/>
          </a:prstGeom>
          <a:noFill/>
          <a:ln/>
        </p:spPr>
        <p:txBody>
          <a:bodyPr wrap="square" lIns="0" tIns="0" rIns="0" bIns="0" rtlCol="0" anchor="t"/>
          <a:lstStyle/>
          <a:p>
            <a:pPr indent="0" marL="0">
              <a:buNone/>
            </a:pPr>
            <a:r>
              <a:rPr lang="en-US" sz="1100" dirty="0">
                <a:solidFill>
                  <a:schemeClr val="tx2"/>
                </a:solidFill>
              </a:rPr>
              <a:t>Named constants, unit-tested both ways; top-3 sources, ≤ 2 claims each, pass if ≥ 50% supported.</a:t>
            </a:r>
            <a:endParaRPr lang="en-US" sz="1100" dirty="0"/>
          </a:p>
        </p:txBody>
      </p:sp>
      <p:sp>
        <p:nvSpPr>
          <p:cNvPr id="18" name="Text 15"/>
          <p:cNvSpPr txBox="1"/>
          <p:nvPr/>
        </p:nvSpPr>
        <p:spPr>
          <a:xfrm>
            <a:off x="548640" y="6108192"/>
            <a:ext cx="11064240" cy="274320"/>
          </a:xfrm>
          <a:prstGeom prst="rect">
            <a:avLst/>
          </a:prstGeom>
          <a:noFill/>
          <a:ln/>
        </p:spPr>
        <p:txBody>
          <a:bodyPr wrap="square" lIns="0" tIns="0" rIns="0" bIns="0" rtlCol="0" anchor="ctr"/>
          <a:lstStyle/>
          <a:p>
            <a:pPr indent="0" marL="0">
              <a:buNone/>
            </a:pPr>
            <a:r>
              <a:rPr lang="en-US" sz="1000" i="1" dirty="0">
                <a:solidFill>
                  <a:srgbClr val="64748B"/>
                </a:solidFill>
              </a:rPr>
              <a:t>Responds to Unit 6 feedback #2 (measurable targets). Raw results: evidence/evaluation/*.json · eval/run_eval.py</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Testing, remediation and development progress</a:t>
            </a:r>
            <a:endParaRPr lang="en-US" sz="3200" dirty="0"/>
          </a:p>
        </p:txBody>
      </p:sp>
      <p:sp>
        <p:nvSpPr>
          <p:cNvPr id="3" name="Shape 1"/>
          <p:cNvSpPr/>
          <p:nvPr/>
        </p:nvSpPr>
        <p:spPr>
          <a:xfrm>
            <a:off x="548640" y="1280160"/>
            <a:ext cx="1645920" cy="1051560"/>
          </a:xfrm>
          <a:prstGeom prst="roundRect">
            <a:avLst>
              <a:gd name="adj" fmla="val 8696"/>
            </a:avLst>
          </a:prstGeom>
          <a:solidFill>
            <a:schemeClr val="bg2"/>
          </a:solidFill>
          <a:ln w="12700">
            <a:solidFill>
              <a:schemeClr val="bg2"/>
            </a:solidFill>
            <a:prstDash val="solid"/>
          </a:ln>
        </p:spPr>
      </p:sp>
      <p:sp>
        <p:nvSpPr>
          <p:cNvPr id="4" name="Text 2"/>
          <p:cNvSpPr txBox="1"/>
          <p:nvPr/>
        </p:nvSpPr>
        <p:spPr>
          <a:xfrm>
            <a:off x="548640" y="1353312"/>
            <a:ext cx="1645920" cy="548640"/>
          </a:xfrm>
          <a:prstGeom prst="rect">
            <a:avLst/>
          </a:prstGeom>
          <a:noFill/>
          <a:ln/>
        </p:spPr>
        <p:txBody>
          <a:bodyPr wrap="square" lIns="0" tIns="0" rIns="0" bIns="0" rtlCol="0" anchor="ctr"/>
          <a:lstStyle/>
          <a:p>
            <a:pPr algn="ctr" indent="0" marL="0">
              <a:buNone/>
            </a:pPr>
            <a:r>
              <a:rPr lang="en-US" sz="3000" b="1" dirty="0">
                <a:solidFill>
                  <a:schemeClr val="accent1"/>
                </a:solidFill>
                <a:latin typeface="Cambria" pitchFamily="34" charset="0"/>
                <a:ea typeface="Cambria" pitchFamily="34" charset="-122"/>
                <a:cs typeface="Cambria" pitchFamily="34" charset="-120"/>
              </a:rPr>
              <a:t>94</a:t>
            </a:r>
            <a:endParaRPr lang="en-US" sz="3000" dirty="0"/>
          </a:p>
        </p:txBody>
      </p:sp>
      <p:sp>
        <p:nvSpPr>
          <p:cNvPr id="5" name="Text 3"/>
          <p:cNvSpPr txBox="1"/>
          <p:nvPr/>
        </p:nvSpPr>
        <p:spPr>
          <a:xfrm>
            <a:off x="548640" y="1920240"/>
            <a:ext cx="1645920" cy="320040"/>
          </a:xfrm>
          <a:prstGeom prst="rect">
            <a:avLst/>
          </a:prstGeom>
          <a:noFill/>
          <a:ln/>
        </p:spPr>
        <p:txBody>
          <a:bodyPr wrap="square" lIns="0" tIns="0" rIns="0" bIns="0" rtlCol="0" anchor="ctr"/>
          <a:lstStyle/>
          <a:p>
            <a:pPr algn="ctr" indent="0" marL="0">
              <a:buNone/>
            </a:pPr>
            <a:r>
              <a:rPr lang="en-US" sz="1200" dirty="0">
                <a:solidFill>
                  <a:schemeClr val="tx2"/>
                </a:solidFill>
              </a:rPr>
              <a:t>tests passing</a:t>
            </a:r>
            <a:endParaRPr lang="en-US" sz="1200" dirty="0"/>
          </a:p>
        </p:txBody>
      </p:sp>
      <p:sp>
        <p:nvSpPr>
          <p:cNvPr id="6" name="Shape 4"/>
          <p:cNvSpPr/>
          <p:nvPr/>
        </p:nvSpPr>
        <p:spPr>
          <a:xfrm>
            <a:off x="2331720" y="1280160"/>
            <a:ext cx="1645920" cy="1051560"/>
          </a:xfrm>
          <a:prstGeom prst="roundRect">
            <a:avLst>
              <a:gd name="adj" fmla="val 8696"/>
            </a:avLst>
          </a:prstGeom>
          <a:solidFill>
            <a:schemeClr val="bg2"/>
          </a:solidFill>
          <a:ln w="12700">
            <a:solidFill>
              <a:schemeClr val="bg2"/>
            </a:solidFill>
            <a:prstDash val="solid"/>
          </a:ln>
        </p:spPr>
      </p:sp>
      <p:sp>
        <p:nvSpPr>
          <p:cNvPr id="7" name="Text 5"/>
          <p:cNvSpPr txBox="1"/>
          <p:nvPr/>
        </p:nvSpPr>
        <p:spPr>
          <a:xfrm>
            <a:off x="2331720" y="1353312"/>
            <a:ext cx="1645920" cy="548640"/>
          </a:xfrm>
          <a:prstGeom prst="rect">
            <a:avLst/>
          </a:prstGeom>
          <a:noFill/>
          <a:ln/>
        </p:spPr>
        <p:txBody>
          <a:bodyPr wrap="square" lIns="0" tIns="0" rIns="0" bIns="0" rtlCol="0" anchor="ctr"/>
          <a:lstStyle/>
          <a:p>
            <a:pPr algn="ctr" indent="0" marL="0">
              <a:buNone/>
            </a:pPr>
            <a:r>
              <a:rPr lang="en-US" sz="3000" b="1" dirty="0">
                <a:solidFill>
                  <a:schemeClr val="accent1"/>
                </a:solidFill>
                <a:latin typeface="Cambria" pitchFamily="34" charset="0"/>
                <a:ea typeface="Cambria" pitchFamily="34" charset="-122"/>
                <a:cs typeface="Cambria" pitchFamily="34" charset="-120"/>
              </a:rPr>
              <a:t>93%</a:t>
            </a:r>
            <a:endParaRPr lang="en-US" sz="3000" dirty="0"/>
          </a:p>
        </p:txBody>
      </p:sp>
      <p:sp>
        <p:nvSpPr>
          <p:cNvPr id="8" name="Text 6"/>
          <p:cNvSpPr txBox="1"/>
          <p:nvPr/>
        </p:nvSpPr>
        <p:spPr>
          <a:xfrm>
            <a:off x="2331720" y="1920240"/>
            <a:ext cx="1645920" cy="320040"/>
          </a:xfrm>
          <a:prstGeom prst="rect">
            <a:avLst/>
          </a:prstGeom>
          <a:noFill/>
          <a:ln/>
        </p:spPr>
        <p:txBody>
          <a:bodyPr wrap="square" lIns="0" tIns="0" rIns="0" bIns="0" rtlCol="0" anchor="ctr"/>
          <a:lstStyle/>
          <a:p>
            <a:pPr algn="ctr" indent="0" marL="0">
              <a:buNone/>
            </a:pPr>
            <a:r>
              <a:rPr lang="en-US" sz="1200" dirty="0">
                <a:solidFill>
                  <a:schemeClr val="tx2"/>
                </a:solidFill>
              </a:rPr>
              <a:t>line coverage</a:t>
            </a:r>
            <a:endParaRPr lang="en-US" sz="1200" dirty="0"/>
          </a:p>
        </p:txBody>
      </p:sp>
      <p:sp>
        <p:nvSpPr>
          <p:cNvPr id="9" name="Shape 7"/>
          <p:cNvSpPr/>
          <p:nvPr/>
        </p:nvSpPr>
        <p:spPr>
          <a:xfrm>
            <a:off x="548640" y="2468880"/>
            <a:ext cx="1645920" cy="1051560"/>
          </a:xfrm>
          <a:prstGeom prst="roundRect">
            <a:avLst>
              <a:gd name="adj" fmla="val 8696"/>
            </a:avLst>
          </a:prstGeom>
          <a:solidFill>
            <a:schemeClr val="bg2"/>
          </a:solidFill>
          <a:ln w="12700">
            <a:solidFill>
              <a:schemeClr val="bg2"/>
            </a:solidFill>
            <a:prstDash val="solid"/>
          </a:ln>
        </p:spPr>
      </p:sp>
      <p:sp>
        <p:nvSpPr>
          <p:cNvPr id="10" name="Text 8"/>
          <p:cNvSpPr txBox="1"/>
          <p:nvPr/>
        </p:nvSpPr>
        <p:spPr>
          <a:xfrm>
            <a:off x="548640" y="2542032"/>
            <a:ext cx="1645920" cy="548640"/>
          </a:xfrm>
          <a:prstGeom prst="rect">
            <a:avLst/>
          </a:prstGeom>
          <a:noFill/>
          <a:ln/>
        </p:spPr>
        <p:txBody>
          <a:bodyPr wrap="square" lIns="0" tIns="0" rIns="0" bIns="0" rtlCol="0" anchor="ctr"/>
          <a:lstStyle/>
          <a:p>
            <a:pPr algn="ctr" indent="0" marL="0">
              <a:buNone/>
            </a:pPr>
            <a:r>
              <a:rPr lang="en-US" sz="3000" b="1" dirty="0">
                <a:solidFill>
                  <a:schemeClr val="accent1"/>
                </a:solidFill>
                <a:latin typeface="Cambria" pitchFamily="34" charset="0"/>
                <a:ea typeface="Cambria" pitchFamily="34" charset="-122"/>
                <a:cs typeface="Cambria" pitchFamily="34" charset="-120"/>
              </a:rPr>
              <a:t>4/4</a:t>
            </a:r>
            <a:endParaRPr lang="en-US" sz="3000" dirty="0"/>
          </a:p>
        </p:txBody>
      </p:sp>
      <p:sp>
        <p:nvSpPr>
          <p:cNvPr id="11" name="Text 9"/>
          <p:cNvSpPr txBox="1"/>
          <p:nvPr/>
        </p:nvSpPr>
        <p:spPr>
          <a:xfrm>
            <a:off x="548640" y="3108960"/>
            <a:ext cx="1645920" cy="320040"/>
          </a:xfrm>
          <a:prstGeom prst="rect">
            <a:avLst/>
          </a:prstGeom>
          <a:noFill/>
          <a:ln/>
        </p:spPr>
        <p:txBody>
          <a:bodyPr wrap="square" lIns="0" tIns="0" rIns="0" bIns="0" rtlCol="0" anchor="ctr"/>
          <a:lstStyle/>
          <a:p>
            <a:pPr algn="ctr" indent="0" marL="0">
              <a:buNone/>
            </a:pPr>
            <a:r>
              <a:rPr lang="en-US" sz="1200" dirty="0">
                <a:solidFill>
                  <a:schemeClr val="tx2"/>
                </a:solidFill>
              </a:rPr>
              <a:t>live smoke tests</a:t>
            </a:r>
            <a:endParaRPr lang="en-US" sz="1200" dirty="0"/>
          </a:p>
        </p:txBody>
      </p:sp>
      <p:sp>
        <p:nvSpPr>
          <p:cNvPr id="12" name="Shape 10"/>
          <p:cNvSpPr/>
          <p:nvPr/>
        </p:nvSpPr>
        <p:spPr>
          <a:xfrm>
            <a:off x="2331720" y="2468880"/>
            <a:ext cx="1645920" cy="1051560"/>
          </a:xfrm>
          <a:prstGeom prst="roundRect">
            <a:avLst>
              <a:gd name="adj" fmla="val 8696"/>
            </a:avLst>
          </a:prstGeom>
          <a:solidFill>
            <a:schemeClr val="bg2"/>
          </a:solidFill>
          <a:ln w="12700">
            <a:solidFill>
              <a:schemeClr val="bg2"/>
            </a:solidFill>
            <a:prstDash val="solid"/>
          </a:ln>
        </p:spPr>
      </p:sp>
      <p:sp>
        <p:nvSpPr>
          <p:cNvPr id="13" name="Text 11"/>
          <p:cNvSpPr txBox="1"/>
          <p:nvPr/>
        </p:nvSpPr>
        <p:spPr>
          <a:xfrm>
            <a:off x="2331720" y="2542032"/>
            <a:ext cx="1645920" cy="548640"/>
          </a:xfrm>
          <a:prstGeom prst="rect">
            <a:avLst/>
          </a:prstGeom>
          <a:noFill/>
          <a:ln/>
        </p:spPr>
        <p:txBody>
          <a:bodyPr wrap="square" lIns="0" tIns="0" rIns="0" bIns="0" rtlCol="0" anchor="ctr"/>
          <a:lstStyle/>
          <a:p>
            <a:pPr algn="ctr" indent="0" marL="0">
              <a:buNone/>
            </a:pPr>
            <a:r>
              <a:rPr lang="en-US" sz="3000" b="1" dirty="0">
                <a:solidFill>
                  <a:schemeClr val="accent1"/>
                </a:solidFill>
                <a:latin typeface="Cambria" pitchFamily="34" charset="0"/>
                <a:ea typeface="Cambria" pitchFamily="34" charset="-122"/>
                <a:cs typeface="Cambria" pitchFamily="34" charset="-120"/>
              </a:rPr>
              <a:t>19</a:t>
            </a:r>
            <a:endParaRPr lang="en-US" sz="3000" dirty="0"/>
          </a:p>
        </p:txBody>
      </p:sp>
      <p:sp>
        <p:nvSpPr>
          <p:cNvPr id="14" name="Text 12"/>
          <p:cNvSpPr txBox="1"/>
          <p:nvPr/>
        </p:nvSpPr>
        <p:spPr>
          <a:xfrm>
            <a:off x="2331720" y="3108960"/>
            <a:ext cx="1645920" cy="320040"/>
          </a:xfrm>
          <a:prstGeom prst="rect">
            <a:avLst/>
          </a:prstGeom>
          <a:noFill/>
          <a:ln/>
        </p:spPr>
        <p:txBody>
          <a:bodyPr wrap="square" lIns="0" tIns="0" rIns="0" bIns="0" rtlCol="0" anchor="ctr"/>
          <a:lstStyle/>
          <a:p>
            <a:pPr algn="ctr" indent="0" marL="0">
              <a:buNone/>
            </a:pPr>
            <a:r>
              <a:rPr lang="en-US" sz="1200" dirty="0">
                <a:solidFill>
                  <a:schemeClr val="tx2"/>
                </a:solidFill>
              </a:rPr>
              <a:t>defects remediated</a:t>
            </a:r>
            <a:endParaRPr lang="en-US" sz="1200" dirty="0"/>
          </a:p>
        </p:txBody>
      </p:sp>
      <p:sp>
        <p:nvSpPr>
          <p:cNvPr id="15" name="Shape 13"/>
          <p:cNvSpPr/>
          <p:nvPr/>
        </p:nvSpPr>
        <p:spPr>
          <a:xfrm>
            <a:off x="1458468" y="3794760"/>
            <a:ext cx="1609344" cy="475488"/>
          </a:xfrm>
          <a:prstGeom prst="rect">
            <a:avLst/>
          </a:prstGeom>
          <a:solidFill>
            <a:srgbClr val="0E7C7B"/>
          </a:solidFill>
          <a:ln w="12700">
            <a:solidFill>
              <a:srgbClr val="0E7C7B"/>
            </a:solidFill>
            <a:prstDash val="solid"/>
          </a:ln>
        </p:spPr>
      </p:sp>
      <p:sp>
        <p:nvSpPr>
          <p:cNvPr id="16" name="Text 14"/>
          <p:cNvSpPr txBox="1"/>
          <p:nvPr/>
        </p:nvSpPr>
        <p:spPr>
          <a:xfrm>
            <a:off x="1458468" y="3794760"/>
            <a:ext cx="1609344" cy="475488"/>
          </a:xfrm>
          <a:prstGeom prst="rect">
            <a:avLst/>
          </a:prstGeom>
          <a:noFill/>
          <a:ln/>
        </p:spPr>
        <p:txBody>
          <a:bodyPr wrap="square" lIns="0" tIns="0" rIns="0" bIns="0" rtlCol="0" anchor="ctr"/>
          <a:lstStyle/>
          <a:p>
            <a:pPr algn="ctr" indent="0" marL="0">
              <a:buNone/>
            </a:pPr>
            <a:r>
              <a:rPr lang="en-US" sz="1200" b="1" dirty="0">
                <a:solidFill>
                  <a:srgbClr val="FFFFFF"/>
                </a:solidFill>
              </a:rPr>
              <a:t>Evaluation harness</a:t>
            </a:r>
            <a:endParaRPr lang="en-US" sz="1200" dirty="0"/>
          </a:p>
        </p:txBody>
      </p:sp>
      <p:sp>
        <p:nvSpPr>
          <p:cNvPr id="17" name="Shape 15"/>
          <p:cNvSpPr/>
          <p:nvPr/>
        </p:nvSpPr>
        <p:spPr>
          <a:xfrm>
            <a:off x="1156716" y="4343400"/>
            <a:ext cx="2212848" cy="475488"/>
          </a:xfrm>
          <a:prstGeom prst="rect">
            <a:avLst/>
          </a:prstGeom>
          <a:solidFill>
            <a:srgbClr val="16A34A"/>
          </a:solidFill>
          <a:ln w="12700">
            <a:solidFill>
              <a:srgbClr val="16A34A"/>
            </a:solidFill>
            <a:prstDash val="solid"/>
          </a:ln>
        </p:spPr>
      </p:sp>
      <p:sp>
        <p:nvSpPr>
          <p:cNvPr id="18" name="Text 16"/>
          <p:cNvSpPr txBox="1"/>
          <p:nvPr/>
        </p:nvSpPr>
        <p:spPr>
          <a:xfrm>
            <a:off x="1156716" y="4343400"/>
            <a:ext cx="2212848" cy="475488"/>
          </a:xfrm>
          <a:prstGeom prst="rect">
            <a:avLst/>
          </a:prstGeom>
          <a:noFill/>
          <a:ln/>
        </p:spPr>
        <p:txBody>
          <a:bodyPr wrap="square" lIns="0" tIns="0" rIns="0" bIns="0" rtlCol="0" anchor="ctr"/>
          <a:lstStyle/>
          <a:p>
            <a:pPr algn="ctr" indent="0" marL="0">
              <a:buNone/>
            </a:pPr>
            <a:r>
              <a:rPr lang="en-US" sz="1200" b="1" dirty="0">
                <a:solidFill>
                  <a:srgbClr val="FFFFFF"/>
                </a:solidFill>
              </a:rPr>
              <a:t>Live smoke (4)</a:t>
            </a:r>
            <a:endParaRPr lang="en-US" sz="1200" dirty="0"/>
          </a:p>
        </p:txBody>
      </p:sp>
      <p:sp>
        <p:nvSpPr>
          <p:cNvPr id="19" name="Shape 17"/>
          <p:cNvSpPr/>
          <p:nvPr/>
        </p:nvSpPr>
        <p:spPr>
          <a:xfrm>
            <a:off x="854964" y="4892040"/>
            <a:ext cx="2816352" cy="475488"/>
          </a:xfrm>
          <a:prstGeom prst="rect">
            <a:avLst/>
          </a:prstGeom>
          <a:solidFill>
            <a:srgbClr val="2563EB"/>
          </a:solidFill>
          <a:ln w="12700">
            <a:solidFill>
              <a:srgbClr val="2563EB"/>
            </a:solidFill>
            <a:prstDash val="solid"/>
          </a:ln>
        </p:spPr>
      </p:sp>
      <p:sp>
        <p:nvSpPr>
          <p:cNvPr id="20" name="Text 18"/>
          <p:cNvSpPr txBox="1"/>
          <p:nvPr/>
        </p:nvSpPr>
        <p:spPr>
          <a:xfrm>
            <a:off x="854964" y="4892040"/>
            <a:ext cx="2816352" cy="475488"/>
          </a:xfrm>
          <a:prstGeom prst="rect">
            <a:avLst/>
          </a:prstGeom>
          <a:noFill/>
          <a:ln/>
        </p:spPr>
        <p:txBody>
          <a:bodyPr wrap="square" lIns="0" tIns="0" rIns="0" bIns="0" rtlCol="0" anchor="ctr"/>
          <a:lstStyle/>
          <a:p>
            <a:pPr algn="ctr" indent="0" marL="0">
              <a:buNone/>
            </a:pPr>
            <a:r>
              <a:rPr lang="en-US" sz="1200" b="1" dirty="0">
                <a:solidFill>
                  <a:srgbClr val="FFFFFF"/>
                </a:solidFill>
              </a:rPr>
              <a:t>Functional (12)</a:t>
            </a:r>
            <a:endParaRPr lang="en-US" sz="1200" dirty="0"/>
          </a:p>
        </p:txBody>
      </p:sp>
      <p:sp>
        <p:nvSpPr>
          <p:cNvPr id="21" name="Shape 19"/>
          <p:cNvSpPr/>
          <p:nvPr/>
        </p:nvSpPr>
        <p:spPr>
          <a:xfrm>
            <a:off x="553212" y="5440680"/>
            <a:ext cx="3419856" cy="475488"/>
          </a:xfrm>
          <a:prstGeom prst="rect">
            <a:avLst/>
          </a:prstGeom>
          <a:solidFill>
            <a:srgbClr val="1E293B"/>
          </a:solidFill>
          <a:ln w="12700">
            <a:solidFill>
              <a:srgbClr val="1E293B"/>
            </a:solidFill>
            <a:prstDash val="solid"/>
          </a:ln>
        </p:spPr>
      </p:sp>
      <p:sp>
        <p:nvSpPr>
          <p:cNvPr id="22" name="Text 20"/>
          <p:cNvSpPr txBox="1"/>
          <p:nvPr/>
        </p:nvSpPr>
        <p:spPr>
          <a:xfrm>
            <a:off x="553212" y="5440680"/>
            <a:ext cx="3419856" cy="475488"/>
          </a:xfrm>
          <a:prstGeom prst="rect">
            <a:avLst/>
          </a:prstGeom>
          <a:noFill/>
          <a:ln/>
        </p:spPr>
        <p:txBody>
          <a:bodyPr wrap="square" lIns="0" tIns="0" rIns="0" bIns="0" rtlCol="0" anchor="ctr"/>
          <a:lstStyle/>
          <a:p>
            <a:pPr algn="ctr" indent="0" marL="0">
              <a:buNone/>
            </a:pPr>
            <a:r>
              <a:rPr lang="en-US" sz="1200" b="1" dirty="0">
                <a:solidFill>
                  <a:srgbClr val="FFFFFF"/>
                </a:solidFill>
              </a:rPr>
              <a:t>Unit (82)</a:t>
            </a:r>
            <a:endParaRPr lang="en-US" sz="1200" dirty="0"/>
          </a:p>
        </p:txBody>
      </p:sp>
      <p:sp>
        <p:nvSpPr>
          <p:cNvPr id="23" name="Text 21"/>
          <p:cNvSpPr txBox="1"/>
          <p:nvPr/>
        </p:nvSpPr>
        <p:spPr>
          <a:xfrm>
            <a:off x="548640" y="5989320"/>
            <a:ext cx="3657600" cy="365760"/>
          </a:xfrm>
          <a:prstGeom prst="rect">
            <a:avLst/>
          </a:prstGeom>
          <a:noFill/>
          <a:ln/>
        </p:spPr>
        <p:txBody>
          <a:bodyPr wrap="square" lIns="0" tIns="0" rIns="0" bIns="0" rtlCol="0" anchor="ctr"/>
          <a:lstStyle/>
          <a:p>
            <a:pPr indent="0" marL="0">
              <a:buNone/>
            </a:pPr>
            <a:r>
              <a:rPr lang="en-US" sz="1000" i="1" dirty="0">
                <a:solidFill>
                  <a:srgbClr val="64748B"/>
                </a:solidFill>
              </a:rPr>
              <a:t>Scripted mock LLM forces rejection, re-planning and budget paths deterministically</a:t>
            </a:r>
            <a:endParaRPr lang="en-US" sz="1000" dirty="0"/>
          </a:p>
        </p:txBody>
      </p:sp>
      <p:sp>
        <p:nvSpPr>
          <p:cNvPr id="24" name="Text 22"/>
          <p:cNvSpPr txBox="1"/>
          <p:nvPr/>
        </p:nvSpPr>
        <p:spPr>
          <a:xfrm>
            <a:off x="4480560" y="1234440"/>
            <a:ext cx="7178040" cy="365760"/>
          </a:xfrm>
          <a:prstGeom prst="rect">
            <a:avLst/>
          </a:prstGeom>
          <a:noFill/>
          <a:ln/>
        </p:spPr>
        <p:txBody>
          <a:bodyPr wrap="square" lIns="0" tIns="0" rIns="0" bIns="0" rtlCol="0" anchor="ctr"/>
          <a:lstStyle/>
          <a:p>
            <a:pPr indent="0" marL="0">
              <a:buNone/>
            </a:pPr>
            <a:r>
              <a:rPr lang="en-US" sz="1600" b="1" dirty="0">
                <a:solidFill>
                  <a:schemeClr val="tx1"/>
                </a:solidFill>
              </a:rPr>
              <a:t>Remediation highlights (docs/REMEDIATION_LOG.md)</a:t>
            </a:r>
            <a:endParaRPr lang="en-US" sz="1600" dirty="0"/>
          </a:p>
        </p:txBody>
      </p:sp>
      <p:sp>
        <p:nvSpPr>
          <p:cNvPr id="25" name="Shape 23"/>
          <p:cNvSpPr/>
          <p:nvPr/>
        </p:nvSpPr>
        <p:spPr>
          <a:xfrm>
            <a:off x="4480560" y="1691640"/>
            <a:ext cx="7178040" cy="932688"/>
          </a:xfrm>
          <a:prstGeom prst="roundRect">
            <a:avLst>
              <a:gd name="adj" fmla="val 7843"/>
            </a:avLst>
          </a:prstGeom>
          <a:solidFill>
            <a:srgbClr val="FFFFFF"/>
          </a:solidFill>
          <a:ln w="12700">
            <a:solidFill>
              <a:srgbClr val="E2E8F0"/>
            </a:solidFill>
            <a:prstDash val="solid"/>
          </a:ln>
        </p:spPr>
      </p:sp>
      <p:sp>
        <p:nvSpPr>
          <p:cNvPr id="26" name="Shape 24"/>
          <p:cNvSpPr/>
          <p:nvPr/>
        </p:nvSpPr>
        <p:spPr>
          <a:xfrm>
            <a:off x="4617720" y="1892808"/>
            <a:ext cx="530352" cy="530352"/>
          </a:xfrm>
          <a:prstGeom prst="ellipse">
            <a:avLst/>
          </a:prstGeom>
          <a:solidFill>
            <a:srgbClr val="EA580C"/>
          </a:solidFill>
          <a:ln w="12700">
            <a:solidFill>
              <a:srgbClr val="EA580C"/>
            </a:solidFill>
            <a:prstDash val="solid"/>
          </a:ln>
        </p:spPr>
      </p:sp>
      <p:pic>
        <p:nvPicPr>
          <p:cNvPr id="27" name="Image 0" descr="preencoded.png">    </p:cNvPr>
          <p:cNvPicPr>
            <a:picLocks noChangeAspect="1"/>
          </p:cNvPicPr>
          <p:nvPr/>
        </p:nvPicPr>
        <p:blipFill>
          <a:blip r:embed="rId1"/>
          <a:stretch>
            <a:fillRect/>
          </a:stretch>
        </p:blipFill>
        <p:spPr>
          <a:xfrm>
            <a:off x="4750308" y="2025396"/>
            <a:ext cx="265176" cy="265176"/>
          </a:xfrm>
          <a:prstGeom prst="rect">
            <a:avLst/>
          </a:prstGeom>
        </p:spPr>
      </p:pic>
      <p:sp>
        <p:nvSpPr>
          <p:cNvPr id="28" name="Text 25"/>
          <p:cNvSpPr txBox="1"/>
          <p:nvPr/>
        </p:nvSpPr>
        <p:spPr>
          <a:xfrm>
            <a:off x="5303520" y="1746504"/>
            <a:ext cx="6217920" cy="320040"/>
          </a:xfrm>
          <a:prstGeom prst="rect">
            <a:avLst/>
          </a:prstGeom>
          <a:noFill/>
          <a:ln/>
        </p:spPr>
        <p:txBody>
          <a:bodyPr wrap="square" lIns="0" tIns="0" rIns="0" bIns="0" rtlCol="0" anchor="ctr"/>
          <a:lstStyle/>
          <a:p>
            <a:pPr indent="0" marL="0">
              <a:buNone/>
            </a:pPr>
            <a:r>
              <a:rPr lang="en-US" sz="1400" b="1" dirty="0">
                <a:solidFill>
                  <a:schemeClr val="tx1"/>
                </a:solidFill>
              </a:rPr>
              <a:t>R8 · Critic model withdrawn</a:t>
            </a:r>
            <a:endParaRPr lang="en-US" sz="1400" dirty="0"/>
          </a:p>
        </p:txBody>
      </p:sp>
      <p:sp>
        <p:nvSpPr>
          <p:cNvPr id="29" name="Text 26"/>
          <p:cNvSpPr txBox="1"/>
          <p:nvPr/>
        </p:nvSpPr>
        <p:spPr>
          <a:xfrm>
            <a:off x="5303520" y="2057400"/>
            <a:ext cx="6263640" cy="530352"/>
          </a:xfrm>
          <a:prstGeom prst="rect">
            <a:avLst/>
          </a:prstGeom>
          <a:noFill/>
          <a:ln/>
        </p:spPr>
        <p:txBody>
          <a:bodyPr wrap="square" lIns="0" tIns="0" rIns="0" bIns="0" rtlCol="0" anchor="t"/>
          <a:lstStyle/>
          <a:p>
            <a:pPr indent="0" marL="0">
              <a:buNone/>
            </a:pPr>
            <a:r>
              <a:rPr lang="en-US" sz="1200" dirty="0">
                <a:solidFill>
                  <a:schemeClr val="tx2"/>
                </a:solidFill>
              </a:rPr>
              <a:t>Groq 404 for Llama-3.3-70B → Qwen (other family), automatic model substitution, regression test.</a:t>
            </a:r>
            <a:endParaRPr lang="en-US" sz="1200" dirty="0"/>
          </a:p>
        </p:txBody>
      </p:sp>
      <p:sp>
        <p:nvSpPr>
          <p:cNvPr id="30" name="Shape 27"/>
          <p:cNvSpPr/>
          <p:nvPr/>
        </p:nvSpPr>
        <p:spPr>
          <a:xfrm>
            <a:off x="4480560" y="2743200"/>
            <a:ext cx="7178040" cy="932688"/>
          </a:xfrm>
          <a:prstGeom prst="roundRect">
            <a:avLst>
              <a:gd name="adj" fmla="val 7843"/>
            </a:avLst>
          </a:prstGeom>
          <a:solidFill>
            <a:srgbClr val="FFFFFF"/>
          </a:solidFill>
          <a:ln w="12700">
            <a:solidFill>
              <a:srgbClr val="E2E8F0"/>
            </a:solidFill>
            <a:prstDash val="solid"/>
          </a:ln>
        </p:spPr>
      </p:sp>
      <p:sp>
        <p:nvSpPr>
          <p:cNvPr id="31" name="Shape 28"/>
          <p:cNvSpPr/>
          <p:nvPr/>
        </p:nvSpPr>
        <p:spPr>
          <a:xfrm>
            <a:off x="4617720" y="2944368"/>
            <a:ext cx="530352" cy="530352"/>
          </a:xfrm>
          <a:prstGeom prst="ellipse">
            <a:avLst/>
          </a:prstGeom>
          <a:solidFill>
            <a:srgbClr val="EA580C"/>
          </a:solidFill>
          <a:ln w="12700">
            <a:solidFill>
              <a:srgbClr val="EA580C"/>
            </a:solidFill>
            <a:prstDash val="solid"/>
          </a:ln>
        </p:spPr>
      </p:sp>
      <p:pic>
        <p:nvPicPr>
          <p:cNvPr id="32" name="Image 1" descr="preencoded.png">    </p:cNvPr>
          <p:cNvPicPr>
            <a:picLocks noChangeAspect="1"/>
          </p:cNvPicPr>
          <p:nvPr/>
        </p:nvPicPr>
        <p:blipFill>
          <a:blip r:embed="rId2"/>
          <a:stretch>
            <a:fillRect/>
          </a:stretch>
        </p:blipFill>
        <p:spPr>
          <a:xfrm>
            <a:off x="4750308" y="3076956"/>
            <a:ext cx="265176" cy="265176"/>
          </a:xfrm>
          <a:prstGeom prst="rect">
            <a:avLst/>
          </a:prstGeom>
        </p:spPr>
      </p:pic>
      <p:sp>
        <p:nvSpPr>
          <p:cNvPr id="33" name="Text 29"/>
          <p:cNvSpPr txBox="1"/>
          <p:nvPr/>
        </p:nvSpPr>
        <p:spPr>
          <a:xfrm>
            <a:off x="5303520" y="2798064"/>
            <a:ext cx="6217920" cy="320040"/>
          </a:xfrm>
          <a:prstGeom prst="rect">
            <a:avLst/>
          </a:prstGeom>
          <a:noFill/>
          <a:ln/>
        </p:spPr>
        <p:txBody>
          <a:bodyPr wrap="square" lIns="0" tIns="0" rIns="0" bIns="0" rtlCol="0" anchor="ctr"/>
          <a:lstStyle/>
          <a:p>
            <a:pPr indent="0" marL="0">
              <a:buNone/>
            </a:pPr>
            <a:r>
              <a:rPr lang="en-US" sz="1400" b="1" dirty="0">
                <a:solidFill>
                  <a:schemeClr val="tx1"/>
                </a:solidFill>
              </a:rPr>
              <a:t>R10 · API rate limiting</a:t>
            </a:r>
            <a:endParaRPr lang="en-US" sz="1400" dirty="0"/>
          </a:p>
        </p:txBody>
      </p:sp>
      <p:sp>
        <p:nvSpPr>
          <p:cNvPr id="34" name="Text 30"/>
          <p:cNvSpPr txBox="1"/>
          <p:nvPr/>
        </p:nvSpPr>
        <p:spPr>
          <a:xfrm>
            <a:off x="5303520" y="3108960"/>
            <a:ext cx="6263640" cy="530352"/>
          </a:xfrm>
          <a:prstGeom prst="rect">
            <a:avLst/>
          </a:prstGeom>
          <a:noFill/>
          <a:ln/>
        </p:spPr>
        <p:txBody>
          <a:bodyPr wrap="square" lIns="0" tIns="0" rIns="0" bIns="0" rtlCol="0" anchor="t"/>
          <a:lstStyle/>
          <a:p>
            <a:pPr indent="0" marL="0">
              <a:buNone/>
            </a:pPr>
            <a:r>
              <a:rPr lang="en-US" sz="1200" dirty="0">
                <a:solidFill>
                  <a:schemeClr val="tx2"/>
                </a:solidFill>
              </a:rPr>
              <a:t>OpenAlex 429 in the first live run → honour Retry-After, exponential back-off, 1 req/s spacing.</a:t>
            </a:r>
            <a:endParaRPr lang="en-US" sz="1200" dirty="0"/>
          </a:p>
        </p:txBody>
      </p:sp>
      <p:sp>
        <p:nvSpPr>
          <p:cNvPr id="35" name="Shape 31"/>
          <p:cNvSpPr/>
          <p:nvPr/>
        </p:nvSpPr>
        <p:spPr>
          <a:xfrm>
            <a:off x="4480560" y="3794760"/>
            <a:ext cx="7178040" cy="932688"/>
          </a:xfrm>
          <a:prstGeom prst="roundRect">
            <a:avLst>
              <a:gd name="adj" fmla="val 7843"/>
            </a:avLst>
          </a:prstGeom>
          <a:solidFill>
            <a:srgbClr val="FFFFFF"/>
          </a:solidFill>
          <a:ln w="12700">
            <a:solidFill>
              <a:srgbClr val="E2E8F0"/>
            </a:solidFill>
            <a:prstDash val="solid"/>
          </a:ln>
        </p:spPr>
      </p:sp>
      <p:sp>
        <p:nvSpPr>
          <p:cNvPr id="36" name="Shape 32"/>
          <p:cNvSpPr/>
          <p:nvPr/>
        </p:nvSpPr>
        <p:spPr>
          <a:xfrm>
            <a:off x="4617720" y="3995928"/>
            <a:ext cx="530352" cy="530352"/>
          </a:xfrm>
          <a:prstGeom prst="ellipse">
            <a:avLst/>
          </a:prstGeom>
          <a:solidFill>
            <a:srgbClr val="EA580C"/>
          </a:solidFill>
          <a:ln w="12700">
            <a:solidFill>
              <a:srgbClr val="EA580C"/>
            </a:solidFill>
            <a:prstDash val="solid"/>
          </a:ln>
        </p:spPr>
      </p:sp>
      <p:pic>
        <p:nvPicPr>
          <p:cNvPr id="37" name="Image 2" descr="preencoded.png">    </p:cNvPr>
          <p:cNvPicPr>
            <a:picLocks noChangeAspect="1"/>
          </p:cNvPicPr>
          <p:nvPr/>
        </p:nvPicPr>
        <p:blipFill>
          <a:blip r:embed="rId3"/>
          <a:stretch>
            <a:fillRect/>
          </a:stretch>
        </p:blipFill>
        <p:spPr>
          <a:xfrm>
            <a:off x="4750308" y="4128516"/>
            <a:ext cx="265176" cy="265176"/>
          </a:xfrm>
          <a:prstGeom prst="rect">
            <a:avLst/>
          </a:prstGeom>
        </p:spPr>
      </p:pic>
      <p:sp>
        <p:nvSpPr>
          <p:cNvPr id="38" name="Text 33"/>
          <p:cNvSpPr txBox="1"/>
          <p:nvPr/>
        </p:nvSpPr>
        <p:spPr>
          <a:xfrm>
            <a:off x="5303520" y="3849624"/>
            <a:ext cx="6217920" cy="320040"/>
          </a:xfrm>
          <a:prstGeom prst="rect">
            <a:avLst/>
          </a:prstGeom>
          <a:noFill/>
          <a:ln/>
        </p:spPr>
        <p:txBody>
          <a:bodyPr wrap="square" lIns="0" tIns="0" rIns="0" bIns="0" rtlCol="0" anchor="ctr"/>
          <a:lstStyle/>
          <a:p>
            <a:pPr indent="0" marL="0">
              <a:buNone/>
            </a:pPr>
            <a:r>
              <a:rPr lang="en-US" sz="1400" b="1" dirty="0">
                <a:solidFill>
                  <a:schemeClr val="tx1"/>
                </a:solidFill>
              </a:rPr>
              <a:t>R15 · Planner misdiagnosis</a:t>
            </a:r>
            <a:endParaRPr lang="en-US" sz="1400" dirty="0"/>
          </a:p>
        </p:txBody>
      </p:sp>
      <p:sp>
        <p:nvSpPr>
          <p:cNvPr id="39" name="Text 34"/>
          <p:cNvSpPr txBox="1"/>
          <p:nvPr/>
        </p:nvSpPr>
        <p:spPr>
          <a:xfrm>
            <a:off x="5303520" y="4160520"/>
            <a:ext cx="6263640" cy="530352"/>
          </a:xfrm>
          <a:prstGeom prst="rect">
            <a:avLst/>
          </a:prstGeom>
          <a:noFill/>
          <a:ln/>
        </p:spPr>
        <p:txBody>
          <a:bodyPr wrap="square" lIns="0" tIns="0" rIns="0" bIns="0" rtlCol="0" anchor="t"/>
          <a:lstStyle/>
          <a:p>
            <a:pPr indent="0" marL="0">
              <a:buNone/>
            </a:pPr>
            <a:r>
              <a:rPr lang="en-US" sz="1200" dirty="0">
                <a:solidFill>
                  <a:schemeClr val="tx2"/>
                </a:solidFill>
              </a:rPr>
              <a:t>Model format error read as a 'bad query'; a good query was rewritten. Feedback now states the cause. Lesson: self-correction is only as good as its feedback.</a:t>
            </a:r>
            <a:endParaRPr lang="en-US" sz="1200" dirty="0"/>
          </a:p>
        </p:txBody>
      </p:sp>
      <p:sp>
        <p:nvSpPr>
          <p:cNvPr id="40" name="Text 35"/>
          <p:cNvSpPr txBox="1"/>
          <p:nvPr/>
        </p:nvSpPr>
        <p:spPr>
          <a:xfrm>
            <a:off x="4480560" y="4937760"/>
            <a:ext cx="7178040" cy="274320"/>
          </a:xfrm>
          <a:prstGeom prst="rect">
            <a:avLst/>
          </a:prstGeom>
          <a:noFill/>
          <a:ln/>
        </p:spPr>
        <p:txBody>
          <a:bodyPr wrap="square" lIns="0" tIns="0" rIns="0" bIns="0" rtlCol="0" anchor="ctr"/>
          <a:lstStyle/>
          <a:p>
            <a:pPr indent="0" marL="0">
              <a:buNone/>
            </a:pPr>
            <a:r>
              <a:rPr lang="en-US" sz="1300" b="1" dirty="0">
                <a:solidFill>
                  <a:schemeClr val="tx1"/>
                </a:solidFill>
              </a:rPr>
              <a:t>Development progress (Git history)</a:t>
            </a:r>
            <a:endParaRPr lang="en-US" sz="1300" dirty="0"/>
          </a:p>
        </p:txBody>
      </p:sp>
      <p:sp>
        <p:nvSpPr>
          <p:cNvPr id="41" name="Shape 36"/>
          <p:cNvSpPr/>
          <p:nvPr/>
        </p:nvSpPr>
        <p:spPr>
          <a:xfrm>
            <a:off x="4572000" y="5440680"/>
            <a:ext cx="6949440" cy="0"/>
          </a:xfrm>
          <a:prstGeom prst="line">
            <a:avLst/>
          </a:prstGeom>
          <a:noFill/>
          <a:ln w="25400">
            <a:solidFill>
              <a:srgbClr val="CBD5E1"/>
            </a:solidFill>
            <a:prstDash val="solid"/>
          </a:ln>
        </p:spPr>
      </p:sp>
      <p:sp>
        <p:nvSpPr>
          <p:cNvPr id="42" name="Shape 37"/>
          <p:cNvSpPr/>
          <p:nvPr/>
        </p:nvSpPr>
        <p:spPr>
          <a:xfrm>
            <a:off x="4489704" y="5358384"/>
            <a:ext cx="164592" cy="164592"/>
          </a:xfrm>
          <a:prstGeom prst="ellipse">
            <a:avLst/>
          </a:prstGeom>
          <a:solidFill>
            <a:srgbClr val="F2A541"/>
          </a:solidFill>
          <a:ln w="12700">
            <a:solidFill>
              <a:srgbClr val="FFFFFF"/>
            </a:solidFill>
            <a:prstDash val="solid"/>
          </a:ln>
        </p:spPr>
      </p:sp>
      <p:sp>
        <p:nvSpPr>
          <p:cNvPr id="43" name="Text 38"/>
          <p:cNvSpPr txBox="1"/>
          <p:nvPr/>
        </p:nvSpPr>
        <p:spPr>
          <a:xfrm>
            <a:off x="4114800" y="5577840"/>
            <a:ext cx="914400" cy="457200"/>
          </a:xfrm>
          <a:prstGeom prst="rect">
            <a:avLst/>
          </a:prstGeom>
          <a:noFill/>
          <a:ln/>
        </p:spPr>
        <p:txBody>
          <a:bodyPr wrap="square" lIns="0" tIns="0" rIns="0" bIns="0" rtlCol="0" anchor="t"/>
          <a:lstStyle/>
          <a:p>
            <a:pPr algn="ctr" indent="0" marL="0">
              <a:buNone/>
            </a:pPr>
            <a:r>
              <a:rPr lang="en-US" sz="1000" dirty="0">
                <a:solidFill>
                  <a:schemeClr val="tx2"/>
                </a:solidFill>
              </a:rPr>
              <a:t>Unit 6 design</a:t>
            </a:r>
            <a:endParaRPr lang="en-US" sz="1000" dirty="0"/>
          </a:p>
        </p:txBody>
      </p:sp>
      <p:sp>
        <p:nvSpPr>
          <p:cNvPr id="44" name="Shape 39"/>
          <p:cNvSpPr/>
          <p:nvPr/>
        </p:nvSpPr>
        <p:spPr>
          <a:xfrm>
            <a:off x="5482481" y="5358384"/>
            <a:ext cx="164592" cy="164592"/>
          </a:xfrm>
          <a:prstGeom prst="ellipse">
            <a:avLst/>
          </a:prstGeom>
          <a:solidFill>
            <a:srgbClr val="0E7C7B"/>
          </a:solidFill>
          <a:ln w="12700">
            <a:solidFill>
              <a:srgbClr val="FFFFFF"/>
            </a:solidFill>
            <a:prstDash val="solid"/>
          </a:ln>
        </p:spPr>
      </p:sp>
      <p:sp>
        <p:nvSpPr>
          <p:cNvPr id="45" name="Text 40"/>
          <p:cNvSpPr txBox="1"/>
          <p:nvPr/>
        </p:nvSpPr>
        <p:spPr>
          <a:xfrm>
            <a:off x="5107577" y="5577840"/>
            <a:ext cx="914400" cy="457200"/>
          </a:xfrm>
          <a:prstGeom prst="rect">
            <a:avLst/>
          </a:prstGeom>
          <a:noFill/>
          <a:ln/>
        </p:spPr>
        <p:txBody>
          <a:bodyPr wrap="square" lIns="0" tIns="0" rIns="0" bIns="0" rtlCol="0" anchor="t"/>
          <a:lstStyle/>
          <a:p>
            <a:pPr algn="ctr" indent="0" marL="0">
              <a:buNone/>
            </a:pPr>
            <a:r>
              <a:rPr lang="en-US" sz="1000" dirty="0">
                <a:solidFill>
                  <a:schemeClr val="tx2"/>
                </a:solidFill>
              </a:rPr>
              <a:t>Scaffold</a:t>
            </a:r>
            <a:endParaRPr lang="en-US" sz="1000" dirty="0"/>
          </a:p>
        </p:txBody>
      </p:sp>
      <p:sp>
        <p:nvSpPr>
          <p:cNvPr id="46" name="Shape 41"/>
          <p:cNvSpPr/>
          <p:nvPr/>
        </p:nvSpPr>
        <p:spPr>
          <a:xfrm>
            <a:off x="6475258" y="5358384"/>
            <a:ext cx="164592" cy="164592"/>
          </a:xfrm>
          <a:prstGeom prst="ellipse">
            <a:avLst/>
          </a:prstGeom>
          <a:solidFill>
            <a:srgbClr val="0E7C7B"/>
          </a:solidFill>
          <a:ln w="12700">
            <a:solidFill>
              <a:srgbClr val="FFFFFF"/>
            </a:solidFill>
            <a:prstDash val="solid"/>
          </a:ln>
        </p:spPr>
      </p:sp>
      <p:sp>
        <p:nvSpPr>
          <p:cNvPr id="47" name="Text 42"/>
          <p:cNvSpPr txBox="1"/>
          <p:nvPr/>
        </p:nvSpPr>
        <p:spPr>
          <a:xfrm>
            <a:off x="6100354" y="5577840"/>
            <a:ext cx="914400" cy="457200"/>
          </a:xfrm>
          <a:prstGeom prst="rect">
            <a:avLst/>
          </a:prstGeom>
          <a:noFill/>
          <a:ln/>
        </p:spPr>
        <p:txBody>
          <a:bodyPr wrap="square" lIns="0" tIns="0" rIns="0" bIns="0" rtlCol="0" anchor="t"/>
          <a:lstStyle/>
          <a:p>
            <a:pPr algn="ctr" indent="0" marL="0">
              <a:buNone/>
            </a:pPr>
            <a:r>
              <a:rPr lang="en-US" sz="1000" dirty="0">
                <a:solidFill>
                  <a:schemeClr val="tx2"/>
                </a:solidFill>
              </a:rPr>
              <a:t>Blackboard &amp; APIs</a:t>
            </a:r>
            <a:endParaRPr lang="en-US" sz="1000" dirty="0"/>
          </a:p>
        </p:txBody>
      </p:sp>
      <p:sp>
        <p:nvSpPr>
          <p:cNvPr id="48" name="Shape 43"/>
          <p:cNvSpPr/>
          <p:nvPr/>
        </p:nvSpPr>
        <p:spPr>
          <a:xfrm>
            <a:off x="7468035" y="5358384"/>
            <a:ext cx="164592" cy="164592"/>
          </a:xfrm>
          <a:prstGeom prst="ellipse">
            <a:avLst/>
          </a:prstGeom>
          <a:solidFill>
            <a:srgbClr val="0E7C7B"/>
          </a:solidFill>
          <a:ln w="12700">
            <a:solidFill>
              <a:srgbClr val="FFFFFF"/>
            </a:solidFill>
            <a:prstDash val="solid"/>
          </a:ln>
        </p:spPr>
      </p:sp>
      <p:sp>
        <p:nvSpPr>
          <p:cNvPr id="49" name="Text 44"/>
          <p:cNvSpPr txBox="1"/>
          <p:nvPr/>
        </p:nvSpPr>
        <p:spPr>
          <a:xfrm>
            <a:off x="7093131" y="5577840"/>
            <a:ext cx="914400" cy="457200"/>
          </a:xfrm>
          <a:prstGeom prst="rect">
            <a:avLst/>
          </a:prstGeom>
          <a:noFill/>
          <a:ln/>
        </p:spPr>
        <p:txBody>
          <a:bodyPr wrap="square" lIns="0" tIns="0" rIns="0" bIns="0" rtlCol="0" anchor="t"/>
          <a:lstStyle/>
          <a:p>
            <a:pPr algn="ctr" indent="0" marL="0">
              <a:buNone/>
            </a:pPr>
            <a:r>
              <a:rPr lang="en-US" sz="1000" dirty="0">
                <a:solidFill>
                  <a:schemeClr val="tx2"/>
                </a:solidFill>
              </a:rPr>
              <a:t>LLM layer &amp; agents</a:t>
            </a:r>
            <a:endParaRPr lang="en-US" sz="1000" dirty="0"/>
          </a:p>
        </p:txBody>
      </p:sp>
      <p:sp>
        <p:nvSpPr>
          <p:cNvPr id="50" name="Shape 45"/>
          <p:cNvSpPr/>
          <p:nvPr/>
        </p:nvSpPr>
        <p:spPr>
          <a:xfrm>
            <a:off x="8460813" y="5358384"/>
            <a:ext cx="164592" cy="164592"/>
          </a:xfrm>
          <a:prstGeom prst="ellipse">
            <a:avLst/>
          </a:prstGeom>
          <a:solidFill>
            <a:srgbClr val="0E7C7B"/>
          </a:solidFill>
          <a:ln w="12700">
            <a:solidFill>
              <a:srgbClr val="FFFFFF"/>
            </a:solidFill>
            <a:prstDash val="solid"/>
          </a:ln>
        </p:spPr>
      </p:sp>
      <p:sp>
        <p:nvSpPr>
          <p:cNvPr id="51" name="Text 46"/>
          <p:cNvSpPr txBox="1"/>
          <p:nvPr/>
        </p:nvSpPr>
        <p:spPr>
          <a:xfrm>
            <a:off x="8085909" y="5577840"/>
            <a:ext cx="914400" cy="457200"/>
          </a:xfrm>
          <a:prstGeom prst="rect">
            <a:avLst/>
          </a:prstGeom>
          <a:noFill/>
          <a:ln/>
        </p:spPr>
        <p:txBody>
          <a:bodyPr wrap="square" lIns="0" tIns="0" rIns="0" bIns="0" rtlCol="0" anchor="t"/>
          <a:lstStyle/>
          <a:p>
            <a:pPr algn="ctr" indent="0" marL="0">
              <a:buNone/>
            </a:pPr>
            <a:r>
              <a:rPr lang="en-US" sz="1000" dirty="0">
                <a:solidFill>
                  <a:schemeClr val="tx2"/>
                </a:solidFill>
              </a:rPr>
              <a:t>Unit + functional tests</a:t>
            </a:r>
            <a:endParaRPr lang="en-US" sz="1000" dirty="0"/>
          </a:p>
        </p:txBody>
      </p:sp>
      <p:sp>
        <p:nvSpPr>
          <p:cNvPr id="52" name="Shape 47"/>
          <p:cNvSpPr/>
          <p:nvPr/>
        </p:nvSpPr>
        <p:spPr>
          <a:xfrm>
            <a:off x="9453590" y="5358384"/>
            <a:ext cx="164592" cy="164592"/>
          </a:xfrm>
          <a:prstGeom prst="ellipse">
            <a:avLst/>
          </a:prstGeom>
          <a:solidFill>
            <a:srgbClr val="0E7C7B"/>
          </a:solidFill>
          <a:ln w="12700">
            <a:solidFill>
              <a:srgbClr val="FFFFFF"/>
            </a:solidFill>
            <a:prstDash val="solid"/>
          </a:ln>
        </p:spPr>
      </p:sp>
      <p:sp>
        <p:nvSpPr>
          <p:cNvPr id="53" name="Text 48"/>
          <p:cNvSpPr txBox="1"/>
          <p:nvPr/>
        </p:nvSpPr>
        <p:spPr>
          <a:xfrm>
            <a:off x="9078686" y="5577840"/>
            <a:ext cx="914400" cy="457200"/>
          </a:xfrm>
          <a:prstGeom prst="rect">
            <a:avLst/>
          </a:prstGeom>
          <a:noFill/>
          <a:ln/>
        </p:spPr>
        <p:txBody>
          <a:bodyPr wrap="square" lIns="0" tIns="0" rIns="0" bIns="0" rtlCol="0" anchor="t"/>
          <a:lstStyle/>
          <a:p>
            <a:pPr algn="ctr" indent="0" marL="0">
              <a:buNone/>
            </a:pPr>
            <a:r>
              <a:rPr lang="en-US" sz="1000" dirty="0">
                <a:solidFill>
                  <a:schemeClr val="tx2"/>
                </a:solidFill>
              </a:rPr>
              <a:t>Evaluation</a:t>
            </a:r>
            <a:endParaRPr lang="en-US" sz="1000" dirty="0"/>
          </a:p>
        </p:txBody>
      </p:sp>
      <p:sp>
        <p:nvSpPr>
          <p:cNvPr id="54" name="Shape 49"/>
          <p:cNvSpPr/>
          <p:nvPr/>
        </p:nvSpPr>
        <p:spPr>
          <a:xfrm>
            <a:off x="10446367" y="5358384"/>
            <a:ext cx="164592" cy="164592"/>
          </a:xfrm>
          <a:prstGeom prst="ellipse">
            <a:avLst/>
          </a:prstGeom>
          <a:solidFill>
            <a:srgbClr val="0E7C7B"/>
          </a:solidFill>
          <a:ln w="12700">
            <a:solidFill>
              <a:srgbClr val="FFFFFF"/>
            </a:solidFill>
            <a:prstDash val="solid"/>
          </a:ln>
        </p:spPr>
      </p:sp>
      <p:sp>
        <p:nvSpPr>
          <p:cNvPr id="55" name="Text 50"/>
          <p:cNvSpPr txBox="1"/>
          <p:nvPr/>
        </p:nvSpPr>
        <p:spPr>
          <a:xfrm>
            <a:off x="10071463" y="5577840"/>
            <a:ext cx="914400" cy="457200"/>
          </a:xfrm>
          <a:prstGeom prst="rect">
            <a:avLst/>
          </a:prstGeom>
          <a:noFill/>
          <a:ln/>
        </p:spPr>
        <p:txBody>
          <a:bodyPr wrap="square" lIns="0" tIns="0" rIns="0" bIns="0" rtlCol="0" anchor="t"/>
          <a:lstStyle/>
          <a:p>
            <a:pPr algn="ctr" indent="0" marL="0">
              <a:buNone/>
            </a:pPr>
            <a:r>
              <a:rPr lang="en-US" sz="1000" dirty="0">
                <a:solidFill>
                  <a:schemeClr val="tx2"/>
                </a:solidFill>
              </a:rPr>
              <a:t>Dashboard &amp; live eval</a:t>
            </a:r>
            <a:endParaRPr lang="en-US" sz="1000" dirty="0"/>
          </a:p>
        </p:txBody>
      </p:sp>
      <p:sp>
        <p:nvSpPr>
          <p:cNvPr id="56" name="Shape 51"/>
          <p:cNvSpPr/>
          <p:nvPr/>
        </p:nvSpPr>
        <p:spPr>
          <a:xfrm>
            <a:off x="11439144" y="5358384"/>
            <a:ext cx="164592" cy="164592"/>
          </a:xfrm>
          <a:prstGeom prst="ellipse">
            <a:avLst/>
          </a:prstGeom>
          <a:solidFill>
            <a:srgbClr val="0E7C7B"/>
          </a:solidFill>
          <a:ln w="12700">
            <a:solidFill>
              <a:srgbClr val="FFFFFF"/>
            </a:solidFill>
            <a:prstDash val="solid"/>
          </a:ln>
        </p:spPr>
      </p:sp>
      <p:sp>
        <p:nvSpPr>
          <p:cNvPr id="57" name="Text 52"/>
          <p:cNvSpPr txBox="1"/>
          <p:nvPr/>
        </p:nvSpPr>
        <p:spPr>
          <a:xfrm>
            <a:off x="11064240" y="5577840"/>
            <a:ext cx="914400" cy="457200"/>
          </a:xfrm>
          <a:prstGeom prst="rect">
            <a:avLst/>
          </a:prstGeom>
          <a:noFill/>
          <a:ln/>
        </p:spPr>
        <p:txBody>
          <a:bodyPr wrap="square" lIns="0" tIns="0" rIns="0" bIns="0" rtlCol="0" anchor="t"/>
          <a:lstStyle/>
          <a:p>
            <a:pPr algn="ctr" indent="0" marL="0">
              <a:buNone/>
            </a:pPr>
            <a:r>
              <a:rPr lang="en-US" sz="1000" dirty="0">
                <a:solidFill>
                  <a:schemeClr val="tx2"/>
                </a:solidFill>
              </a:rPr>
              <a:t>README &amp; evidence</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latin typeface="Cambria" pitchFamily="34" charset="0"/>
                <a:ea typeface="Cambria" pitchFamily="34" charset="-122"/>
                <a:cs typeface="Cambria" pitchFamily="34" charset="-120"/>
              </a:rPr>
              <a:t>Critical reflection: deviations, limitations and ethics</a:t>
            </a:r>
            <a:endParaRPr lang="en-US" sz="3200" dirty="0"/>
          </a:p>
        </p:txBody>
      </p:sp>
      <p:sp>
        <p:nvSpPr>
          <p:cNvPr id="3" name="Shape 1"/>
          <p:cNvSpPr/>
          <p:nvPr/>
        </p:nvSpPr>
        <p:spPr>
          <a:xfrm>
            <a:off x="548640" y="1234440"/>
            <a:ext cx="3566160" cy="3611880"/>
          </a:xfrm>
          <a:prstGeom prst="roundRect">
            <a:avLst>
              <a:gd name="adj" fmla="val 2564"/>
            </a:avLst>
          </a:prstGeom>
          <a:solidFill>
            <a:srgbClr val="F8FAFC"/>
          </a:solidFill>
          <a:ln w="12700">
            <a:solidFill>
              <a:srgbClr val="E2E8F0"/>
            </a:solidFill>
            <a:prstDash val="solid"/>
          </a:ln>
        </p:spPr>
      </p:sp>
      <p:sp>
        <p:nvSpPr>
          <p:cNvPr id="4" name="Shape 2"/>
          <p:cNvSpPr/>
          <p:nvPr/>
        </p:nvSpPr>
        <p:spPr>
          <a:xfrm>
            <a:off x="731520" y="1389888"/>
            <a:ext cx="548640" cy="548640"/>
          </a:xfrm>
          <a:prstGeom prst="ellipse">
            <a:avLst/>
          </a:prstGeom>
          <a:solidFill>
            <a:srgbClr val="0E7C7B"/>
          </a:solidFill>
          <a:ln w="12700">
            <a:solidFill>
              <a:srgbClr val="0E7C7B"/>
            </a:solidFill>
            <a:prstDash val="solid"/>
          </a:ln>
        </p:spPr>
      </p:sp>
      <p:pic>
        <p:nvPicPr>
          <p:cNvPr id="5" name="Image 0" descr="preencoded.png">    </p:cNvPr>
          <p:cNvPicPr>
            <a:picLocks noChangeAspect="1"/>
          </p:cNvPicPr>
          <p:nvPr/>
        </p:nvPicPr>
        <p:blipFill>
          <a:blip r:embed="rId1"/>
          <a:stretch>
            <a:fillRect/>
          </a:stretch>
        </p:blipFill>
        <p:spPr>
          <a:xfrm>
            <a:off x="868680" y="1527048"/>
            <a:ext cx="274320" cy="274320"/>
          </a:xfrm>
          <a:prstGeom prst="rect">
            <a:avLst/>
          </a:prstGeom>
        </p:spPr>
      </p:pic>
      <p:sp>
        <p:nvSpPr>
          <p:cNvPr id="6" name="Text 3"/>
          <p:cNvSpPr txBox="1"/>
          <p:nvPr/>
        </p:nvSpPr>
        <p:spPr>
          <a:xfrm>
            <a:off x="1417320" y="1371600"/>
            <a:ext cx="2606040" cy="594360"/>
          </a:xfrm>
          <a:prstGeom prst="rect">
            <a:avLst/>
          </a:prstGeom>
          <a:noFill/>
          <a:ln/>
        </p:spPr>
        <p:txBody>
          <a:bodyPr wrap="square" lIns="0" tIns="0" rIns="0" bIns="0" rtlCol="0" anchor="ctr"/>
          <a:lstStyle/>
          <a:p>
            <a:pPr indent="0" marL="0">
              <a:buNone/>
            </a:pPr>
            <a:r>
              <a:rPr lang="en-US" sz="1600" b="1" dirty="0">
                <a:solidFill>
                  <a:srgbClr val="0E7C7B"/>
                </a:solidFill>
              </a:rPr>
              <a:t>Deviations, and why</a:t>
            </a:r>
            <a:endParaRPr lang="en-US" sz="1600" dirty="0"/>
          </a:p>
        </p:txBody>
      </p:sp>
      <p:sp>
        <p:nvSpPr>
          <p:cNvPr id="7" name="Text 4"/>
          <p:cNvSpPr txBox="1"/>
          <p:nvPr/>
        </p:nvSpPr>
        <p:spPr>
          <a:xfrm>
            <a:off x="731520" y="2103120"/>
            <a:ext cx="3200400" cy="2697480"/>
          </a:xfrm>
          <a:prstGeom prst="rect">
            <a:avLst/>
          </a:prstGeom>
          <a:noFill/>
          <a:ln/>
        </p:spPr>
        <p:txBody>
          <a:bodyPr wrap="square" lIns="0" tIns="0" rIns="0" bIns="0" rtlCol="0" anchor="t"/>
          <a:lstStyle/>
          <a:p>
            <a:pPr indent="0" marL="0">
              <a:buNone/>
            </a:pPr>
            <a:r>
              <a:rPr lang="en-US" sz="1300" b="1" dirty="0">
                <a:solidFill>
                  <a:schemeClr val="tx1"/>
                </a:solidFill>
              </a:rPr>
              <a:t>Azure GPT-5-mini → Groq gpt-oss</a:t>
            </a:r>
            <a:endParaRPr lang="en-US" sz="1300" dirty="0"/>
          </a:p>
          <a:p>
            <a:pPr indent="0" marL="0">
              <a:spcAft>
                <a:spcPts val="900"/>
              </a:spcAft>
              <a:buNone/>
            </a:pPr>
            <a:r>
              <a:rPr lang="en-US" sz="1200" dirty="0">
                <a:solidFill>
                  <a:schemeClr val="tx2"/>
                </a:solidFill>
              </a:rPr>
              <a:t>no Azure subscription; OpenAI-compatible API, so moving back is a one-line change</a:t>
            </a:r>
            <a:endParaRPr lang="en-US" sz="1300" dirty="0"/>
          </a:p>
          <a:p>
            <a:pPr indent="0" marL="0">
              <a:buNone/>
            </a:pPr>
            <a:r>
              <a:rPr lang="en-US" sz="1300" b="1" dirty="0">
                <a:solidFill>
                  <a:schemeClr val="tx1"/>
                </a:solidFill>
              </a:rPr>
              <a:t>Llama-3.3-70B → Qwen Critic</a:t>
            </a:r>
            <a:endParaRPr lang="en-US" sz="1300" dirty="0"/>
          </a:p>
          <a:p>
            <a:pPr indent="0" marL="0">
              <a:spcAft>
                <a:spcPts val="900"/>
              </a:spcAft>
              <a:buNone/>
            </a:pPr>
            <a:r>
              <a:rPr lang="en-US" sz="1200" dirty="0">
                <a:solidFill>
                  <a:schemeClr val="tx2"/>
                </a:solidFill>
              </a:rPr>
              <a:t>model withdrawn; the design's real need, an independent model family, is preserved</a:t>
            </a:r>
            <a:endParaRPr lang="en-US" sz="1300" dirty="0"/>
          </a:p>
          <a:p>
            <a:pPr indent="0" marL="0">
              <a:buNone/>
            </a:pPr>
            <a:r>
              <a:rPr lang="en-US" sz="1300" b="1" dirty="0">
                <a:solidFill>
                  <a:schemeClr val="tx1"/>
                </a:solidFill>
              </a:rPr>
              <a:t>Ollama minicheck → scripted mocks</a:t>
            </a:r>
            <a:endParaRPr lang="en-US" sz="1300" dirty="0"/>
          </a:p>
          <a:p>
            <a:pPr indent="0" marL="0">
              <a:spcAft>
                <a:spcPts val="900"/>
              </a:spcAft>
              <a:buNone/>
            </a:pPr>
            <a:r>
              <a:rPr lang="en-US" sz="1200" dirty="0">
                <a:solidFill>
                  <a:schemeClr val="tx2"/>
                </a:solidFill>
              </a:rPr>
              <a:t>no GPU; mocks force failure paths deterministically</a:t>
            </a:r>
            <a:endParaRPr lang="en-US" sz="1300" dirty="0"/>
          </a:p>
        </p:txBody>
      </p:sp>
      <p:sp>
        <p:nvSpPr>
          <p:cNvPr id="8" name="Shape 5"/>
          <p:cNvSpPr/>
          <p:nvPr/>
        </p:nvSpPr>
        <p:spPr>
          <a:xfrm>
            <a:off x="4297680" y="1234440"/>
            <a:ext cx="3566160" cy="3611880"/>
          </a:xfrm>
          <a:prstGeom prst="roundRect">
            <a:avLst>
              <a:gd name="adj" fmla="val 2564"/>
            </a:avLst>
          </a:prstGeom>
          <a:solidFill>
            <a:srgbClr val="F8FAFC"/>
          </a:solidFill>
          <a:ln w="12700">
            <a:solidFill>
              <a:srgbClr val="E2E8F0"/>
            </a:solidFill>
            <a:prstDash val="solid"/>
          </a:ln>
        </p:spPr>
      </p:sp>
      <p:sp>
        <p:nvSpPr>
          <p:cNvPr id="9" name="Shape 6"/>
          <p:cNvSpPr/>
          <p:nvPr/>
        </p:nvSpPr>
        <p:spPr>
          <a:xfrm>
            <a:off x="4480560" y="1389888"/>
            <a:ext cx="548640" cy="548640"/>
          </a:xfrm>
          <a:prstGeom prst="ellipse">
            <a:avLst/>
          </a:prstGeom>
          <a:solidFill>
            <a:srgbClr val="EA580C"/>
          </a:solidFill>
          <a:ln w="12700">
            <a:solidFill>
              <a:srgbClr val="EA580C"/>
            </a:solidFill>
            <a:prstDash val="solid"/>
          </a:ln>
        </p:spPr>
      </p:sp>
      <p:pic>
        <p:nvPicPr>
          <p:cNvPr id="10" name="Image 1" descr="preencoded.png">    </p:cNvPr>
          <p:cNvPicPr>
            <a:picLocks noChangeAspect="1"/>
          </p:cNvPicPr>
          <p:nvPr/>
        </p:nvPicPr>
        <p:blipFill>
          <a:blip r:embed="rId2"/>
          <a:stretch>
            <a:fillRect/>
          </a:stretch>
        </p:blipFill>
        <p:spPr>
          <a:xfrm>
            <a:off x="4617720" y="1527048"/>
            <a:ext cx="274320" cy="274320"/>
          </a:xfrm>
          <a:prstGeom prst="rect">
            <a:avLst/>
          </a:prstGeom>
        </p:spPr>
      </p:pic>
      <p:sp>
        <p:nvSpPr>
          <p:cNvPr id="11" name="Text 7"/>
          <p:cNvSpPr txBox="1"/>
          <p:nvPr/>
        </p:nvSpPr>
        <p:spPr>
          <a:xfrm>
            <a:off x="5166360" y="1371600"/>
            <a:ext cx="2606040" cy="594360"/>
          </a:xfrm>
          <a:prstGeom prst="rect">
            <a:avLst/>
          </a:prstGeom>
          <a:noFill/>
          <a:ln/>
        </p:spPr>
        <p:txBody>
          <a:bodyPr wrap="square" lIns="0" tIns="0" rIns="0" bIns="0" rtlCol="0" anchor="ctr"/>
          <a:lstStyle/>
          <a:p>
            <a:pPr indent="0" marL="0">
              <a:buNone/>
            </a:pPr>
            <a:r>
              <a:rPr lang="en-US" sz="1600" b="1" dirty="0">
                <a:solidFill>
                  <a:srgbClr val="EA580C"/>
                </a:solidFill>
              </a:rPr>
              <a:t>Limitations</a:t>
            </a:r>
            <a:endParaRPr lang="en-US" sz="1600" dirty="0"/>
          </a:p>
        </p:txBody>
      </p:sp>
      <p:sp>
        <p:nvSpPr>
          <p:cNvPr id="12" name="Text 8"/>
          <p:cNvSpPr txBox="1"/>
          <p:nvPr/>
        </p:nvSpPr>
        <p:spPr>
          <a:xfrm>
            <a:off x="4480560" y="2103120"/>
            <a:ext cx="3200400" cy="2697480"/>
          </a:xfrm>
          <a:prstGeom prst="rect">
            <a:avLst/>
          </a:prstGeom>
          <a:noFill/>
          <a:ln/>
        </p:spPr>
        <p:txBody>
          <a:bodyPr wrap="square" lIns="0" tIns="0" rIns="0" bIns="0" rtlCol="0" anchor="t"/>
          <a:lstStyle/>
          <a:p>
            <a:pPr indent="0" marL="0">
              <a:buNone/>
            </a:pPr>
            <a:r>
              <a:rPr lang="en-US" sz="1300" b="1" dirty="0">
                <a:solidFill>
                  <a:schemeClr val="tx1"/>
                </a:solidFill>
              </a:rPr>
              <a:t>Abstract-level verification</a:t>
            </a:r>
            <a:endParaRPr lang="en-US" sz="1300" dirty="0"/>
          </a:p>
          <a:p>
            <a:pPr indent="0" marL="0">
              <a:spcAft>
                <a:spcPts val="900"/>
              </a:spcAft>
              <a:buNone/>
            </a:pPr>
            <a:r>
              <a:rPr lang="en-US" sz="1200" dirty="0">
                <a:solidFill>
                  <a:schemeClr val="tx2"/>
                </a:solidFill>
              </a:rPr>
              <a:t>the full paper may qualify a claim the abstract states</a:t>
            </a:r>
            <a:endParaRPr lang="en-US" sz="1300" dirty="0"/>
          </a:p>
          <a:p>
            <a:pPr indent="0" marL="0">
              <a:buNone/>
            </a:pPr>
            <a:r>
              <a:rPr lang="en-US" sz="1300" b="1" dirty="0">
                <a:solidFill>
                  <a:schemeClr val="tx1"/>
                </a:solidFill>
              </a:rPr>
              <a:t>Lenient on connective prose</a:t>
            </a:r>
            <a:endParaRPr lang="en-US" sz="1300" dirty="0"/>
          </a:p>
          <a:p>
            <a:pPr indent="0" marL="0">
              <a:spcAft>
                <a:spcPts val="900"/>
              </a:spcAft>
              <a:buNone/>
            </a:pPr>
            <a:r>
              <a:rPr lang="en-US" sz="1200" dirty="0">
                <a:solidFill>
                  <a:schemeClr val="tx2"/>
                </a:solidFill>
              </a:rPr>
              <a:t>one uncited bridging sentence passed the synthesis check</a:t>
            </a:r>
            <a:endParaRPr lang="en-US" sz="1300" dirty="0"/>
          </a:p>
          <a:p>
            <a:pPr indent="0" marL="0">
              <a:buNone/>
            </a:pPr>
            <a:r>
              <a:rPr lang="en-US" sz="1300" b="1" dirty="0">
                <a:solidFill>
                  <a:schemeClr val="tx1"/>
                </a:solidFill>
              </a:rPr>
              <a:t>Small Critic benchmark (n = 21)</a:t>
            </a:r>
            <a:endParaRPr lang="en-US" sz="1300" dirty="0"/>
          </a:p>
          <a:p>
            <a:pPr indent="0" marL="0">
              <a:spcAft>
                <a:spcPts val="900"/>
              </a:spcAft>
              <a:buNone/>
            </a:pPr>
            <a:r>
              <a:rPr lang="en-US" sz="1200" dirty="0">
                <a:solidFill>
                  <a:schemeClr val="tx2"/>
                </a:solidFill>
              </a:rPr>
              <a:t>a perfect score is likely a ceiling effect</a:t>
            </a:r>
            <a:endParaRPr lang="en-US" sz="1300" dirty="0"/>
          </a:p>
        </p:txBody>
      </p:sp>
      <p:sp>
        <p:nvSpPr>
          <p:cNvPr id="13" name="Shape 9"/>
          <p:cNvSpPr/>
          <p:nvPr/>
        </p:nvSpPr>
        <p:spPr>
          <a:xfrm>
            <a:off x="8046720" y="1234440"/>
            <a:ext cx="3566160" cy="3611880"/>
          </a:xfrm>
          <a:prstGeom prst="roundRect">
            <a:avLst>
              <a:gd name="adj" fmla="val 2564"/>
            </a:avLst>
          </a:prstGeom>
          <a:solidFill>
            <a:srgbClr val="F8FAFC"/>
          </a:solidFill>
          <a:ln w="12700">
            <a:solidFill>
              <a:srgbClr val="E2E8F0"/>
            </a:solidFill>
            <a:prstDash val="solid"/>
          </a:ln>
        </p:spPr>
      </p:sp>
      <p:sp>
        <p:nvSpPr>
          <p:cNvPr id="14" name="Shape 10"/>
          <p:cNvSpPr/>
          <p:nvPr/>
        </p:nvSpPr>
        <p:spPr>
          <a:xfrm>
            <a:off x="8229600" y="1389888"/>
            <a:ext cx="548640" cy="548640"/>
          </a:xfrm>
          <a:prstGeom prst="ellipse">
            <a:avLst/>
          </a:prstGeom>
          <a:solidFill>
            <a:srgbClr val="2563EB"/>
          </a:solidFill>
          <a:ln w="12700">
            <a:solidFill>
              <a:srgbClr val="2563EB"/>
            </a:solidFill>
            <a:prstDash val="solid"/>
          </a:ln>
        </p:spPr>
      </p:sp>
      <p:pic>
        <p:nvPicPr>
          <p:cNvPr id="15" name="Image 2" descr="preencoded.png">    </p:cNvPr>
          <p:cNvPicPr>
            <a:picLocks noChangeAspect="1"/>
          </p:cNvPicPr>
          <p:nvPr/>
        </p:nvPicPr>
        <p:blipFill>
          <a:blip r:embed="rId3"/>
          <a:stretch>
            <a:fillRect/>
          </a:stretch>
        </p:blipFill>
        <p:spPr>
          <a:xfrm>
            <a:off x="8366760" y="1527048"/>
            <a:ext cx="274320" cy="274320"/>
          </a:xfrm>
          <a:prstGeom prst="rect">
            <a:avLst/>
          </a:prstGeom>
        </p:spPr>
      </p:pic>
      <p:sp>
        <p:nvSpPr>
          <p:cNvPr id="16" name="Text 11"/>
          <p:cNvSpPr txBox="1"/>
          <p:nvPr/>
        </p:nvSpPr>
        <p:spPr>
          <a:xfrm>
            <a:off x="8915400" y="1371600"/>
            <a:ext cx="2606040" cy="594360"/>
          </a:xfrm>
          <a:prstGeom prst="rect">
            <a:avLst/>
          </a:prstGeom>
          <a:noFill/>
          <a:ln/>
        </p:spPr>
        <p:txBody>
          <a:bodyPr wrap="square" lIns="0" tIns="0" rIns="0" bIns="0" rtlCol="0" anchor="ctr"/>
          <a:lstStyle/>
          <a:p>
            <a:pPr indent="0" marL="0">
              <a:buNone/>
            </a:pPr>
            <a:r>
              <a:rPr lang="en-US" sz="1600" b="1" dirty="0">
                <a:solidFill>
                  <a:srgbClr val="2563EB"/>
                </a:solidFill>
              </a:rPr>
              <a:t>Legal · social · ethical · professional</a:t>
            </a:r>
            <a:endParaRPr lang="en-US" sz="1600" dirty="0"/>
          </a:p>
        </p:txBody>
      </p:sp>
      <p:sp>
        <p:nvSpPr>
          <p:cNvPr id="17" name="Text 12"/>
          <p:cNvSpPr txBox="1"/>
          <p:nvPr/>
        </p:nvSpPr>
        <p:spPr>
          <a:xfrm>
            <a:off x="8229600" y="2103120"/>
            <a:ext cx="3200400" cy="2697480"/>
          </a:xfrm>
          <a:prstGeom prst="rect">
            <a:avLst/>
          </a:prstGeom>
          <a:noFill/>
          <a:ln/>
        </p:spPr>
        <p:txBody>
          <a:bodyPr wrap="square" lIns="0" tIns="0" rIns="0" bIns="0" rtlCol="0" anchor="t"/>
          <a:lstStyle/>
          <a:p>
            <a:pPr indent="0" marL="0">
              <a:buNone/>
            </a:pPr>
            <a:r>
              <a:rPr lang="en-US" sz="1300" b="1" dirty="0">
                <a:solidFill>
                  <a:schemeClr val="tx1"/>
                </a:solidFill>
              </a:rPr>
              <a:t>Terms of use</a:t>
            </a:r>
            <a:endParaRPr lang="en-US" sz="1300" dirty="0"/>
          </a:p>
          <a:p>
            <a:pPr indent="0" marL="0">
              <a:spcAft>
                <a:spcPts val="900"/>
              </a:spcAft>
              <a:buNone/>
            </a:pPr>
            <a:r>
              <a:rPr lang="en-US" sz="1200" dirty="0">
                <a:solidFill>
                  <a:schemeClr val="tx2"/>
                </a:solidFill>
              </a:rPr>
              <a:t>arXiv 3 s rule, identified client, caching</a:t>
            </a:r>
            <a:endParaRPr lang="en-US" sz="1300" dirty="0"/>
          </a:p>
          <a:p>
            <a:pPr indent="0" marL="0">
              <a:buNone/>
            </a:pPr>
            <a:r>
              <a:rPr lang="en-US" sz="1300" b="1" dirty="0">
                <a:solidFill>
                  <a:schemeClr val="tx1"/>
                </a:solidFill>
              </a:rPr>
              <a:t>Copyright &amp; attribution</a:t>
            </a:r>
            <a:endParaRPr lang="en-US" sz="1300" dirty="0"/>
          </a:p>
          <a:p>
            <a:pPr indent="0" marL="0">
              <a:spcAft>
                <a:spcPts val="900"/>
              </a:spcAft>
              <a:buNone/>
            </a:pPr>
            <a:r>
              <a:rPr lang="en-US" sz="1200" dirty="0">
                <a:solidFill>
                  <a:schemeClr val="tx2"/>
                </a:solidFill>
              </a:rPr>
              <a:t>metadata and abstracts only; every claim cited</a:t>
            </a:r>
            <a:endParaRPr lang="en-US" sz="1300" dirty="0"/>
          </a:p>
          <a:p>
            <a:pPr indent="0" marL="0">
              <a:buNone/>
            </a:pPr>
            <a:r>
              <a:rPr lang="en-US" sz="1300" b="1" dirty="0">
                <a:solidFill>
                  <a:schemeClr val="tx1"/>
                </a:solidFill>
              </a:rPr>
              <a:t>Misinformation &amp; integrity</a:t>
            </a:r>
            <a:endParaRPr lang="en-US" sz="1300" dirty="0"/>
          </a:p>
          <a:p>
            <a:pPr indent="0" marL="0">
              <a:spcAft>
                <a:spcPts val="900"/>
              </a:spcAft>
              <a:buNone/>
            </a:pPr>
            <a:r>
              <a:rPr lang="en-US" sz="1200" dirty="0">
                <a:solidFill>
                  <a:schemeClr val="tx2"/>
                </a:solidFill>
              </a:rPr>
              <a:t>rejected claims excluded; AI-generated notice; a reading aid, not a substitute</a:t>
            </a:r>
            <a:endParaRPr lang="en-US" sz="1300" dirty="0"/>
          </a:p>
          <a:p>
            <a:pPr indent="0" marL="0">
              <a:buNone/>
            </a:pPr>
            <a:r>
              <a:rPr lang="en-US" sz="1300" b="1" dirty="0">
                <a:solidFill>
                  <a:schemeClr val="tx1"/>
                </a:solidFill>
              </a:rPr>
              <a:t>Bias, privacy &amp; security</a:t>
            </a:r>
            <a:endParaRPr lang="en-US" sz="1300" dirty="0"/>
          </a:p>
          <a:p>
            <a:pPr indent="0" marL="0">
              <a:spcAft>
                <a:spcPts val="900"/>
              </a:spcAft>
              <a:buNone/>
            </a:pPr>
            <a:r>
              <a:rPr lang="en-US" sz="1200" dirty="0">
                <a:solidFill>
                  <a:schemeClr val="tx2"/>
                </a:solidFill>
              </a:rPr>
              <a:t>English/recency bias stated; goal sent to a third party; keys git-ignored; paths scrubbed</a:t>
            </a:r>
            <a:endParaRPr lang="en-US" sz="1300" dirty="0"/>
          </a:p>
        </p:txBody>
      </p:sp>
      <p:sp>
        <p:nvSpPr>
          <p:cNvPr id="18" name="Shape 13"/>
          <p:cNvSpPr/>
          <p:nvPr/>
        </p:nvSpPr>
        <p:spPr>
          <a:xfrm>
            <a:off x="548640" y="5029200"/>
            <a:ext cx="11064240" cy="960120"/>
          </a:xfrm>
          <a:prstGeom prst="roundRect">
            <a:avLst>
              <a:gd name="adj" fmla="val 9524"/>
            </a:avLst>
          </a:prstGeom>
          <a:solidFill>
            <a:srgbClr val="0F172A"/>
          </a:solidFill>
          <a:ln w="12700">
            <a:solidFill>
              <a:srgbClr val="0F172A"/>
            </a:solidFill>
            <a:prstDash val="solid"/>
          </a:ln>
        </p:spPr>
      </p:sp>
      <p:sp>
        <p:nvSpPr>
          <p:cNvPr id="19" name="Text 14"/>
          <p:cNvSpPr txBox="1"/>
          <p:nvPr/>
        </p:nvSpPr>
        <p:spPr>
          <a:xfrm>
            <a:off x="777240" y="5029200"/>
            <a:ext cx="1645920" cy="960120"/>
          </a:xfrm>
          <a:prstGeom prst="rect">
            <a:avLst/>
          </a:prstGeom>
          <a:noFill/>
          <a:ln/>
        </p:spPr>
        <p:txBody>
          <a:bodyPr wrap="square" lIns="0" tIns="0" rIns="0" bIns="0" rtlCol="0" anchor="ctr"/>
          <a:lstStyle/>
          <a:p>
            <a:pPr indent="0" marL="0">
              <a:buNone/>
            </a:pPr>
            <a:r>
              <a:rPr lang="en-US" sz="1600" b="1" dirty="0">
                <a:solidFill>
                  <a:srgbClr val="F2A541"/>
                </a:solidFill>
                <a:latin typeface="Cambria" pitchFamily="34" charset="0"/>
                <a:ea typeface="Cambria" pitchFamily="34" charset="-122"/>
                <a:cs typeface="Cambria" pitchFamily="34" charset="-120"/>
              </a:rPr>
              <a:t>Next steps</a:t>
            </a:r>
            <a:endParaRPr lang="en-US" sz="1600" dirty="0"/>
          </a:p>
        </p:txBody>
      </p:sp>
      <p:sp>
        <p:nvSpPr>
          <p:cNvPr id="20" name="Shape 15"/>
          <p:cNvSpPr/>
          <p:nvPr/>
        </p:nvSpPr>
        <p:spPr>
          <a:xfrm>
            <a:off x="2468880" y="5257800"/>
            <a:ext cx="502920" cy="502920"/>
          </a:xfrm>
          <a:prstGeom prst="ellipse">
            <a:avLst/>
          </a:prstGeom>
          <a:solidFill>
            <a:srgbClr val="0E7C7B"/>
          </a:solidFill>
          <a:ln w="12700">
            <a:solidFill>
              <a:srgbClr val="0E7C7B"/>
            </a:solidFill>
            <a:prstDash val="solid"/>
          </a:ln>
        </p:spPr>
      </p:sp>
      <p:pic>
        <p:nvPicPr>
          <p:cNvPr id="21" name="Image 3" descr="preencoded.png">    </p:cNvPr>
          <p:cNvPicPr>
            <a:picLocks noChangeAspect="1"/>
          </p:cNvPicPr>
          <p:nvPr/>
        </p:nvPicPr>
        <p:blipFill>
          <a:blip r:embed="rId4"/>
          <a:stretch>
            <a:fillRect/>
          </a:stretch>
        </p:blipFill>
        <p:spPr>
          <a:xfrm>
            <a:off x="2594610" y="5383530"/>
            <a:ext cx="251460" cy="251460"/>
          </a:xfrm>
          <a:prstGeom prst="rect">
            <a:avLst/>
          </a:prstGeom>
        </p:spPr>
      </p:pic>
      <p:sp>
        <p:nvSpPr>
          <p:cNvPr id="22" name="Text 16"/>
          <p:cNvSpPr txBox="1"/>
          <p:nvPr/>
        </p:nvSpPr>
        <p:spPr>
          <a:xfrm>
            <a:off x="3090672" y="5120640"/>
            <a:ext cx="2331720" cy="777240"/>
          </a:xfrm>
          <a:prstGeom prst="rect">
            <a:avLst/>
          </a:prstGeom>
          <a:noFill/>
          <a:ln/>
        </p:spPr>
        <p:txBody>
          <a:bodyPr wrap="square" lIns="0" tIns="0" rIns="0" bIns="0" rtlCol="0" anchor="ctr"/>
          <a:lstStyle/>
          <a:p>
            <a:pPr indent="0" marL="0">
              <a:buNone/>
            </a:pPr>
            <a:r>
              <a:rPr lang="en-US" sz="1300" dirty="0">
                <a:solidFill>
                  <a:srgbClr val="E2E8F0"/>
                </a:solidFill>
              </a:rPr>
              <a:t>Open-access full text with passage-level checking</a:t>
            </a:r>
            <a:endParaRPr lang="en-US" sz="1300" dirty="0"/>
          </a:p>
        </p:txBody>
      </p:sp>
      <p:sp>
        <p:nvSpPr>
          <p:cNvPr id="23" name="Shape 17"/>
          <p:cNvSpPr/>
          <p:nvPr/>
        </p:nvSpPr>
        <p:spPr>
          <a:xfrm>
            <a:off x="5532120" y="5257800"/>
            <a:ext cx="502920" cy="502920"/>
          </a:xfrm>
          <a:prstGeom prst="ellipse">
            <a:avLst/>
          </a:prstGeom>
          <a:solidFill>
            <a:srgbClr val="0E7C7B"/>
          </a:solidFill>
          <a:ln w="12700">
            <a:solidFill>
              <a:srgbClr val="0E7C7B"/>
            </a:solidFill>
            <a:prstDash val="solid"/>
          </a:ln>
        </p:spPr>
      </p:sp>
      <p:pic>
        <p:nvPicPr>
          <p:cNvPr id="24" name="Image 4" descr="preencoded.png">    </p:cNvPr>
          <p:cNvPicPr>
            <a:picLocks noChangeAspect="1"/>
          </p:cNvPicPr>
          <p:nvPr/>
        </p:nvPicPr>
        <p:blipFill>
          <a:blip r:embed="rId5"/>
          <a:stretch>
            <a:fillRect/>
          </a:stretch>
        </p:blipFill>
        <p:spPr>
          <a:xfrm>
            <a:off x="5657850" y="5383530"/>
            <a:ext cx="251460" cy="251460"/>
          </a:xfrm>
          <a:prstGeom prst="rect">
            <a:avLst/>
          </a:prstGeom>
        </p:spPr>
      </p:pic>
      <p:sp>
        <p:nvSpPr>
          <p:cNvPr id="25" name="Text 18"/>
          <p:cNvSpPr txBox="1"/>
          <p:nvPr/>
        </p:nvSpPr>
        <p:spPr>
          <a:xfrm>
            <a:off x="6153912" y="5120640"/>
            <a:ext cx="2331720" cy="777240"/>
          </a:xfrm>
          <a:prstGeom prst="rect">
            <a:avLst/>
          </a:prstGeom>
          <a:noFill/>
          <a:ln/>
        </p:spPr>
        <p:txBody>
          <a:bodyPr wrap="square" lIns="0" tIns="0" rIns="0" bIns="0" rtlCol="0" anchor="ctr"/>
          <a:lstStyle/>
          <a:p>
            <a:pPr indent="0" marL="0">
              <a:buNone/>
            </a:pPr>
            <a:r>
              <a:rPr lang="en-US" sz="1300" dirty="0">
                <a:solidFill>
                  <a:srgbClr val="E2E8F0"/>
                </a:solidFill>
              </a:rPr>
              <a:t>Sentence-level citation rule for the synthesis</a:t>
            </a:r>
            <a:endParaRPr lang="en-US" sz="1300" dirty="0"/>
          </a:p>
        </p:txBody>
      </p:sp>
      <p:sp>
        <p:nvSpPr>
          <p:cNvPr id="26" name="Shape 19"/>
          <p:cNvSpPr/>
          <p:nvPr/>
        </p:nvSpPr>
        <p:spPr>
          <a:xfrm>
            <a:off x="8595360" y="5257800"/>
            <a:ext cx="502920" cy="502920"/>
          </a:xfrm>
          <a:prstGeom prst="ellipse">
            <a:avLst/>
          </a:prstGeom>
          <a:solidFill>
            <a:srgbClr val="0E7C7B"/>
          </a:solidFill>
          <a:ln w="12700">
            <a:solidFill>
              <a:srgbClr val="0E7C7B"/>
            </a:solidFill>
            <a:prstDash val="solid"/>
          </a:ln>
        </p:spPr>
      </p:sp>
      <p:pic>
        <p:nvPicPr>
          <p:cNvPr id="27" name="Image 5" descr="preencoded.png">    </p:cNvPr>
          <p:cNvPicPr>
            <a:picLocks noChangeAspect="1"/>
          </p:cNvPicPr>
          <p:nvPr/>
        </p:nvPicPr>
        <p:blipFill>
          <a:blip r:embed="rId6"/>
          <a:stretch>
            <a:fillRect/>
          </a:stretch>
        </p:blipFill>
        <p:spPr>
          <a:xfrm>
            <a:off x="8721090" y="5383530"/>
            <a:ext cx="251460" cy="251460"/>
          </a:xfrm>
          <a:prstGeom prst="rect">
            <a:avLst/>
          </a:prstGeom>
        </p:spPr>
      </p:pic>
      <p:sp>
        <p:nvSpPr>
          <p:cNvPr id="28" name="Text 20"/>
          <p:cNvSpPr txBox="1"/>
          <p:nvPr/>
        </p:nvSpPr>
        <p:spPr>
          <a:xfrm>
            <a:off x="9217152" y="5120640"/>
            <a:ext cx="2331720" cy="777240"/>
          </a:xfrm>
          <a:prstGeom prst="rect">
            <a:avLst/>
          </a:prstGeom>
          <a:noFill/>
          <a:ln/>
        </p:spPr>
        <p:txBody>
          <a:bodyPr wrap="square" lIns="0" tIns="0" rIns="0" bIns="0" rtlCol="0" anchor="ctr"/>
          <a:lstStyle/>
          <a:p>
            <a:pPr indent="0" marL="0">
              <a:buNone/>
            </a:pPr>
            <a:r>
              <a:rPr lang="en-US" sz="1300" dirty="0">
                <a:solidFill>
                  <a:srgbClr val="E2E8F0"/>
                </a:solidFill>
              </a:rPr>
              <a:t>Larger Critic benchmark (LLM-AggreFact scale)</a:t>
            </a:r>
            <a:endParaRPr lang="en-US" sz="13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200" b="1" dirty="0">
                <a:solidFill>
                  <a:schemeClr val="bg1"/>
                </a:solidFill>
                <a:latin typeface="Cambria" pitchFamily="34" charset="0"/>
                <a:ea typeface="Cambria" pitchFamily="34" charset="-122"/>
                <a:cs typeface="Cambria" pitchFamily="34" charset="-120"/>
              </a:rPr>
              <a:t>Conclusion</a:t>
            </a:r>
            <a:endParaRPr lang="en-US" sz="3200" dirty="0"/>
          </a:p>
        </p:txBody>
      </p:sp>
      <p:sp>
        <p:nvSpPr>
          <p:cNvPr id="3" name="Shape 1"/>
          <p:cNvSpPr/>
          <p:nvPr/>
        </p:nvSpPr>
        <p:spPr>
          <a:xfrm>
            <a:off x="548640" y="1353312"/>
            <a:ext cx="384048" cy="384048"/>
          </a:xfrm>
          <a:prstGeom prst="ellipse">
            <a:avLst/>
          </a:prstGeom>
          <a:solidFill>
            <a:srgbClr val="F2A541"/>
          </a:solidFill>
          <a:ln w="12700">
            <a:solidFill>
              <a:srgbClr val="F2A541"/>
            </a:solidFill>
            <a:prstDash val="solid"/>
          </a:ln>
        </p:spPr>
      </p:sp>
      <p:sp>
        <p:nvSpPr>
          <p:cNvPr id="4" name="Text 2"/>
          <p:cNvSpPr txBox="1"/>
          <p:nvPr/>
        </p:nvSpPr>
        <p:spPr>
          <a:xfrm>
            <a:off x="548640" y="1353312"/>
            <a:ext cx="384048" cy="384048"/>
          </a:xfrm>
          <a:prstGeom prst="rect">
            <a:avLst/>
          </a:prstGeom>
          <a:noFill/>
          <a:ln/>
        </p:spPr>
        <p:txBody>
          <a:bodyPr wrap="square" lIns="0" tIns="0" rIns="0" bIns="0" rtlCol="0" anchor="ctr"/>
          <a:lstStyle/>
          <a:p>
            <a:pPr algn="ctr" indent="0" marL="0">
              <a:buNone/>
            </a:pPr>
            <a:r>
              <a:rPr lang="en-US" sz="1400" b="1" dirty="0">
                <a:solidFill>
                  <a:srgbClr val="0F172A"/>
                </a:solidFill>
              </a:rPr>
              <a:t>1</a:t>
            </a:r>
            <a:endParaRPr lang="en-US" sz="1400" dirty="0"/>
          </a:p>
        </p:txBody>
      </p:sp>
      <p:sp>
        <p:nvSpPr>
          <p:cNvPr id="5" name="Text 3"/>
          <p:cNvSpPr txBox="1"/>
          <p:nvPr/>
        </p:nvSpPr>
        <p:spPr>
          <a:xfrm>
            <a:off x="1097280" y="1280160"/>
            <a:ext cx="4846320" cy="914400"/>
          </a:xfrm>
          <a:prstGeom prst="rect">
            <a:avLst/>
          </a:prstGeom>
          <a:noFill/>
          <a:ln/>
        </p:spPr>
        <p:txBody>
          <a:bodyPr wrap="square" lIns="0" tIns="0" rIns="0" bIns="0" rtlCol="0" anchor="t"/>
          <a:lstStyle/>
          <a:p>
            <a:pPr indent="0" marL="0">
              <a:buNone/>
            </a:pPr>
            <a:r>
              <a:rPr lang="en-US" sz="1700" b="1" dirty="0">
                <a:solidFill>
                  <a:srgbClr val="FFFFFF"/>
                </a:solidFill>
              </a:rPr>
              <a:t>Design met</a:t>
            </a:r>
            <a:endParaRPr lang="en-US" sz="1700" dirty="0"/>
          </a:p>
          <a:p>
            <a:pPr indent="0" marL="0">
              <a:buNone/>
            </a:pPr>
            <a:r>
              <a:rPr lang="en-US" sz="1300" dirty="0">
                <a:solidFill>
                  <a:srgbClr val="CBD5E1"/>
                </a:solidFill>
              </a:rPr>
              <a:t>Hybrid ReAct planner + reactive specialists on a SQLite blackboard, as proposed in Unit 6</a:t>
            </a:r>
            <a:endParaRPr lang="en-US" sz="1700" dirty="0"/>
          </a:p>
        </p:txBody>
      </p:sp>
      <p:sp>
        <p:nvSpPr>
          <p:cNvPr id="6" name="Shape 4"/>
          <p:cNvSpPr/>
          <p:nvPr/>
        </p:nvSpPr>
        <p:spPr>
          <a:xfrm>
            <a:off x="548640" y="2377440"/>
            <a:ext cx="384048" cy="384048"/>
          </a:xfrm>
          <a:prstGeom prst="ellipse">
            <a:avLst/>
          </a:prstGeom>
          <a:solidFill>
            <a:srgbClr val="F2A541"/>
          </a:solidFill>
          <a:ln w="12700">
            <a:solidFill>
              <a:srgbClr val="F2A541"/>
            </a:solidFill>
            <a:prstDash val="solid"/>
          </a:ln>
        </p:spPr>
      </p:sp>
      <p:sp>
        <p:nvSpPr>
          <p:cNvPr id="7" name="Text 5"/>
          <p:cNvSpPr txBox="1"/>
          <p:nvPr/>
        </p:nvSpPr>
        <p:spPr>
          <a:xfrm>
            <a:off x="548640" y="2377440"/>
            <a:ext cx="384048" cy="384048"/>
          </a:xfrm>
          <a:prstGeom prst="rect">
            <a:avLst/>
          </a:prstGeom>
          <a:noFill/>
          <a:ln/>
        </p:spPr>
        <p:txBody>
          <a:bodyPr wrap="square" lIns="0" tIns="0" rIns="0" bIns="0" rtlCol="0" anchor="ctr"/>
          <a:lstStyle/>
          <a:p>
            <a:pPr algn="ctr" indent="0" marL="0">
              <a:buNone/>
            </a:pPr>
            <a:r>
              <a:rPr lang="en-US" sz="1400" b="1" dirty="0">
                <a:solidFill>
                  <a:srgbClr val="0F172A"/>
                </a:solidFill>
              </a:rPr>
              <a:t>2</a:t>
            </a:r>
            <a:endParaRPr lang="en-US" sz="1400" dirty="0"/>
          </a:p>
        </p:txBody>
      </p:sp>
      <p:sp>
        <p:nvSpPr>
          <p:cNvPr id="8" name="Text 6"/>
          <p:cNvSpPr txBox="1"/>
          <p:nvPr/>
        </p:nvSpPr>
        <p:spPr>
          <a:xfrm>
            <a:off x="1097280" y="2304288"/>
            <a:ext cx="4846320" cy="914400"/>
          </a:xfrm>
          <a:prstGeom prst="rect">
            <a:avLst/>
          </a:prstGeom>
          <a:noFill/>
          <a:ln/>
        </p:spPr>
        <p:txBody>
          <a:bodyPr wrap="square" lIns="0" tIns="0" rIns="0" bIns="0" rtlCol="0" anchor="t"/>
          <a:lstStyle/>
          <a:p>
            <a:pPr indent="0" marL="0">
              <a:buNone/>
            </a:pPr>
            <a:r>
              <a:rPr lang="en-US" sz="1700" b="1" dirty="0">
                <a:solidFill>
                  <a:srgbClr val="FFFFFF"/>
                </a:solidFill>
              </a:rPr>
              <a:t>Hallucinations filtered</a:t>
            </a:r>
            <a:endParaRPr lang="en-US" sz="1700" dirty="0"/>
          </a:p>
          <a:p>
            <a:pPr indent="0" marL="0">
              <a:buNone/>
            </a:pPr>
            <a:r>
              <a:rPr lang="en-US" sz="1300" dirty="0">
                <a:solidFill>
                  <a:srgbClr val="CBD5E1"/>
                </a:solidFill>
              </a:rPr>
              <a:t>Independent Critic: P = R = 1.00 on the benchmark; caught the planted claim live</a:t>
            </a:r>
            <a:endParaRPr lang="en-US" sz="1700" dirty="0"/>
          </a:p>
        </p:txBody>
      </p:sp>
      <p:sp>
        <p:nvSpPr>
          <p:cNvPr id="9" name="Shape 7"/>
          <p:cNvSpPr/>
          <p:nvPr/>
        </p:nvSpPr>
        <p:spPr>
          <a:xfrm>
            <a:off x="548640" y="3401568"/>
            <a:ext cx="384048" cy="384048"/>
          </a:xfrm>
          <a:prstGeom prst="ellipse">
            <a:avLst/>
          </a:prstGeom>
          <a:solidFill>
            <a:srgbClr val="F2A541"/>
          </a:solidFill>
          <a:ln w="12700">
            <a:solidFill>
              <a:srgbClr val="F2A541"/>
            </a:solidFill>
            <a:prstDash val="solid"/>
          </a:ln>
        </p:spPr>
      </p:sp>
      <p:sp>
        <p:nvSpPr>
          <p:cNvPr id="10" name="Text 8"/>
          <p:cNvSpPr txBox="1"/>
          <p:nvPr/>
        </p:nvSpPr>
        <p:spPr>
          <a:xfrm>
            <a:off x="548640" y="3401568"/>
            <a:ext cx="384048" cy="384048"/>
          </a:xfrm>
          <a:prstGeom prst="rect">
            <a:avLst/>
          </a:prstGeom>
          <a:noFill/>
          <a:ln/>
        </p:spPr>
        <p:txBody>
          <a:bodyPr wrap="square" lIns="0" tIns="0" rIns="0" bIns="0" rtlCol="0" anchor="ctr"/>
          <a:lstStyle/>
          <a:p>
            <a:pPr algn="ctr" indent="0" marL="0">
              <a:buNone/>
            </a:pPr>
            <a:r>
              <a:rPr lang="en-US" sz="1400" b="1" dirty="0">
                <a:solidFill>
                  <a:srgbClr val="0F172A"/>
                </a:solidFill>
              </a:rPr>
              <a:t>3</a:t>
            </a:r>
            <a:endParaRPr lang="en-US" sz="1400" dirty="0"/>
          </a:p>
        </p:txBody>
      </p:sp>
      <p:sp>
        <p:nvSpPr>
          <p:cNvPr id="11" name="Text 9"/>
          <p:cNvSpPr txBox="1"/>
          <p:nvPr/>
        </p:nvSpPr>
        <p:spPr>
          <a:xfrm>
            <a:off x="1097280" y="3328416"/>
            <a:ext cx="4846320" cy="914400"/>
          </a:xfrm>
          <a:prstGeom prst="rect">
            <a:avLst/>
          </a:prstGeom>
          <a:noFill/>
          <a:ln/>
        </p:spPr>
        <p:txBody>
          <a:bodyPr wrap="square" lIns="0" tIns="0" rIns="0" bIns="0" rtlCol="0" anchor="t"/>
          <a:lstStyle/>
          <a:p>
            <a:pPr indent="0" marL="0">
              <a:buNone/>
            </a:pPr>
            <a:r>
              <a:rPr lang="en-US" sz="1700" b="1" dirty="0">
                <a:solidFill>
                  <a:srgbClr val="FFFFFF"/>
                </a:solidFill>
              </a:rPr>
              <a:t>Feedback addressed</a:t>
            </a:r>
            <a:endParaRPr lang="en-US" sz="1700" dirty="0"/>
          </a:p>
          <a:p>
            <a:pPr indent="0" marL="0">
              <a:buNone/>
            </a:pPr>
            <a:r>
              <a:rPr lang="en-US" sz="1300" dirty="0">
                <a:solidFill>
                  <a:srgbClr val="CBD5E1"/>
                </a:solidFill>
              </a:rPr>
              <a:t>Class diagram · measurable targets · 3-re-plan cap, all implemented and tested</a:t>
            </a:r>
            <a:endParaRPr lang="en-US" sz="1700" dirty="0"/>
          </a:p>
        </p:txBody>
      </p:sp>
      <p:sp>
        <p:nvSpPr>
          <p:cNvPr id="12" name="Text 10"/>
          <p:cNvSpPr txBox="1"/>
          <p:nvPr/>
        </p:nvSpPr>
        <p:spPr>
          <a:xfrm>
            <a:off x="548640" y="4434840"/>
            <a:ext cx="5394960" cy="822960"/>
          </a:xfrm>
          <a:prstGeom prst="rect">
            <a:avLst/>
          </a:prstGeom>
          <a:noFill/>
          <a:ln/>
        </p:spPr>
        <p:txBody>
          <a:bodyPr wrap="square" lIns="0" tIns="0" rIns="0" bIns="0" rtlCol="0" anchor="ctr"/>
          <a:lstStyle/>
          <a:p>
            <a:pPr indent="0" marL="0">
              <a:buNone/>
            </a:pPr>
            <a:r>
              <a:rPr lang="en-US" sz="1800" i="1" dirty="0">
                <a:solidFill>
                  <a:srgbClr val="F2A541"/>
                </a:solidFill>
                <a:latin typeface="Cambria" pitchFamily="34" charset="0"/>
                <a:ea typeface="Cambria" pitchFamily="34" charset="-122"/>
                <a:cs typeface="Cambria" pitchFamily="34" charset="-120"/>
              </a:rPr>
              <a:t>“Let the LLM supply judgement; let code guarantee validity and termination.”</a:t>
            </a:r>
            <a:endParaRPr lang="en-US" sz="1800" dirty="0"/>
          </a:p>
        </p:txBody>
      </p:sp>
      <p:sp>
        <p:nvSpPr>
          <p:cNvPr id="13" name="Text 11"/>
          <p:cNvSpPr txBox="1"/>
          <p:nvPr/>
        </p:nvSpPr>
        <p:spPr>
          <a:xfrm>
            <a:off x="548640" y="5394960"/>
            <a:ext cx="5394960" cy="320040"/>
          </a:xfrm>
          <a:prstGeom prst="rect">
            <a:avLst/>
          </a:prstGeom>
          <a:noFill/>
          <a:ln/>
        </p:spPr>
        <p:txBody>
          <a:bodyPr wrap="square" lIns="0" tIns="0" rIns="0" bIns="0" rtlCol="0" anchor="ctr"/>
          <a:lstStyle/>
          <a:p>
            <a:pPr indent="0" marL="0">
              <a:buNone/>
            </a:pPr>
            <a:r>
              <a:rPr lang="en-US" sz="1200" dirty="0">
                <a:solidFill>
                  <a:srgbClr val="94A3B8"/>
                </a:solidFill>
              </a:rPr>
              <a:t>github.com/adilaljasmi/scholarplan · code · tests · evidence · README</a:t>
            </a:r>
            <a:endParaRPr lang="en-US" sz="1200" dirty="0"/>
          </a:p>
        </p:txBody>
      </p:sp>
      <p:sp>
        <p:nvSpPr>
          <p:cNvPr id="14" name="Shape 12"/>
          <p:cNvSpPr/>
          <p:nvPr/>
        </p:nvSpPr>
        <p:spPr>
          <a:xfrm>
            <a:off x="6309360" y="1234440"/>
            <a:ext cx="5349240" cy="4206240"/>
          </a:xfrm>
          <a:prstGeom prst="roundRect">
            <a:avLst>
              <a:gd name="adj" fmla="val 1739"/>
            </a:avLst>
          </a:prstGeom>
          <a:solidFill>
            <a:srgbClr val="1E293B"/>
          </a:solidFill>
          <a:ln w="12700">
            <a:solidFill>
              <a:srgbClr val="334155"/>
            </a:solidFill>
            <a:prstDash val="solid"/>
          </a:ln>
        </p:spPr>
      </p:sp>
      <p:sp>
        <p:nvSpPr>
          <p:cNvPr id="15" name="Text 13"/>
          <p:cNvSpPr txBox="1"/>
          <p:nvPr/>
        </p:nvSpPr>
        <p:spPr>
          <a:xfrm>
            <a:off x="6492240" y="1325880"/>
            <a:ext cx="5029200" cy="365760"/>
          </a:xfrm>
          <a:prstGeom prst="rect">
            <a:avLst/>
          </a:prstGeom>
          <a:noFill/>
          <a:ln/>
        </p:spPr>
        <p:txBody>
          <a:bodyPr wrap="square" lIns="0" tIns="0" rIns="0" bIns="0" rtlCol="0" anchor="ctr"/>
          <a:lstStyle/>
          <a:p>
            <a:pPr indent="0" marL="0">
              <a:buNone/>
            </a:pPr>
            <a:r>
              <a:rPr lang="en-US" sz="1500" b="1" dirty="0">
                <a:solidFill>
                  <a:srgbClr val="FFFFFF"/>
                </a:solidFill>
              </a:rPr>
              <a:t>References</a:t>
            </a:r>
            <a:endParaRPr lang="en-US" sz="1500" dirty="0"/>
          </a:p>
        </p:txBody>
      </p:sp>
      <p:sp>
        <p:nvSpPr>
          <p:cNvPr id="16" name="Text 14"/>
          <p:cNvSpPr txBox="1"/>
          <p:nvPr/>
        </p:nvSpPr>
        <p:spPr>
          <a:xfrm>
            <a:off x="6492240" y="1737360"/>
            <a:ext cx="5029200" cy="3611880"/>
          </a:xfrm>
          <a:prstGeom prst="rect">
            <a:avLst/>
          </a:prstGeom>
          <a:noFill/>
          <a:ln/>
        </p:spPr>
        <p:txBody>
          <a:bodyPr wrap="square" lIns="0" tIns="0" rIns="0" bIns="0" rtlCol="0" anchor="t"/>
          <a:lstStyle/>
          <a:p>
            <a:pPr indent="0" marL="0">
              <a:spcAft>
                <a:spcPts val="400"/>
              </a:spcAft>
              <a:buNone/>
            </a:pPr>
            <a:r>
              <a:rPr lang="en-US" sz="1050" dirty="0">
                <a:solidFill>
                  <a:srgbClr val="CBD5E1"/>
                </a:solidFill>
              </a:rPr>
              <a:t>Guo, T. et al. (2024) 'Large language model based multi-agents: a survey of progress and challenges', IJCAI-24, pp. 8048–8057.</a:t>
            </a:r>
            <a:endParaRPr lang="en-US" sz="1050" dirty="0"/>
          </a:p>
          <a:p>
            <a:pPr indent="0" marL="0">
              <a:spcAft>
                <a:spcPts val="400"/>
              </a:spcAft>
              <a:buNone/>
            </a:pPr>
            <a:r>
              <a:rPr lang="en-US" sz="1050" dirty="0">
                <a:solidFill>
                  <a:srgbClr val="CBD5E1"/>
                </a:solidFill>
              </a:rPr>
              <a:t>Hayes-Roth, B. (1985) 'A blackboard architecture for control', Artificial Intelligence, 26(3), pp. 251–321.</a:t>
            </a:r>
            <a:endParaRPr lang="en-US" sz="1050" dirty="0"/>
          </a:p>
          <a:p>
            <a:pPr indent="0" marL="0">
              <a:spcAft>
                <a:spcPts val="400"/>
              </a:spcAft>
              <a:buNone/>
            </a:pPr>
            <a:r>
              <a:rPr lang="en-US" sz="1050" dirty="0">
                <a:solidFill>
                  <a:srgbClr val="CBD5E1"/>
                </a:solidFill>
              </a:rPr>
              <a:t>Ji, Z. et al. (2023) 'Survey of hallucination in natural language generation', ACM Computing Surveys, 55(12), pp. 1–38.</a:t>
            </a:r>
            <a:endParaRPr lang="en-US" sz="1050" dirty="0"/>
          </a:p>
          <a:p>
            <a:pPr indent="0" marL="0">
              <a:spcAft>
                <a:spcPts val="400"/>
              </a:spcAft>
              <a:buNone/>
            </a:pPr>
            <a:r>
              <a:rPr lang="en-US" sz="1050" dirty="0">
                <a:solidFill>
                  <a:srgbClr val="CBD5E1"/>
                </a:solidFill>
              </a:rPr>
              <a:t>Kambhampati, S. et al. (2024) 'Position: LLMs can't plan, but can help planning in LLM-Modulo frameworks', ICML 2024. PMLR 235.</a:t>
            </a:r>
            <a:endParaRPr lang="en-US" sz="1050" dirty="0"/>
          </a:p>
          <a:p>
            <a:pPr indent="0" marL="0">
              <a:spcAft>
                <a:spcPts val="400"/>
              </a:spcAft>
              <a:buNone/>
            </a:pPr>
            <a:r>
              <a:rPr lang="en-US" sz="1050" dirty="0">
                <a:solidFill>
                  <a:srgbClr val="CBD5E1"/>
                </a:solidFill>
              </a:rPr>
              <a:t>Salemi, A. et al. (2025) 'LLM-based multi-agent blackboard system for information discovery in data science', arXiv:2510.01285.</a:t>
            </a:r>
            <a:endParaRPr lang="en-US" sz="1050" dirty="0"/>
          </a:p>
          <a:p>
            <a:pPr indent="0" marL="0">
              <a:spcAft>
                <a:spcPts val="400"/>
              </a:spcAft>
              <a:buNone/>
            </a:pPr>
            <a:r>
              <a:rPr lang="en-US" sz="1050" dirty="0">
                <a:solidFill>
                  <a:srgbClr val="CBD5E1"/>
                </a:solidFill>
              </a:rPr>
              <a:t>Shinn, N. et al. (2023) 'Reflexion: language agents with verbal reinforcement learning', NeurIPS 36.</a:t>
            </a:r>
            <a:endParaRPr lang="en-US" sz="1050" dirty="0"/>
          </a:p>
          <a:p>
            <a:pPr indent="0" marL="0">
              <a:spcAft>
                <a:spcPts val="400"/>
              </a:spcAft>
              <a:buNone/>
            </a:pPr>
            <a:r>
              <a:rPr lang="en-US" sz="1050" dirty="0">
                <a:solidFill>
                  <a:srgbClr val="CBD5E1"/>
                </a:solidFill>
              </a:rPr>
              <a:t>Wooldridge, M. (2009) An Introduction to MultiAgent Systems. 2nd edn. Chichester: Wiley.</a:t>
            </a:r>
            <a:endParaRPr lang="en-US" sz="1050" dirty="0"/>
          </a:p>
          <a:p>
            <a:pPr indent="0" marL="0">
              <a:spcAft>
                <a:spcPts val="400"/>
              </a:spcAft>
              <a:buNone/>
            </a:pPr>
            <a:r>
              <a:rPr lang="en-US" sz="1050" dirty="0">
                <a:solidFill>
                  <a:srgbClr val="CBD5E1"/>
                </a:solidFill>
              </a:rPr>
              <a:t>Wooldridge, M., Jennings, N.R. and Kinny, D. (2000) 'The Gaia methodology for agent-oriented analysis and design', AAMAS, 3(3), pp. 285–312.</a:t>
            </a:r>
            <a:endParaRPr lang="en-US" sz="1050" dirty="0"/>
          </a:p>
          <a:p>
            <a:pPr indent="0" marL="0">
              <a:spcAft>
                <a:spcPts val="400"/>
              </a:spcAft>
              <a:buNone/>
            </a:pPr>
            <a:r>
              <a:rPr lang="en-US" sz="1050" dirty="0">
                <a:solidFill>
                  <a:srgbClr val="CBD5E1"/>
                </a:solidFill>
              </a:rPr>
              <a:t>Yao, S. et al. (2023) 'ReAct: synergizing reasoning and acting in language models', ICLR 2023.</a:t>
            </a:r>
            <a:endParaRPr lang="en-US" sz="1050" dirty="0"/>
          </a:p>
        </p:txBody>
      </p:sp>
      <p:sp>
        <p:nvSpPr>
          <p:cNvPr id="17" name="Text 15"/>
          <p:cNvSpPr txBox="1"/>
          <p:nvPr/>
        </p:nvSpPr>
        <p:spPr>
          <a:xfrm>
            <a:off x="6309360" y="5532120"/>
            <a:ext cx="5349240" cy="274320"/>
          </a:xfrm>
          <a:prstGeom prst="rect">
            <a:avLst/>
          </a:prstGeom>
          <a:noFill/>
          <a:ln/>
        </p:spPr>
        <p:txBody>
          <a:bodyPr wrap="square" lIns="0" tIns="0" rIns="0" bIns="0" rtlCol="0" anchor="ctr"/>
          <a:lstStyle/>
          <a:p>
            <a:pPr indent="0" marL="0">
              <a:buNone/>
            </a:pPr>
            <a:r>
              <a:rPr lang="en-US" sz="1000" i="1" dirty="0">
                <a:solidFill>
                  <a:srgbClr val="94A3B8"/>
                </a:solidFill>
              </a:rPr>
              <a:t>Full Harvard reference list with DOIs and access dates: README §13</a:t>
            </a:r>
            <a:endParaRPr lang="en-US" sz="1000" dirty="0"/>
          </a:p>
        </p:txBody>
      </p:sp>
      <p:sp>
        <p:nvSpPr>
          <p:cNvPr id="25" name="Slide Number Placeholder 0"/>
          <p:cNvSpPr>
            <a:spLocks noGrp="1"/>
          </p:cNvSpPr>
          <p:nvPr>
            <p:ph type="sldNum" sz="quarter" idx="4294967295"/>
          </p:nvPr>
        </p:nvSpPr>
        <p:spPr>
          <a:xfrm>
            <a:off x="1115568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ScholarPlan Ink">
  <a:themeElements>
    <a:clrScheme name="ScholarPlan Ink">
      <a:dk1>
        <a:srgbClr val="0F172A"/>
      </a:dk1>
      <a:lt1>
        <a:srgbClr val="FFFFFF"/>
      </a:lt1>
      <a:dk2>
        <a:srgbClr val="334155"/>
      </a:dk2>
      <a:lt2>
        <a:srgbClr val="F1F5F9"/>
      </a:lt2>
      <a:accent1>
        <a:srgbClr val="0E7C7B"/>
      </a:accent1>
      <a:accent2>
        <a:srgbClr val="F2A541"/>
      </a:accent2>
      <a:accent3>
        <a:srgbClr val="2563EB"/>
      </a:accent3>
      <a:accent4>
        <a:srgbClr val="16A34A"/>
      </a:accent4>
      <a:accent5>
        <a:srgbClr val="9333EA"/>
      </a:accent5>
      <a:accent6>
        <a:srgbClr val="EA580C"/>
      </a:accent6>
      <a:hlink>
        <a:srgbClr val="0E7C7B"/>
      </a:hlink>
      <a:folHlink>
        <a:srgbClr val="6D28D9"/>
      </a:folHlink>
    </a:clrScheme>
    <a:fontScheme name="ScholarPlan In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ScholarPlan: from design to a working multi-agent system</dc:title>
  <dc:subject>Intelligent Agents, Unit 11 individual presentation</dc:subject>
  <dc:creator>Adil Aljasmi</dc:creator>
  <cp:lastModifiedBy>Adil Aljasmi</cp:lastModifiedBy>
  <cp:revision>1</cp:revision>
  <dcterms:created xsi:type="dcterms:W3CDTF">2026-10-11T16:29:37Z</dcterms:created>
  <dcterms:modified xsi:type="dcterms:W3CDTF">2026-10-11T16:29:37Z</dcterms:modified>
</cp:coreProperties>
</file>